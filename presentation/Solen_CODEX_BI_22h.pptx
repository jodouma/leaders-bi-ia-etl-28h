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charts/chart1.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Ventes nettes (millimes, affichées en TND)</c:v>
                </c:pt>
              </c:strCache>
            </c:strRef>
          </c:tx>
          <c:spPr>
            <a:solidFill>
              <a:srgbClr val="2B3180"/>
            </a:solidFill>
            <a:effectLst/>
          </c:spPr>
          <c:invertIfNegative val="0"/>
          <c:dLbls>
            <c:numFmt formatCode="#\ ###\,###" sourceLinked="0"/>
            <c:txPr>
              <a:bodyPr/>
              <a:lstStyle/>
              <a:p>
                <a:pPr>
                  <a:defRPr b="1" i="0" strike="noStrike" sz="1500" u="none">
                    <a:solidFill>
                      <a:srgbClr val="2B3180"/>
                    </a:solidFill>
                    <a:latin typeface="Arial"/>
                  </a:defRPr>
                </a:pPr>
              </a:p>
            </c:txPr>
            <c:showLegendKey val="0"/>
            <c:showVal val="1"/>
            <c:showCatName val="0"/>
            <c:showSerName val="0"/>
            <c:showPercent val="0"/>
            <c:showBubbleSize val="0"/>
            <c:showLeaderLines val="0"/>
          </c:dLbls>
          <c:cat>
            <c:multiLvlStrRef>
              <c:f>Sheet1!$A$2:$A$5</c:f>
              <c:multiLvlStrCache>
                <c:ptCount val="4"/>
                <c:lvl>
                  <c:pt idx="0">
                    <c:v>Grand Tunis</c:v>
                  </c:pt>
                  <c:pt idx="1">
                    <c:v>Sud</c:v>
                  </c:pt>
                  <c:pt idx="2">
                    <c:v>Cap Bon</c:v>
                  </c:pt>
                  <c:pt idx="3">
                    <c:v>Nord-Est</c:v>
                  </c:pt>
                </c:lvl>
              </c:multiLvlStrCache>
            </c:multiLvlStrRef>
          </c:cat>
          <c:val>
            <c:numRef>
              <c:f>Sheet1!$B$2:$B$5</c:f>
              <c:numCache>
                <c:formatCode>General</c:formatCode>
                <c:ptCount val="4"/>
                <c:pt idx="0">
                  <c:v>40887210</c:v>
                </c:pt>
                <c:pt idx="1">
                  <c:v>26579870</c:v>
                </c:pt>
                <c:pt idx="2">
                  <c:v>19653980</c:v>
                </c:pt>
                <c:pt idx="3">
                  <c:v>4323400</c:v>
                </c:pt>
              </c:numCache>
            </c:numRef>
          </c:val>
        </c:ser>
        <c:dLbls>
          <c:numFmt formatCode="#\ ###\,###" sourceLinked="0"/>
          <c:txPr>
            <a:bodyPr/>
            <a:lstStyle/>
            <a:p>
              <a:pPr>
                <a:defRPr b="1" i="0" strike="noStrike" sz="1500" u="none">
                  <a:solidFill>
                    <a:srgbClr val="2B318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A1F4D"/>
                </a:solidFill>
                <a:latin typeface="Arial"/>
              </a:defRPr>
            </a:pPr>
            <a:endParaRPr lang="fr-FR"/>
          </a:p>
        </c:txPr>
        <c:crossAx val="2094734552"/>
        <c:crosses val="autoZero"/>
        <c:auto val="1"/>
        <c:lblAlgn val="ctr"/>
        <c:noMultiLvlLbl val="1"/>
      </c:catAx>
      <c:valAx>
        <c:axId val="2094734552"/>
        <c:scaling>
          <c:orientation val="minMax"/>
          <c:max val="5200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fr-FR"/>
          </a:p>
        </c:txPr>
        <c:crossAx val="2094734554"/>
        <c:crosses val="autoZero"/>
        <c:crossBetween val="between"/>
        <c:majorUnit val="10000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Titre figé du contrat d'édition V7 (document privé du professeur, §1). Solen Digital est une société fictive : seuls son nom et ses logos fournis sont utilisés. Durées = estimations de conception, à confirmer par un essai humain. Version des faits officiels :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 conducteur du contrat §2. Personnages fictifs : Lamia Ben Salah (directrice), Karim Jaziri (responsable BI). Maison Zitouna vend huile d'olive, olives, dattes, savons et coffrets : Tunis Centre (TUN, Grand Tunis), Nabeul (NBE, Cap Bon), Sfax (SFX, Sud) — livret 02, « La mission en une page ». Tous les noms de clients sont inventés.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Texte abrégé du mail de l'épisode 1 (livret 02, séance 1). Le mail complet précise que les chiffres du premier semestre doivent rester dans Cap Bon : c'est l'annonce du SCD2 de la séance 4. La question « où passe la marge ? » sert de fil rouge jusqu'à la recommandation de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v7-direction-decision (authoring/visuals/manifest.json). Chaîne : direction → question métier → données → indicateur → décision. Si l'indicateur ne répond pas à la question, on revient à la question métier. C'est aussi la structure de la recommandation de S5. Points à dire : 1) Une question floue devient une question métier. 2) Un indicateur défini, avec son unité. 3) Sans question, pas de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Contrat §1 (Équipes) et §8 (cycle), décision V7 D3. Les rôles s'inversent dès S1 : PR n°1 `journal-binome` (livret 01, A auteur, B relit), PR n°2 `cadrage-binome` (B auteur, A relit), S2 A auteur, S3 B auteur, S4 revue d'un défaut planté et conflit contrôlé. L'auteur ne fusionne jamais sa propre PR. On ne partage jamais un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Contrat §1 et §3, décisions V7 D1–D2 : séance de 240 min = 2 pauses de 10 min + 220 min actives, dont au moins 70 % de pratique (S1 58/162, S2 et S3 66/154, S4 50/170, S5 50/170 ; total 290 min d'explications / 810 de pratique). Travail personnel ≈ 8 h : 2 h de séance 0 avant S1 (installation, comptes, lecture du livret 00), 4 h de mission du catalogue, 2 h de finition, recommandation et préparation orale. Ce sont des estimations de conception, pas des mesures.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v7-seances. Épisodes Solen : S1 demande et cadrage, S2 premier résultat faux, S3 anomalies et étoile, S4 changement de besoin et revue, S5 livraison ; soutenance 2 h pour la promotion. Contrat §7, décisions V7 D1–D2. Points à dire : 0) Séance 0 chez vous (≈ 2 h) : installation et comptes avec le livret 01. 1) S1 → S4 : tronc commun guidé. 2) Fin S3 : choix d'une mission du catalogue ; fin S4 : 50 min pour passer à votre mission. 3) S5, première moitié : votre mission ; seconde moitié : Power BI et répétition ; puis 4 h de mission et 2 h de finition en travail personnel. Sur la diapositive, le schéma est recadré sur les cartes ; la frise à l'échelle des heures (22 h en présence = 5 × 4 h + 2 h, ≈ 8 h personnelles, ≈ 30 h de charge totale) reste dans le schéma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Contrat §1 (Code) et livret 03 §1 : « Trois règles qui ne changent jamais ». Codex ne modifie jamais les sources, reference/ ni controles/ ; il ne commit pas, ne pousse pas, n'ouvre ni ne fusionne de PR. « 26 rejets » annoncé par Codex reste une promesse tant que la ligne du vérificateur n'a pas été 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v7-codex-controle. Un contrôle rouge ou un écart renvoie à Codex avec une demande plus précise. La revue Codex est en lecture seule ; elle ne remplace pas la revue humaine. Points à dire : 1) Codex propose dans une branche. 2) L'auteur contrôle, le binôme relit. 3) L'équipe livre après CI verte.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00, « La route A → B → C ». Séance 0 (décision V7 D1) : le professeur envoie le livret 01 une semaine avant S1 et répond aux blocages par message ; S1 commence par 30 min de vérification des postes. Fichiers : 00_lire_moi, 01_demarrer, 02_tronc_commun, 03_diriger_codex_et_git, 04_catalogue_missions (fin S3), 05_livrer_soutenir, 06_aide_memoire. Dossier prompts/ : 18 fiches prêtes à adapter (prompts/README.md).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v7-postes-wsl, partie haute (parcours Windows + WSL2). Contrat §1 (OS). Windows : agent « Windows Subsystem for Linux » choisi dans Settings de l'app, puis redémarrage (OpenAI, Desktop app for Windows, https://learn.chatgpt.com/docs/app/windows, lu le 28/10/2026). Dépôts sous /home (OpenAI WSL, https://learn.chatgpt.com/docs/windows/wsl, lu le 28/10/2026). Ubuntu 24.04/26.04 : app Linux en preview, .deb (https://learn.chatgpt.com/docs/linux/linux-app, lu le 28/10/2026). Power BI Desktop uniquement sur Windows (Microsoft, lu le 28/10/2026). Pas de Docker. Les fichiers du projet vivent dans Ubuntu (~/solen-bi), jamais dans un dossier Windows synchronisé.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v7-postes-wsl, partie basse (variante Ubuntu natif). Ubuntu 24.04/26.04 : app Linux en preview, .deb (https://learn.chatgpt.com/docs/linux/linux-app, lu le 28/10/2026). Power BI Desktop n'existe que sur Windows (Microsoft, lu le 28/10/2026) : le binôme ouvre le rapport sur un poste Windows après git pull. Pas de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Programme de l'édition (document privé du professeur) : dix thèmes, aucun seulement cité. Objectif final : transformer des données brutes en indicateurs utiles à la décision, en sachant piloter l'IA et contrôler sa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Formulation reprise du programme de l'édition et du livret 00 (« Ce que vous saurez faire à la fin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dix thèmes du programme de l'édition placés sur la progression du contrat §7. Python : on reconnaît et explique le code écrit par Codex, on ne le tape pas. Le thème 10 traverse toutes les séances.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Matrice demandée par le programme. Chiffres : rejets lot 1 = 26 (reference/README.md) ; retours VALIDE de mars 2026 = 25 lignes, 893 810 millimes (livret 02, S3-M1, sortie attendue). « Votre action » ne contient jamais de saisie 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Suite de la matrice. Chiffres : fact_vente 2345 après lot 2 ; rejeu sans ligne ajoutée (attendu_lot2.json, clé rejeu). Power BI : 6 relations 1:* et 5 mesures (livret 05 §2 ; modele-binome/powerbi/README.md).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Contrat §8 : cycle enseigné. Sources GitHub officielles listées en section I (docs/setup/sources.json, vérifiées le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v7-trois-emplacements. commit = enregistrer chez moi ; push = envoyer ; pull = récupérer ; PR = proposer et faire relire. Les deux ordinateurs n'échangent que via GitHub. Points à dire : 1) Rien ne se synchronise tout seul. 2) Pas de lien direct entre vos deux PC. 3) Tout passe par GitHub. La bande de vocabulaire du bas du schéma est reprise sur la diapositive suivante (« Huit mots, huit gestes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Libellés GitHub tirés de la documentation officielle (Creating a pull request, Reviewing proposed changes, Merging a pull request ; docs.github.com, lus le 28/10/2026). &lt;branche&gt; = à remplacer. Les workflows Git (gestes) et les workflows GitHub Actions (CI) sont deux notions différentes.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v7-cycle-pr, étapes 1 à 10 (le schéma complet est coupé en deux diapositives pour rester lisible). Contrat §8 : git switch main → git pull → git switch -c &lt;branche&gt; → demande à Codex → contrôles → lire le diff → git add/commit → git push -u origin &lt;branche&gt; → PR → partenaire : git fetch + git switch &lt;branche&gt; + revue Codex lecture seule → revue humaine (Files changed → Review changes → Approve / Request changes) → corrections → CI verte → approbation → Merge pull request → les deux : git switch main &amp;&amp; git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v7-cycle-pr, étapes 11 à 15 et légende des couleurs (auteur, partenaire, GitHub, les deux). Une correction ajoute un commit sur la même branche ; la PR se met à jour et la CI repart. Après Merge pull request, les deux font git switch main &amp;&amp; git pull ; au cycle suivant, l'auteur devient partenaire. Contrat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V7 D3 : une seule « PR n°1 », celle du livret 01, Cycle 1 (branche journal-binome, A auteur, B relecteur). Le livret 02 S1-M5 fait la PR n°2 (branche cadrage-binome) avec B auteur et A relecteur. Puis livret 02 S2-M4, S3-M6, S4-M4/M5. L'auteur ne s'approuve pas : GitHub ne le permet pas. L'accord de Codex ne remplace pas le jugement du partenaire.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§6, « La revue à deux ». Une revue cite fichier:ligne, la commande et la valeur reproduite, et ce qui n'a pas été vérifié. Ne jamais coller la réponse de Codex comme revue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 Dépanner Git sans rien casser ». Avant toute réparation : pwd, git status, git log --oneline -5. Résolution de conflit : Codex propose, les étudiants vérifient et terminent (git add, git commit) ; abandon possible avec git merge --abort.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encadré « Interdits ». Le cours n'enseigne aucun force push ni reset destructif comme raccourci débutant (programme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V7 D5 (livret 01 partie Git, livret 03 §7). Workflow de travail Git/GitHub = la suite de gestes humains du cycle de PR. Workflow GitHub Actions = le fichier .github/workflows/controles.yml, déclenché par pull_request, exécuté sur une machine neuve, visible dans l'onglet Actions (« Workflows »). Aucune clé IA dans la CI. Variante dépôt privé possible, sans protection imposée : l'auteur ne fusionne pas sa PR. Authentification : HTTPS + gh auth login (navigateur). Contrat §1 (Dépôt binôme, CI) : GitHub's plans (https://docs.github.com/en/get-started/learning-about-github/githubs-plans, lu le 28/10/2026) : protection de branche / revues requises sur les dépôts publics en Free, ajoutées aux privés par Pro. GitHub Actions billing (https://docs.github.com/en/billing/concepts/product-billing/github-actions, lu le 28/10/2026) : runners standard gratuits sur dépôts publics. gh auth login : https://cli.github.com/manual/gh_auth_login (lu le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 auteur est un plan payant : l'accès Free réel n'est pas encore prouvé ; il le sera par le prévol Ines/Rayan. Chaque étudiant relève ce que SON écran affiche. Sources : OpenAI, Pricing, https://learn.chatgpt.com/docs/pricing, lu le 28/10/2026 ; OpenAI, Models, https://learn.chatgpt.com/docs/models, lu le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(https://learn.chatgpt.com/docs/pricing, lu le 28/10/2026) : Free = « GPT-6 Luna at Standard speed in the desktop app, subject to rollout » ; CLI, IDE et web listés à partir de Plus. Aucun quota chiffré pour Free. Le compte auteur est un plan payant : l'accès Free réel n'est pas encore prouvé ; il le sera par le prévol Ines/Rayan. Chaque étudiant relève ce que SON écran affiche.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(https://learn.chatgpt.com/docs/models, lu le 28/10/2026) : « Light in the ChatGPT desktop app … suits quick, well-scoped tasks » ; « Medium balances speed and depth » ; « High and Extra High suit difficult work » ; « Start with High for Luna ». Réglage : sélecteur de modèle (Ctrl + Maj + M) ou Advanced, préréglage « Luna High » (livret 01, Codex 1). Les options varient selon le plan, le client et le déploiement. Le compte auteur est un plan payant : l'accès Free réel n'est pas encore prouvé ; il le sera par le prévol Ines/Rayan. Chaque étudiant relève ce que SON écran affiche.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v7-tokens-contexte. Pricing (lu le 28/10/2026) : « The number of messages you can send depends on the model used, size and complexity of your tasks » ; « Weekly limits may also apply » ; usage visible dans le tableau d'usage. /status dans le composer montre contexte et limites (Slash commands, https://learn.chatgpt.com/codex/reference/slash-commands, lu le 28/10/2026). On ne promet ni nombre de tokens ni « 4 h de Codex ». Points à dire : 1) Tokens : morceaux de texte. 2) Contexte : ce que le chat garde en tête. 3) Quota : à lire dans l'app, jamais à deviner. Définitions du bas du schéma complet : tokens = unité de comptage du texte lu et écrit ; contexte = quantité maximale de texte qu'une tâche garde en vue ; effort = temps de réflexion choisi pour une demande ; quota = limite d'usage du compte, indépendante des trois autres. Plus d'effort ou plus de contexte = plus lent et plus d'usage, jamais une garantie de résultat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§2. Monter l'effort ne vide pas un contexte surchargé ; un chat neuf ne rend pas de quota. Sources : Pricing et Models (lus le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tâche → modèle accessible → effort accessible → raison → preuve attendue (livret 03, « Quel effort pour quelle tâche ? » ; schéma docs/images/diagrams/v7-tache-modele-effort.png). Models (https://learn.chatgpt.com/docs/models, lu le 28/10/2026) : « Start with High for Luna » ; Light pour les tâches rapides et cadrées ; High et Extra High pour le travail difficile. Un faible effort n'est pas toujours moins cher : comparer qualité et reprises. Seuls les choix visibles sur un compte Free sont enseignés ; on ne copie pas les modèles payants de l'auteur. Le compte auteur est un plan payant : l'accès Free réel n'est pas encore prouvé ; il le sera par le prévol Ines/Rayan. Chaque étudiant relève ce que SON écran affiche.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Suite de la fiche tâche : chaque tâche a une preuve observable, vérifiée par l'auteur puis par le binôme. Fiche tâche → modèle accessible → effort → raison → preuve (livret 03, « Quel effort pour quelle tâche ? », lu le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§3 « Les huit habitudes », reprises du programme §5. En une ligne : précis · plan court · diff lu et contrôle déterministe · note courte · six mots distincts · revue → correction → recontrôle + cas limite · AGENTS.md et Skills · parallèle seulement si utile. Méthode du livret 03 (édition V7), état au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du livret 03, habitude 1. Sur l'échantillon, E-009-1 a une quantité -1 : seul rejet quantite_invalide (echantillon/attendu.md). « Recopie la sortie réelle » termine la demande. Méthode du livret 03 (édition V7), état au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habitude 6 et prompts 11 (revue lecture seule) et 12 (corriger après revue). valid_from inclus, valid_to exclu : si la vente du 15 tombe en Cap Bon, valid_to est traité comme inclus, défaut établi. Méthode du livret 03 (édition V7), état au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habitude 7. AGENTS.md : lu avant tout travail, de la racine vers le dossier courant (OpenAI, AGENTS.md, https://learn.chatgpt.com/docs/agent-configuration/agents-md, lu le 28/10/2026). Skills : .agents/skills/&lt;nom&gt;/SKILL.md avec name et description (OpenAI, Build skills, https://learn.chatgpt.com/docs/build-skills, lu le 28/10/2026). La découverte d'un Skill sur un compte Free n'est pas encore prouvée : sinon « Lis .agents/skills/revoir-bi/SKILL.md et applique sa méthode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Subagents (https://learn.chatgpt.com/docs/agent-configuration/subagents, lu le 28/10/2026) : travailleurs parallèles sur demande explicite, plus de tokens. Livret 03, habitude 8. Aucun besoin de lancer dix agents ; la revue séquentielle est la route gratuite de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03 §8 et livret 01 « Compte Free ». Point de reprise : modele-binome/ du dépôt du cours + notes/JOURNAL.md. Pricing (lu le 28/10/2026) : limites variables, hebdomadaires possibles. Si Luna est absent ou l'effort grisé : noter ce qui s'affiche, utiliser ce qui est proposé, prévenir le professeur.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des chiffres : modele-binome/tronc-commun/reference/README.md et attendu_lot1.json / attendu_lot2.json (calculés par le générateur du cours, sans ETL), lus le 28/10/2026.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v7-pipeline. Sources lot 1 : ventes.csv (1998 lignes), catalogue.xlsx (8 produits, 6 familles), boutiques.json (3 boutiques), operations.sqlite (82 retours : 78 VALIDE, 4 ANNULE). Montants en millimes entiers dans l'entrepôt, affichés en TND à 3 décimales. Source des chiffres : modele-binome/tronc-commun/reference/README.md et attendu_lot1.json / attendu_lot2.json (calculés par le générateur du cours, sans ETL), lus le 28/10/2026. Points à dire : 1) Sources intactes, lues seulement. 2) Dimensions avant faits. 3) Rejets dans rejets.csv, avec motif.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ligne de l'échantillon (echantillon/attendu.md) : E-001-1, 2026-03-02, TUN, P01, quantité 2, prix 18,500 → 37,000 TND bruts. Le grain est fixé à la réunion de cadrage (épisode 2). La clé métier ligne_id rend le rejeu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00, « Dix mots » ; contrat §5. Après lot 1 : fact_vente 1960, fact_retour 76, dim_produit 8, dim_boutique 3, dim_date 181 (reference/README.md).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v7-etoile. Même modèle dans Power BI : 6 relations 1:*, filtre croisé simple, toutes actives (livret 05 §2 ; modele-binome/powerbi/README.md §4). Points à dire : 1) 3 dimensions, 2 tables de faits. 2) Chaque relation : 1 → plusieurs. 3) Les deux faits ne sont pas reliés. Bas du schéma complet : 1 → * = une ligne de dimension décrit plusieurs lignes de fait, la flèche suit le sens du filtre ; chaque flèche relie la clé de même nom (date_key, produit_key, boutique_key) ; dimensions chargées avant les faits ; montants en millimes entiers.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v7-cles. boutique_id = NBE identifie la boutique ; boutique_key identifie une version (2 = Cap Bon, 4 = Nord-Est sur ce schéma). On ne relie jamais par boutique_id dans Power BI : NBE a deux lignes. Les numéros de clé réels dépendent du code ; le vérificateur contrôle la zone à la date, pas le numéro. Points à dire : 1) NBE = clé métier (sources). 2) 2 et 4 = clés techniques (versions). 3) Les faits pointent vers boutique_key.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v7-nettoyage, partie AVANT. (exemple pédagogique L001…L005, distinct de l'échantillon). Motifs standard du contrat §5 : id_conflit, id_manquant, cle_inconnue, quantite_invalide. Les sources restent intactes ; les rejets vont dans outputs/rejets.csv.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v7-nettoyage, partie APRÈS. 6 lignes lues = 3 acceptées + 1 doublon ignoré + 2 rejets. "12,500" → 12,500 TND → 12 500 millimes ; 04/03/2026 → 2026-03-04 ; " tun " → TUN. Le doublon exact est compté, pas rejeté. Rejets dans outputs/rejets.csv avec un motif standard (contrat §5). Points à dire : 1) Formats → millimes, dates ISO. 2) Doublon exact : une occurrence gardée. 3) Rejet = une ligne + un motif.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modele-binome/tronc-commun/echantillon/attendu.md (calcul à la main de l'échantillon), lu le 28/10/2026. Lignes rejetées : E-006-1 (deux fois, quantités 2 et 4 → id_conflit), ligne sans identifiant, E-008-1 (P99 inconnu), E-009-1 (quantité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modele-binome/tronc-commun/echantillon/attendu.md (calcul à la main de l'échantillon), lu le 28/10/2026. Retours : R-0001 (14,500 TND gardés), R-0002 ANNULE (ignoré, pas un rejet), R-0003 vise E-099-9 inexistant (rejet cle_inconnue). Coût d'achat des unités nettes = 76,000 − 8,750 = 67,250 TND ; marge = 112,850 − 67,250 = 45,600 TND.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Définitions du cahier des charges (livret 02, « La mission en une page » ; contrat §6). Mêmes définitions dans le PDF, le code, l'app, les tests, le DAX et ces diapositives. Stockage en millimes entiers (1 TND = 1 000 millimes).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02, S3-M1 « SQL paramétré depuis Python » : sortie attendue « retours VALIDE 2026-03 : 25 lignes · 893810 millimes (893,810 TND) ». Borne de fin exclue (&lt; 2026-04-01). Une chaîne construite avec NBE' OR '1'='1 changerait le sens de la requête. Base opérationnelle (sert à travailler) ≠ entrepôt (sert à analyser).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des chiffres : modele-binome/tronc-commun/reference/README.md et attendu_lot1.json / attendu_lot2.json (calculés par le générateur du cours, sans ETL), lus le 28/10/2026. Lot 1 : ventes brutes 78 067,830 TND ; retours 3 758,330 TND ; ventes nettes 74 309,500 TND ; marge 28 991,700 TND ; taux de retour 4,81 %. 1998 − 14 doublons − 24 rejets ventes = 1960 faits ; 2 rejets viennent de operations.sqlite (cle_inconnue).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02, séance 2, épisode 3 : sur le lot 1, somme brute de toutes les lignes = 78 839,780 TND ; ventes brutes après nettoyage = 78 067,830 TND (reference/README.md). Sur l'échantillon : 192,850 TND sans règle contre 127,350 TND à la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v7-indicateur-controle. Correct = après dédoublonnage ; erreur plausible = un doublon compté deux fois. Le contrôle qui tranche : nombre de ligne_id distincts parmi les lignes acceptées = nombre de lignes de fact_vente. Points à dire : 1) Même formule, données différentes. 2) Le contrôle : ligne_id distincts = lignes de fact_vente. 3) Écrire le contrôle avant de croire le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native et chiffrée du schéma v7-chargements (le PNG du kit affiche « n » et « 3 déjà connues » ; les compteurs réels sont ceux de la référence). Lot 2 (livret 02, S4-M2 ; attendu_lot2.json) : ventes.csv 413 lues, 4 doublons + 15 déjà chargées (29-30 juin) ignorées, 9 rejetées, 385 ajoutées ; operations.sqlite 29 lus, 2 ANNULE + 3 déjà chargés, 1 rejet, 23 ajoutés ; 62 jours et 1 version SCD2 ajoutés. Rejeu : « relancer lot2 donne exactement ce fichier » (attendu_lot2.json, clé rejeu).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v7-scd2-frise. Référence après le dernier lot : NBE Cap Bon du 2021-05-10 au 2026-07-15 (exclu), NBE Nord-Est depuis le 2026-07-15 (courante) ; SFX Sud ; TUN Grand Tunis. Le schéma montre la vraie valid_from de la version 1 : 2021-05-10 (reference/README.md). Un fait ancien reste rattaché à la version valable à sa date : on n'écrit jamais UPDATE … SET zone. Points à dire : 1) valid_from inclus, valid_to exclu. 2) Vente du 14 juillet → Cap Bon. 3) Vente du 15 juillet → Nord-Est.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des chiffres : modele-binome/tronc-commun/reference/README.md et attendu_lot1.json / attendu_lot2.json (calculés par le générateur du cours, sans ETL), lus le 28/10/2026. Après lot 2 : ventes brutes 95 849,090 TND ; retours 4 404,630 TND ; ventes nettes 91 444,460 TND ; coût d'achat des unités nettes 55 837,600 TND ; marge 35 606,860 TND ; taux de retour 4,60 % ; unités nettes 4264. Mêmes valeurs dans la capture réelle de l'application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Graphique natif PowerPoint (éditable). Source : modele-binome/tronc-commun/reference/attendu_lot2.json, clé agregats.par_zone.&lt;zone&gt;.ventes_nettes_millimes, divisé par 1 000 (lu le 28/10/2026). Grand Tunis 40 887,210 TND; Sud 26 579,870 TND; Cap Bon 19 653,980 TND; Nord-Est 4 323,400 TND. Total = 91 444,460 TND = ventes nettes après lot 2. Avant le lot 2, Cap Bon valait 19 262,780 TND (attendu_lot1.json) : il ne gagne que les ventes de Nabeul du 1er au 14 juillet.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Décisions V7 D1–D2 (28/10/2026). Séance 0 ≈ 2 h chez soi avant S1 (livret 01 parties A–C). Minutages S1 à S4 : livret 02 ; S5 : livret 05. Travail personnel ≈ 8 h = 2 h séance 0 + 4 h mission + 2 h finition. Ce sont des estimations de conception, à confirmer par un essai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Décisions V7 D1 et D3. Avant S1 : séance 0 chez soi (≈ 2 h, livret 01 parties A–C). Séance 1 : 30 vérification des postes (checklist « À ce stade, je sais… » du livret 01) + 15/35 GitHub à deux (dépôt du binôme, invitation, protection de main, PR n°1 journal-binome : A auteur, B relit et fusionne) + pause 10 + 15 épisode 1 + 10/15 traduire la demande + 25 échantillon à la main + pause 10 + 10/10 épisode 2 et outils + 15 première demande à Codex + 8/22 PR n°2 cadrage-binome (B auteur, A relit) + 10 note = 240 min ; 58 min d'explications, 162 de pratique. Un poste non prêt après 30 min : le binôme travaille sur le poste du partenaire, l'installation se finit après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02, séance 2 : 12 + 14/30 + pause + 14/40 + 14/20 + pause + 12/54 + 10. Épisode 3 : le total de Karim (78 839,780 TND) est faux ; le vrai est 78 067,830 TND.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02, séance 3 : 10 + 14/25 + 16/15 + pause + 10/15 + 6/35 + 20 + pause + 5/34 + 5/10. Épisode 4 : base opérationnelle des retours, deux retours pointent vers des tickets introuvables (TK1999-1, TK2817-2).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V7 D2 : 10/50 lot 2 et SCD2 + 10/35 rejeu, tests et CI + pause 10 + 10 démonstration du conflit par le professeur / 15 reproduction par chaque binôme + 10/30 défaut planté, revue → correction → revue + pause 10 + 10/40 « Passer à votre mission » (vider outputs/, mission.txt = M0x, demande de généralisation à Codex, `rejets`, première PR de mission). Somme : 50 min d'explications, 170 de pratique. Le Skill local devient une extension facultative. Épisodes 5 (nouveau lot, Nabeul change de zone) et 6 (défaut planté).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V7 D2 : 15/85 mission du catalogue (initial → increment → rejeu → export → app, PR et revue croisée) + pause 10 + 20/50 Power BI Desktop sur le tronc commun depuis livraison/ (import, relations, mesures, filtre, actualisation) + pause 10 + 15/15 lire les visuels et contrôler un chiffre + 20 répétition croisée (6 min de démo devant un autre binôme). Somme : 50 min d'explications, 170 de pratique. La recommandation s'écrit en travail personnel (livret 05 §4). Un seul poste Windows pour deux : alterner. Power BI bloqué plus de 20 min : appeler le professeur, noter le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Décisions V7 D1, D2, D9, D10. Fin S3 : lire au moins deux fiches du livret 04, choisir un métier que vous savez expliquer, noter la décision. Devoir avant S4 : lire la fiche et calculer l'échantillon à la main. Fin S4 (50 min) : git switch main &amp;&amp; git pull, branche mission-M0x, vider outputs/ (garder .gitkeep), mission.txt = M0x, demander à Codex de généraliser le code du tronc commun, contrôles rejets → initial → increment → rejeu → export → app → tout --strict. S5 première moitié : la mission jusqu'à l'app. Perso 4 h : finir la mission (variante comprise), mesures DAX de la mission, Power BI de la mission si un poste Windows est disponible (sinon tronc commun seulement), répétition ; 2 h : finition, recommandation (livret 05 §4) et préparation orale.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05, épisode 7 : mail fictif de Lamia Ben Salah. Chaque phrase du mail fixe un livrable. La présentation de « vendredi » est la soutenance, sur votre mission du catalogue. Décision V7 D2 : en S5, l'app de la mission est faite en première moitié, Power BI sur le tronc commun en seconde moitié ; la recommandation s'écrit en travail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docs/images/captures/REGISTRE.json : navigateur intégré de l'application Claude, macOS 26.3, viewport 1280×900, page servie en local, 2026-10-28. Limite : capture de la solution de référence privée du professeur, pas d'une production étudiante ; 800 px. Une seule page HTML autonome générée par python -m solen app (outputs/app/index.html), sans serveur. Diapositive 1/2 : bandeau, filtres et cartes d'indicateurs (capture recadrée, rien n'est retouché).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docs/images/captures/REGISTRE.json : navigateur intégré de l'application Claude, macOS 26.3, viewport 1280×900, page servie en local, 2026-10-28. Limite : capture de la solution de référence privée du professeur, pas d'une production étudiante ; 800 px. Une seule page HTML autonome générée par python -m solen app (outputs/app/index.html), sans serveur. Diapositive 2/2 : graphique recadré (rien n'est retouché). Nord-Est apparaît en juillet : c'est le changement de zone de NBE (SCD2). Points à dire : 1) Barres empilées par mois et zone. 2) Nord-Est apparaît en juillet.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docs/images/captures/REGISTRE.json : même environnement (macOS 26.3, navigateur intégré, 2026-10-28). Motifs : cle_inconnue, id_conflit, id_manquant, quantite_invalide. Ordre des motifs selon reference/README.md. Limite : solution de référence, pas une production étudiante. Capture recadrée sur le graphique (rien n'est retouché) ; sous le graphique, l'application liste les rejets par lot, source et motif. Les rejets ne dépendent pas des filtres : ils décrivent les fichiers sources de chaque lot. Points à dire : 1) Rejets par motif et par lot. 2) Lot 1 : 8 · 6 · 5 · 7. 3) Lot 2 : 4 · 2 · 2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modele-binome/powerbi/README.md et livret 05 §2 ; décisions V7 D2 et D10. Power BI Desktop : gratuit, Windows uniquement (Microsoft, Download Power BI Desktop, https://learn.microsoft.com/en-us/power-bi/fundamentals/desktop-get-the-desktop, lu le 28/10/2026). En S5 : tronc commun (5 CSV exportés, mesures.dax fourni). Mission du catalogue : Codex écrit les mesures DAX de la mission (formules du cahier, Étape C du guide) ; Power BI de la mission en travail personnel si un poste Windows est disponible, sinon la démo se fait dans l'app locale. Jamais de relation par boutique_id. Actualiser prouve que le rapport relit les CSV, pas que les CSV sont justes. Captures Power BI : aucune, en attente du prévol Windows (aucune capture fabriquée).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05 §4, exemple travaillé ; décision V7 D2 : la recommandation de la mission s'écrit en travail personnel avec ce modèle. zone Sud (Sfax) 7,40 % de retours (2 124,470 / 28 704,340 TND, cohérent avec attendu_lot2.json par_zone.Sud) ; un coffret entreprise de 1 240,000 TND vendu le 28 mai, rendu le 2 juin ; sans lui le Sud serait ≈ 3,1 % et juin 2,2 %. Recommandation : revoir les conditions de retour des coffrets, pas un plan qualité sur toute la boutique. Limite : 8 mois, un seul retour. Donnée : motif du retour (présent dans operations.sqlite, non chargé).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Contrat §6 et fiches modele-binome/catalogue/M01…M10/fiche_mission.md (lues le 28/10/2026). Entreprises fictives.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de direction 1/2. Questions résumées du « message de la direction » de chaque fiche_mission.md. Chaque mission a un changement SCD2 au 15 juillet (M01 Hammamet → Sahel ; M02 VSO → marketplace ; M03 CL04 → grande surface ; M04 agence de Nabeul → Centre-Sahel ; M05 SES-2619 → Sfax ; M06 commission OTA 18 % → 15 % ; M07 Fibre 300 → gamme pro, 99,900 TND ; M08 EQ-017 → CT-09 ; M09 frais REV 9 % → 11 % ; M10 PX07 → Nour Jebali) et une règle à clarifier tranchée par la direction (fiche, section « La règle à clarifier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de direction 2/2. Questions résumées du « message de la direction » de chaque fiche_mission.md. Chaque mission a un changement SCD2 au 15 juillet (M01 Hammamet → Sahel ; M02 VSO → marketplace ; M03 CL04 → grande surface ; M04 agence de Nabeul → Centre-Sahel ; M05 SES-2619 → Sfax ; M06 commission OTA 18 % → 15 % ; M07 Fibre 300 → gamme pro, 99,900 TND ; M08 EQ-017 → CT-09 ; M09 frais REV 9 % → 11 % ; M10 PX07 → Nour Jebali) et une règle à clarifier tranchée par la direction (fiche, section « La règle à clarifier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Contrat §5 (socle commun) : quatre sources, deux lots, échantillon ≤ 12 lignes avec attendu.md, au moins 6 types d'anomalies, rejets motivés, dimensions avant faits, SCD2 valid_from inclus / valid_to exclu, rejeu sans doublon, export + manifest.json. Oracle : reference/attendu_*.json calculé par le générateur. Chaque mission a aussi 3 variantes possibles (fiche_mission.md).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05 §6 et contrat §3/§9. La grille chiffrée et les ancrages restent dans les documents privés du jury : aucun point n'est montré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v7-soutenance, partie haute ; contrat §3. N = 5 → 20 min (6 démo + 2 × 6 questions + 2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v7-soutenance, partie basse ; contrat §3. N = 8 → 12,5 min ; N ≥ 11 → ≈ 9,1 min ou moins : impossible en un seul créneau sans second créneau ou deux jurys en parallèle. À signaler au professeur dès que N est 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05, « Le script de démonstration : 6 minutes ». Phrases clés : « Une ligne de fait = … », « Relancer ne crée aucun doublon », « Ce chiffre égale la référence », « Le rapport relit l'export », « Nous conseillons… mais… », « Nous avons alterné auteur et relecteur ». Un imprévu : dire ce qu'on voit, ce qu'on attendait, ce qu'on vérifierait.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05, encadré « Les critères annoncés (publics) » ; contrat §9 : part commune binôme (dépôt, résultats = référence, app/Power BI, qualité des PR) et part individuelle. Les points, la grille /20 et les ancrages sont dans les documents privés du jury et ne sont pas montrés aux étudiants.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Livret 05, « Les questions individuelles : à quoi s'entraîner ». S'entraîner avec : cahier des charges, prompt 14, outputs/rejets.csv, écran Détail, PR fermées, --etape rejeu, git shortlog -sn, prompt 18. Codex est autorisé pendant une variation si le jury le demande : il veut voir votre demande, votre prévision et votre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docs/setup/sources.json : 38 sources, verified_on 2026-10-28. Portée : pages lues en ligne ; aucune installation Windows/WSL ou Ubuntu, aucun compte Codex Free, aucun quota ni parcours GitHub à deux comptes n'a été exécuté pour ce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 reprises de docs/setup/sources.json (verified_on 2026-10-28). Ces pages peuvent changer : l'écran du compte de l'étudiant fait foi. Le compte auteur est un plan payant : l'accès Free réel n'est pas encore prouvé ; il le sera par le prévol Ines/Rayan. Chaque étudiant relève ce que SON écran affiche. Adresses complètes : Pricing (offre Free) : https://learn.chatgpt.com/docs/pricing ; Models (efforts, Luna) : https://learn.chatgpt.com/docs/models ; Desktop app for Windows : https://learn.chatgpt.com/docs/app/windows ; WSL : https://learn.chatgpt.com/docs/windows/wsl ; Desktop app for Linux : https://learn.chatgpt.com/docs/linux/linux-app ; Slash commands : https://learn.chatgpt.com/codex/reference/slash-commands ; AGENTS.md : https://learn.chatgpt.com/docs/agent-configuration/agents-md ; Build skills : https://learn.chatgpt.com/docs/build-skills ; Subagents : https://learn.chatgpt.com/docs/agent-configuration/subagents ; Codex CLI (annexe facultative) : https://learn.chatgpt.com/docs/codex/cli.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Sélection de docs/setup/sources.json (38 sources au total, toutes vérifiées le 28/10/2026). La liste complète est dans ce fichier et dans les livrets 01 et 06. Adresses complètes : GitHub’s plans : https://docs.github.com/en/get-started/learning-about-github/githubs-plans ; GitHub Actions billing : https://docs.github.com/en/billing/concepts/product-billing/github-actions ; Creating a pull request : https://docs.github.com/en/pull-requests/collaborating-with-pull-requests/proposing-changes-to-your-work-with-pull-requests/creating-a-pull-request ; Reviewing proposed changes : https://docs.github.com/en/pull-requests/collaborating-with-pull-requests/reviewing-changes-in-pull-requests/reviewing-proposed-changes-in-a-pull-request ; Resolving a merge conflict : https://docs.github.com/en/pull-requests/collaborating-with-pull-requests/addressing-merge-conflicts/resolving-a-merge-conflict-on-github ; gh auth login : https://cli.github.com/manual/gh_auth_login ; Install WSL (Microsoft) : https://learn.microsoft.com/en-us/windows/wsl/install ; Download Power BI Desktop : https://learn.microsoft.com/en-us/power-bi/fundamentals/desktop-get-the-desktop ; venv (Python) : https://docs.python.org/3/library/venv.html ; Python on Ubuntu (Canonical) : https://ubuntu.com/developers/docs/howto/python-setup/.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authoring/visuals/manifest.json (licence : schémas originaux, aucune interface simulée, polices OFL avec notices authoring/assets/fonts/*-OFL.txt). Logos : authoring/assets/leaders-logo.jpeg et solen-digital-horizontal.png, fournis. Captures : app-vue-direction.png et app-qualite.png, macOS 26.3, 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0 avant S1 (décision V7 D1 ; livret 00, « À ce stade, je sais… » ; livret 01 parties A–C) : Windows → WSL2 Ubuntu ou Ubuntu natif ; Python, venv, Git, sqlite3 ; application ChatGPT/Codex connectée au compte Free ; compte GitHub. Le professeur répond aux blocages par message ; S1 commence par 30 min de vérification des postes. Aucun paiement ni clé API. Le compte Free et l'affichage de Luna sont à vérifier par chaque étudiant.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LEN">
    <p:bg>
      <p:bgPr>
        <a:solidFill>
          <a:srgbClr val="FFFFFF"/>
        </a:solidFill>
      </p:bgPr>
    </p:bg>
    <p:spTree>
      <p:nvGrpSpPr>
        <p:cNvPr id="1" name=""/>
        <p:cNvGrpSpPr/>
        <p:nvPr/>
      </p:nvGrpSpPr>
      <p:grpSpPr>
        <a:xfrm>
          <a:off x="0" y="0"/>
          <a:ext cx="0" cy="0"/>
          <a:chOff x="0" y="0"/>
          <a:chExt cx="0" cy="0"/>
        </a:xfrm>
      </p:grpSpPr>
      <p:pic>
        <p:nvPicPr>
          <p:cNvPr id="2" name="Image 0" descr="Logo fourni : Solen Digital">    </p:cNvPr>
          <p:cNvPicPr>
            <a:picLocks noChangeAspect="1"/>
          </p:cNvPicPr>
          <p:nvPr/>
        </p:nvPicPr>
        <p:blipFill>
          <a:blip r:embed="rId1"/>
          <a:stretch>
            <a:fillRect/>
          </a:stretch>
        </p:blipFill>
        <p:spPr>
          <a:xfrm>
            <a:off x="10348022" y="292608"/>
            <a:ext cx="819545" cy="329184"/>
          </a:xfrm>
          <a:prstGeom prst="rect">
            <a:avLst/>
          </a:prstGeom>
        </p:spPr>
      </p:pic>
      <p:pic>
        <p:nvPicPr>
          <p:cNvPr id="3" name="Image 1" descr="Logo fourni : Leaders University">    </p:cNvPr>
          <p:cNvPicPr>
            <a:picLocks noChangeAspect="1"/>
          </p:cNvPicPr>
          <p:nvPr/>
        </p:nvPicPr>
        <p:blipFill>
          <a:blip r:embed="rId2"/>
          <a:stretch>
            <a:fillRect/>
          </a:stretch>
        </p:blipFill>
        <p:spPr>
          <a:xfrm>
            <a:off x="11259007" y="265176"/>
            <a:ext cx="384048" cy="384048"/>
          </a:xfrm>
          <a:prstGeom prst="rect">
            <a:avLst/>
          </a:prstGeom>
        </p:spPr>
      </p:pic>
      <p:sp>
        <p:nvSpPr>
          <p:cNvPr id="4" name="Text 0"/>
          <p:cNvSpPr/>
          <p:nvPr/>
        </p:nvSpPr>
        <p:spPr>
          <a:xfrm>
            <a:off x="548640" y="6455664"/>
            <a:ext cx="7315200" cy="237744"/>
          </a:xfrm>
          <a:prstGeom prst="rect">
            <a:avLst/>
          </a:prstGeom>
          <a:noFill/>
          <a:ln/>
        </p:spPr>
        <p:txBody>
          <a:bodyPr wrap="square" lIns="0" tIns="0" rIns="0" bIns="0" rtlCol="0" anchor="ctr"/>
          <a:lstStyle/>
          <a:p>
            <a:pPr indent="0" marL="0">
              <a:buNone/>
            </a:pPr>
            <a:r>
              <a:rPr lang="en-US" sz="1200" dirty="0">
                <a:solidFill>
                  <a:srgbClr val="5A6478"/>
                </a:solidFill>
                <a:latin typeface="Arial" pitchFamily="34" charset="0"/>
                <a:ea typeface="Arial" pitchFamily="34" charset="-122"/>
                <a:cs typeface="Arial" pitchFamily="34" charset="-120"/>
              </a:rPr>
              <a:t>Solen BI 22 h · V7 · Youssef Douma · Leaders University</a:t>
            </a:r>
            <a:endParaRPr lang="en-US" sz="12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jpe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jpe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jpe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jpe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jpe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hyperlink" Target="https://learn.chatgpt.com/docs/pricing" TargetMode="External"/><Relationship Id="rId2" Type="http://schemas.openxmlformats.org/officeDocument/2006/relationships/hyperlink" Target="https://learn.chatgpt.com/docs/models" TargetMode="External"/><Relationship Id="rId3" Type="http://schemas.openxmlformats.org/officeDocument/2006/relationships/hyperlink" Target="https://learn.chatgpt.com/docs/app/windows" TargetMode="External"/><Relationship Id="rId4" Type="http://schemas.openxmlformats.org/officeDocument/2006/relationships/hyperlink" Target="https://learn.chatgpt.com/docs/windows/wsl" TargetMode="External"/><Relationship Id="rId5" Type="http://schemas.openxmlformats.org/officeDocument/2006/relationships/hyperlink" Target="https://learn.chatgpt.com/docs/linux/linux-app" TargetMode="External"/><Relationship Id="rId6" Type="http://schemas.openxmlformats.org/officeDocument/2006/relationships/hyperlink" Target="https://learn.chatgpt.com/codex/reference/slash-commands" TargetMode="External"/><Relationship Id="rId7" Type="http://schemas.openxmlformats.org/officeDocument/2006/relationships/hyperlink" Target="https://learn.chatgpt.com/docs/agent-configuration/agents-md" TargetMode="External"/><Relationship Id="rId8" Type="http://schemas.openxmlformats.org/officeDocument/2006/relationships/hyperlink" Target="https://learn.chatgpt.com/docs/build-skills" TargetMode="External"/><Relationship Id="rId9" Type="http://schemas.openxmlformats.org/officeDocument/2006/relationships/hyperlink" Target="https://learn.chatgpt.com/docs/agent-configuration/subagents" TargetMode="External"/><Relationship Id="rId10" Type="http://schemas.openxmlformats.org/officeDocument/2006/relationships/hyperlink" Target="https://learn.chatgpt.com/docs/codex/cli" TargetMode="External"/><Relationship Id="rId11" Type="http://schemas.openxmlformats.org/officeDocument/2006/relationships/slideLayout" Target="../slideLayouts/slideLayout2.xml"/><Relationship Id="rId1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hyperlink" Target="https://docs.github.com/en/get-started/learning-about-github/githubs-plans" TargetMode="External"/><Relationship Id="rId2" Type="http://schemas.openxmlformats.org/officeDocument/2006/relationships/hyperlink" Target="https://docs.github.com/en/billing/concepts/product-billing/github-actions" TargetMode="External"/><Relationship Id="rId3" Type="http://schemas.openxmlformats.org/officeDocument/2006/relationships/hyperlink" Target="https://docs.github.com/en/pull-requests/collaborating-with-pull-requests/proposing-changes-to-your-work-with-pull-requests/creating-a-pull-request" TargetMode="External"/><Relationship Id="rId4" Type="http://schemas.openxmlformats.org/officeDocument/2006/relationships/hyperlink" Target="https://docs.github.com/en/pull-requests/collaborating-with-pull-requests/reviewing-changes-in-pull-requests/reviewing-proposed-changes-in-a-pull-request" TargetMode="External"/><Relationship Id="rId5" Type="http://schemas.openxmlformats.org/officeDocument/2006/relationships/hyperlink" Target="https://docs.github.com/en/pull-requests/collaborating-with-pull-requests/addressing-merge-conflicts/resolving-a-merge-conflict-on-github" TargetMode="External"/><Relationship Id="rId6" Type="http://schemas.openxmlformats.org/officeDocument/2006/relationships/hyperlink" Target="https://cli.github.com/manual/gh_auth_login" TargetMode="External"/><Relationship Id="rId7" Type="http://schemas.openxmlformats.org/officeDocument/2006/relationships/hyperlink" Target="https://learn.microsoft.com/en-us/windows/wsl/install" TargetMode="External"/><Relationship Id="rId8" Type="http://schemas.openxmlformats.org/officeDocument/2006/relationships/hyperlink" Target="https://learn.microsoft.com/en-us/power-bi/fundamentals/desktop-get-the-desktop" TargetMode="External"/><Relationship Id="rId9" Type="http://schemas.openxmlformats.org/officeDocument/2006/relationships/hyperlink" Target="https://docs.python.org/3/library/venv.html" TargetMode="External"/><Relationship Id="rId10" Type="http://schemas.openxmlformats.org/officeDocument/2006/relationships/hyperlink" Target="https://ubuntu.com/developers/docs/howto/python-setup/" TargetMode="External"/><Relationship Id="rId11" Type="http://schemas.openxmlformats.org/officeDocument/2006/relationships/slideLayout" Target="../slideLayouts/slideLayout2.xml"/><Relationship Id="rId1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jpe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8138160" y="3200400"/>
            <a:ext cx="5669280" cy="5669280"/>
          </a:xfrm>
          <a:prstGeom prst="ellipse">
            <a:avLst/>
          </a:prstGeom>
          <a:solidFill>
            <a:srgbClr val="2B3180"/>
          </a:solidFill>
          <a:ln w="12700">
            <a:solidFill>
              <a:srgbClr val="2B3180"/>
            </a:solidFill>
            <a:prstDash val="solid"/>
          </a:ln>
        </p:spPr>
      </p:sp>
      <p:sp>
        <p:nvSpPr>
          <p:cNvPr id="3" name="Shape 1"/>
          <p:cNvSpPr/>
          <p:nvPr/>
        </p:nvSpPr>
        <p:spPr>
          <a:xfrm>
            <a:off x="685800" y="548640"/>
            <a:ext cx="1740623" cy="896112"/>
          </a:xfrm>
          <a:prstGeom prst="roundRect">
            <a:avLst>
              <a:gd name="adj" fmla="val 14286"/>
            </a:avLst>
          </a:prstGeom>
          <a:solidFill>
            <a:srgbClr val="FFFFFF"/>
          </a:solidFill>
          <a:ln w="12700">
            <a:solidFill>
              <a:srgbClr val="FFFFFF"/>
            </a:solidFill>
            <a:prstDash val="solid"/>
          </a:ln>
        </p:spPr>
      </p:sp>
      <p:pic>
        <p:nvPicPr>
          <p:cNvPr id="4" name="Image 0" descr="Logo fourni : Solen Digital">    </p:cNvPr>
          <p:cNvPicPr>
            <a:picLocks noChangeAspect="1"/>
          </p:cNvPicPr>
          <p:nvPr/>
        </p:nvPicPr>
        <p:blipFill>
          <a:blip r:embed="rId1"/>
          <a:stretch>
            <a:fillRect/>
          </a:stretch>
        </p:blipFill>
        <p:spPr>
          <a:xfrm>
            <a:off x="850392" y="713232"/>
            <a:ext cx="1411439" cy="566928"/>
          </a:xfrm>
          <a:prstGeom prst="rect">
            <a:avLst/>
          </a:prstGeom>
        </p:spPr>
      </p:pic>
      <p:pic>
        <p:nvPicPr>
          <p:cNvPr id="5" name="Image 1" descr="Logo fourni : Leaders University">    </p:cNvPr>
          <p:cNvPicPr>
            <a:picLocks noChangeAspect="1"/>
          </p:cNvPicPr>
          <p:nvPr/>
        </p:nvPicPr>
        <p:blipFill>
          <a:blip r:embed="rId2"/>
          <a:stretch>
            <a:fillRect/>
          </a:stretch>
        </p:blipFill>
        <p:spPr>
          <a:xfrm>
            <a:off x="2700743" y="548640"/>
            <a:ext cx="896112" cy="896112"/>
          </a:xfrm>
          <a:prstGeom prst="rect">
            <a:avLst/>
          </a:prstGeom>
        </p:spPr>
      </p:pic>
      <p:sp>
        <p:nvSpPr>
          <p:cNvPr id="6" name="Text 2"/>
          <p:cNvSpPr/>
          <p:nvPr/>
        </p:nvSpPr>
        <p:spPr>
          <a:xfrm>
            <a:off x="713232" y="1783080"/>
            <a:ext cx="8229600" cy="365760"/>
          </a:xfrm>
          <a:prstGeom prst="rect">
            <a:avLst/>
          </a:prstGeom>
          <a:noFill/>
          <a:ln/>
        </p:spPr>
        <p:txBody>
          <a:bodyPr wrap="square" lIns="0" tIns="0" rIns="0" bIns="0" rtlCol="0" anchor="ctr"/>
          <a:lstStyle/>
          <a:p>
            <a:pPr indent="0" marL="0">
              <a:buNone/>
            </a:pPr>
            <a:r>
              <a:rPr lang="en-US" sz="1500" b="1" spc="150" kern="0" dirty="0">
                <a:solidFill>
                  <a:srgbClr val="FF9A3C"/>
                </a:solidFill>
                <a:latin typeface="Arial" pitchFamily="34" charset="0"/>
                <a:ea typeface="Arial" pitchFamily="34" charset="-122"/>
                <a:cs typeface="Arial" pitchFamily="34" charset="-120"/>
              </a:rPr>
              <a:t>LICENCE BI · ÉDITION SOLEN · V7</a:t>
            </a:r>
            <a:endParaRPr lang="en-US" sz="1500" dirty="0"/>
          </a:p>
        </p:txBody>
      </p:sp>
      <p:sp>
        <p:nvSpPr>
          <p:cNvPr id="7" name="Text 3"/>
          <p:cNvSpPr/>
          <p:nvPr/>
        </p:nvSpPr>
        <p:spPr>
          <a:xfrm>
            <a:off x="685800" y="2240280"/>
            <a:ext cx="9601200" cy="118872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Langage avancé : IA, Codex et BI</a:t>
            </a:r>
            <a:endParaRPr lang="en-US" sz="4400" dirty="0"/>
          </a:p>
        </p:txBody>
      </p:sp>
      <p:sp>
        <p:nvSpPr>
          <p:cNvPr id="8" name="Text 4"/>
          <p:cNvSpPr/>
          <p:nvPr/>
        </p:nvSpPr>
        <p:spPr>
          <a:xfrm>
            <a:off x="713232" y="3474720"/>
            <a:ext cx="9144000" cy="640080"/>
          </a:xfrm>
          <a:prstGeom prst="rect">
            <a:avLst/>
          </a:prstGeom>
          <a:noFill/>
          <a:ln/>
        </p:spPr>
        <p:txBody>
          <a:bodyPr wrap="square" lIns="0" tIns="0" rIns="0" bIns="0" rtlCol="0" anchor="ctr"/>
          <a:lstStyle/>
          <a:p>
            <a:pPr indent="0" marL="0">
              <a:buNone/>
            </a:pPr>
            <a:r>
              <a:rPr lang="en-US" sz="2800" dirty="0">
                <a:solidFill>
                  <a:srgbClr val="FFFFFF"/>
                </a:solidFill>
                <a:latin typeface="Arial" pitchFamily="34" charset="0"/>
                <a:ea typeface="Arial" pitchFamily="34" charset="-122"/>
                <a:cs typeface="Arial" pitchFamily="34" charset="-120"/>
              </a:rPr>
              <a:t>Votre première mission chez Solen Digital</a:t>
            </a:r>
            <a:endParaRPr lang="en-US" sz="2800" dirty="0"/>
          </a:p>
        </p:txBody>
      </p:sp>
      <p:sp>
        <p:nvSpPr>
          <p:cNvPr id="9" name="Text 5"/>
          <p:cNvSpPr/>
          <p:nvPr/>
        </p:nvSpPr>
        <p:spPr>
          <a:xfrm>
            <a:off x="713232" y="4709160"/>
            <a:ext cx="9875520" cy="457200"/>
          </a:xfrm>
          <a:prstGeom prst="rect">
            <a:avLst/>
          </a:prstGeom>
          <a:noFill/>
          <a:ln/>
        </p:spPr>
        <p:txBody>
          <a:bodyPr wrap="square" lIns="0" tIns="0" rIns="0" bIns="0" rtlCol="0" anchor="ctr"/>
          <a:lstStyle/>
          <a:p>
            <a:pPr indent="0" marL="0">
              <a:buNone/>
            </a:pPr>
            <a:r>
              <a:rPr lang="en-US" sz="1800" b="1" dirty="0">
                <a:solidFill>
                  <a:srgbClr val="FF9A3C"/>
                </a:solidFill>
                <a:latin typeface="Arial" pitchFamily="34" charset="0"/>
                <a:ea typeface="Arial" pitchFamily="34" charset="-122"/>
                <a:cs typeface="Arial" pitchFamily="34" charset="-120"/>
              </a:rPr>
              <a:t>22 h en présence · 5 séances de 4 h + soutenance 2 h · binômes · 0 code à la main</a:t>
            </a:r>
            <a:endParaRPr lang="en-US" sz="1800" dirty="0"/>
          </a:p>
        </p:txBody>
      </p:sp>
      <p:sp>
        <p:nvSpPr>
          <p:cNvPr id="10" name="Text 6"/>
          <p:cNvSpPr/>
          <p:nvPr/>
        </p:nvSpPr>
        <p:spPr>
          <a:xfrm>
            <a:off x="713232" y="6172200"/>
            <a:ext cx="9144000" cy="27432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Youssef Douma · Leaders University · faits officiels vérifiés le 28/10/2026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LA MISSION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Lundi matin, vous rejoignez Solen Digital</a:t>
            </a:r>
            <a:endParaRPr lang="en-US" sz="3000" dirty="0"/>
          </a:p>
        </p:txBody>
      </p:sp>
      <p:sp>
        <p:nvSpPr>
          <p:cNvPr id="6" name="Shape 4"/>
          <p:cNvSpPr/>
          <p:nvPr/>
        </p:nvSpPr>
        <p:spPr>
          <a:xfrm>
            <a:off x="548640" y="1828800"/>
            <a:ext cx="3515258" cy="3429000"/>
          </a:xfrm>
          <a:prstGeom prst="roundRect">
            <a:avLst>
              <a:gd name="adj" fmla="val 2667"/>
            </a:avLst>
          </a:prstGeom>
          <a:solidFill>
            <a:srgbClr val="F3F5FC"/>
          </a:solidFill>
          <a:ln w="9525">
            <a:solidFill>
              <a:srgbClr val="F3F5FC"/>
            </a:solidFill>
            <a:prstDash val="solid"/>
          </a:ln>
        </p:spPr>
      </p:sp>
      <p:sp>
        <p:nvSpPr>
          <p:cNvPr id="7" name="Shape 5"/>
          <p:cNvSpPr/>
          <p:nvPr/>
        </p:nvSpPr>
        <p:spPr>
          <a:xfrm>
            <a:off x="777240" y="2084832"/>
            <a:ext cx="457200" cy="457200"/>
          </a:xfrm>
          <a:prstGeom prst="ellipse">
            <a:avLst/>
          </a:prstGeom>
          <a:solidFill>
            <a:srgbClr val="2B3180"/>
          </a:solidFill>
          <a:ln w="12700">
            <a:solidFill>
              <a:srgbClr val="2B3180"/>
            </a:solidFill>
            <a:prstDash val="solid"/>
          </a:ln>
        </p:spPr>
      </p:sp>
      <p:sp>
        <p:nvSpPr>
          <p:cNvPr id="8" name="Text 6"/>
          <p:cNvSpPr/>
          <p:nvPr/>
        </p:nvSpPr>
        <p:spPr>
          <a:xfrm>
            <a:off x="777240"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777240"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Solen Digital</a:t>
            </a:r>
            <a:endParaRPr lang="en-US" sz="2200" dirty="0"/>
          </a:p>
        </p:txBody>
      </p:sp>
      <p:sp>
        <p:nvSpPr>
          <p:cNvPr id="10" name="Text 8"/>
          <p:cNvSpPr/>
          <p:nvPr/>
        </p:nvSpPr>
        <p:spPr>
          <a:xfrm>
            <a:off x="777240"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Société de services numériques (fictive) qui accompagne des PME.</a:t>
            </a:r>
            <a:endParaRPr lang="en-US" sz="1800" dirty="0"/>
          </a:p>
        </p:txBody>
      </p:sp>
      <p:sp>
        <p:nvSpPr>
          <p:cNvPr id="11" name="Shape 9"/>
          <p:cNvSpPr/>
          <p:nvPr/>
        </p:nvSpPr>
        <p:spPr>
          <a:xfrm>
            <a:off x="4338218" y="1828800"/>
            <a:ext cx="3515258" cy="3429000"/>
          </a:xfrm>
          <a:prstGeom prst="roundRect">
            <a:avLst>
              <a:gd name="adj" fmla="val 2667"/>
            </a:avLst>
          </a:prstGeom>
          <a:solidFill>
            <a:srgbClr val="F3F5FC"/>
          </a:solidFill>
          <a:ln w="9525">
            <a:solidFill>
              <a:srgbClr val="F3F5FC"/>
            </a:solidFill>
            <a:prstDash val="solid"/>
          </a:ln>
        </p:spPr>
      </p:sp>
      <p:sp>
        <p:nvSpPr>
          <p:cNvPr id="12" name="Shape 10"/>
          <p:cNvSpPr/>
          <p:nvPr/>
        </p:nvSpPr>
        <p:spPr>
          <a:xfrm>
            <a:off x="4566818" y="2084832"/>
            <a:ext cx="457200" cy="457200"/>
          </a:xfrm>
          <a:prstGeom prst="ellipse">
            <a:avLst/>
          </a:prstGeom>
          <a:solidFill>
            <a:srgbClr val="2B3180"/>
          </a:solidFill>
          <a:ln w="12700">
            <a:solidFill>
              <a:srgbClr val="2B3180"/>
            </a:solidFill>
            <a:prstDash val="solid"/>
          </a:ln>
        </p:spPr>
      </p:sp>
      <p:sp>
        <p:nvSpPr>
          <p:cNvPr id="13" name="Text 11"/>
          <p:cNvSpPr/>
          <p:nvPr/>
        </p:nvSpPr>
        <p:spPr>
          <a:xfrm>
            <a:off x="4566818"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4566818"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Vous deux</a:t>
            </a:r>
            <a:endParaRPr lang="en-US" sz="2200" dirty="0"/>
          </a:p>
        </p:txBody>
      </p:sp>
      <p:sp>
        <p:nvSpPr>
          <p:cNvPr id="15" name="Text 13"/>
          <p:cNvSpPr/>
          <p:nvPr/>
        </p:nvSpPr>
        <p:spPr>
          <a:xfrm>
            <a:off x="4566818"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Jeunes diplômés BI, recrutés en binôme le même lundi.</a:t>
            </a:r>
            <a:endParaRPr lang="en-US" sz="1800" dirty="0"/>
          </a:p>
        </p:txBody>
      </p:sp>
      <p:sp>
        <p:nvSpPr>
          <p:cNvPr id="16" name="Shape 14"/>
          <p:cNvSpPr/>
          <p:nvPr/>
        </p:nvSpPr>
        <p:spPr>
          <a:xfrm>
            <a:off x="8127797" y="1828800"/>
            <a:ext cx="3515258" cy="3429000"/>
          </a:xfrm>
          <a:prstGeom prst="roundRect">
            <a:avLst>
              <a:gd name="adj" fmla="val 2667"/>
            </a:avLst>
          </a:prstGeom>
          <a:solidFill>
            <a:srgbClr val="F3F5FC"/>
          </a:solidFill>
          <a:ln w="9525">
            <a:solidFill>
              <a:srgbClr val="F3F5FC"/>
            </a:solidFill>
            <a:prstDash val="solid"/>
          </a:ln>
        </p:spPr>
      </p:sp>
      <p:sp>
        <p:nvSpPr>
          <p:cNvPr id="17" name="Shape 15"/>
          <p:cNvSpPr/>
          <p:nvPr/>
        </p:nvSpPr>
        <p:spPr>
          <a:xfrm>
            <a:off x="8356397" y="2084832"/>
            <a:ext cx="457200" cy="457200"/>
          </a:xfrm>
          <a:prstGeom prst="ellipse">
            <a:avLst/>
          </a:prstGeom>
          <a:solidFill>
            <a:srgbClr val="2B3180"/>
          </a:solidFill>
          <a:ln w="12700">
            <a:solidFill>
              <a:srgbClr val="2B3180"/>
            </a:solidFill>
            <a:prstDash val="solid"/>
          </a:ln>
        </p:spPr>
      </p:sp>
      <p:sp>
        <p:nvSpPr>
          <p:cNvPr id="18" name="Text 16"/>
          <p:cNvSpPr/>
          <p:nvPr/>
        </p:nvSpPr>
        <p:spPr>
          <a:xfrm>
            <a:off x="8356397"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8356397"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Le client</a:t>
            </a:r>
            <a:endParaRPr lang="en-US" sz="2200" dirty="0"/>
          </a:p>
        </p:txBody>
      </p:sp>
      <p:sp>
        <p:nvSpPr>
          <p:cNvPr id="20" name="Text 18"/>
          <p:cNvSpPr/>
          <p:nvPr/>
        </p:nvSpPr>
        <p:spPr>
          <a:xfrm>
            <a:off x="8356397"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Maison Zitouna : 3 boutiques</a:t>
            </a:r>
            <a:endParaRPr lang="en-US" sz="1800" dirty="0"/>
          </a:p>
          <a:p>
            <a:pPr indent="0" marL="0">
              <a:buNone/>
            </a:pPr>
            <a:r>
              <a:rPr lang="en-US" sz="1800" dirty="0">
                <a:solidFill>
                  <a:srgbClr val="1A1F4D"/>
                </a:solidFill>
                <a:latin typeface="Arial" pitchFamily="34" charset="0"/>
                <a:ea typeface="Arial" pitchFamily="34" charset="-122"/>
                <a:cs typeface="Arial" pitchFamily="34" charset="-120"/>
              </a:rPr>
              <a:t>TUN · NBE · SFX.</a:t>
            </a:r>
            <a:endParaRPr lang="en-US" sz="1800" dirty="0"/>
          </a:p>
        </p:txBody>
      </p:sp>
      <p:sp>
        <p:nvSpPr>
          <p:cNvPr id="21" name="Shape 19"/>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2" name="Shape 20"/>
          <p:cNvSpPr/>
          <p:nvPr/>
        </p:nvSpPr>
        <p:spPr>
          <a:xfrm>
            <a:off x="694944" y="5733288"/>
            <a:ext cx="292608" cy="292608"/>
          </a:xfrm>
          <a:prstGeom prst="ellipse">
            <a:avLst/>
          </a:prstGeom>
          <a:solidFill>
            <a:srgbClr val="FF9A3C"/>
          </a:solidFill>
          <a:ln w="12700">
            <a:solidFill>
              <a:srgbClr val="FF9A3C"/>
            </a:solidFill>
            <a:prstDash val="solid"/>
          </a:ln>
        </p:spPr>
      </p:sp>
      <p:sp>
        <p:nvSpPr>
          <p:cNvPr id="23" name="Text 21"/>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4" name="Text 22"/>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Une mission trop grande pour deux débutants… sauf si on la découpe en petites étapes vérifiables.</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LA MISSION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Épisode 1 · Le mail de la direction</a:t>
            </a:r>
            <a:endParaRPr lang="en-US" sz="3000" dirty="0"/>
          </a:p>
        </p:txBody>
      </p:sp>
      <p:sp>
        <p:nvSpPr>
          <p:cNvPr id="6" name="Shape 4"/>
          <p:cNvSpPr/>
          <p:nvPr/>
        </p:nvSpPr>
        <p:spPr>
          <a:xfrm>
            <a:off x="548640" y="1691640"/>
            <a:ext cx="8321040" cy="4434840"/>
          </a:xfrm>
          <a:prstGeom prst="roundRect">
            <a:avLst>
              <a:gd name="adj" fmla="val 1649"/>
            </a:avLst>
          </a:prstGeom>
          <a:solidFill>
            <a:srgbClr val="F3F5FC"/>
          </a:solidFill>
          <a:ln w="9525">
            <a:solidFill>
              <a:srgbClr val="DCE2F0"/>
            </a:solidFill>
            <a:prstDash val="solid"/>
          </a:ln>
        </p:spPr>
      </p:sp>
      <p:sp>
        <p:nvSpPr>
          <p:cNvPr id="7" name="Text 5"/>
          <p:cNvSpPr/>
          <p:nvPr/>
        </p:nvSpPr>
        <p:spPr>
          <a:xfrm>
            <a:off x="822960" y="1828800"/>
            <a:ext cx="822960" cy="329184"/>
          </a:xfrm>
          <a:prstGeom prst="rect">
            <a:avLst/>
          </a:prstGeom>
          <a:noFill/>
          <a:ln/>
        </p:spPr>
        <p:txBody>
          <a:bodyPr wrap="square" lIns="0" tIns="0" rIns="0" bIns="0" rtlCol="0" anchor="ctr"/>
          <a:lstStyle/>
          <a:p>
            <a:pPr indent="0" marL="0">
              <a:buNone/>
            </a:pPr>
            <a:r>
              <a:rPr lang="en-US" sz="1400" b="1" dirty="0">
                <a:solidFill>
                  <a:srgbClr val="5A6478"/>
                </a:solidFill>
                <a:latin typeface="Arial" pitchFamily="34" charset="0"/>
                <a:ea typeface="Arial" pitchFamily="34" charset="-122"/>
                <a:cs typeface="Arial" pitchFamily="34" charset="-120"/>
              </a:rPr>
              <a:t>De</a:t>
            </a:r>
            <a:endParaRPr lang="en-US" sz="1400" dirty="0"/>
          </a:p>
        </p:txBody>
      </p:sp>
      <p:sp>
        <p:nvSpPr>
          <p:cNvPr id="8" name="Text 6"/>
          <p:cNvSpPr/>
          <p:nvPr/>
        </p:nvSpPr>
        <p:spPr>
          <a:xfrm>
            <a:off x="1645920" y="1828800"/>
            <a:ext cx="6949440" cy="329184"/>
          </a:xfrm>
          <a:prstGeom prst="rect">
            <a:avLst/>
          </a:prstGeom>
          <a:noFill/>
          <a:ln/>
        </p:spPr>
        <p:txBody>
          <a:bodyPr wrap="square" lIns="0" tIns="0" rIns="0" bIns="0" rtlCol="0" anchor="ctr"/>
          <a:lstStyle/>
          <a:p>
            <a:pPr indent="0" marL="0">
              <a:buNone/>
            </a:pPr>
            <a:r>
              <a:rPr lang="en-US" sz="1500" dirty="0">
                <a:solidFill>
                  <a:srgbClr val="1A1F4D"/>
                </a:solidFill>
                <a:latin typeface="Arial" pitchFamily="34" charset="0"/>
                <a:ea typeface="Arial" pitchFamily="34" charset="-122"/>
                <a:cs typeface="Arial" pitchFamily="34" charset="-120"/>
              </a:rPr>
              <a:t>Lamia Ben Salah, directrice (fictive)</a:t>
            </a:r>
            <a:endParaRPr lang="en-US" sz="1500" dirty="0"/>
          </a:p>
        </p:txBody>
      </p:sp>
      <p:sp>
        <p:nvSpPr>
          <p:cNvPr id="9" name="Text 7"/>
          <p:cNvSpPr/>
          <p:nvPr/>
        </p:nvSpPr>
        <p:spPr>
          <a:xfrm>
            <a:off x="822960" y="2212848"/>
            <a:ext cx="822960" cy="329184"/>
          </a:xfrm>
          <a:prstGeom prst="rect">
            <a:avLst/>
          </a:prstGeom>
          <a:noFill/>
          <a:ln/>
        </p:spPr>
        <p:txBody>
          <a:bodyPr wrap="square" lIns="0" tIns="0" rIns="0" bIns="0" rtlCol="0" anchor="ctr"/>
          <a:lstStyle/>
          <a:p>
            <a:pPr indent="0" marL="0">
              <a:buNone/>
            </a:pPr>
            <a:r>
              <a:rPr lang="en-US" sz="1400" b="1" dirty="0">
                <a:solidFill>
                  <a:srgbClr val="5A6478"/>
                </a:solidFill>
                <a:latin typeface="Arial" pitchFamily="34" charset="0"/>
                <a:ea typeface="Arial" pitchFamily="34" charset="-122"/>
                <a:cs typeface="Arial" pitchFamily="34" charset="-120"/>
              </a:rPr>
              <a:t>À</a:t>
            </a:r>
            <a:endParaRPr lang="en-US" sz="1400" dirty="0"/>
          </a:p>
        </p:txBody>
      </p:sp>
      <p:sp>
        <p:nvSpPr>
          <p:cNvPr id="10" name="Text 8"/>
          <p:cNvSpPr/>
          <p:nvPr/>
        </p:nvSpPr>
        <p:spPr>
          <a:xfrm>
            <a:off x="1645920" y="2212848"/>
            <a:ext cx="6949440" cy="329184"/>
          </a:xfrm>
          <a:prstGeom prst="rect">
            <a:avLst/>
          </a:prstGeom>
          <a:noFill/>
          <a:ln/>
        </p:spPr>
        <p:txBody>
          <a:bodyPr wrap="square" lIns="0" tIns="0" rIns="0" bIns="0" rtlCol="0" anchor="ctr"/>
          <a:lstStyle/>
          <a:p>
            <a:pPr indent="0" marL="0">
              <a:buNone/>
            </a:pPr>
            <a:r>
              <a:rPr lang="en-US" sz="1500" dirty="0">
                <a:solidFill>
                  <a:srgbClr val="1A1F4D"/>
                </a:solidFill>
                <a:latin typeface="Arial" pitchFamily="34" charset="0"/>
                <a:ea typeface="Arial" pitchFamily="34" charset="-122"/>
                <a:cs typeface="Arial" pitchFamily="34" charset="-120"/>
              </a:rPr>
              <a:t>Vous deux, via Karim Jaziri</a:t>
            </a:r>
            <a:endParaRPr lang="en-US" sz="1500" dirty="0"/>
          </a:p>
        </p:txBody>
      </p:sp>
      <p:sp>
        <p:nvSpPr>
          <p:cNvPr id="11" name="Text 9"/>
          <p:cNvSpPr/>
          <p:nvPr/>
        </p:nvSpPr>
        <p:spPr>
          <a:xfrm>
            <a:off x="822960" y="2596896"/>
            <a:ext cx="822960" cy="329184"/>
          </a:xfrm>
          <a:prstGeom prst="rect">
            <a:avLst/>
          </a:prstGeom>
          <a:noFill/>
          <a:ln/>
        </p:spPr>
        <p:txBody>
          <a:bodyPr wrap="square" lIns="0" tIns="0" rIns="0" bIns="0" rtlCol="0" anchor="ctr"/>
          <a:lstStyle/>
          <a:p>
            <a:pPr indent="0" marL="0">
              <a:buNone/>
            </a:pPr>
            <a:r>
              <a:rPr lang="en-US" sz="1400" b="1" dirty="0">
                <a:solidFill>
                  <a:srgbClr val="5A6478"/>
                </a:solidFill>
                <a:latin typeface="Arial" pitchFamily="34" charset="0"/>
                <a:ea typeface="Arial" pitchFamily="34" charset="-122"/>
                <a:cs typeface="Arial" pitchFamily="34" charset="-120"/>
              </a:rPr>
              <a:t>Objet</a:t>
            </a:r>
            <a:endParaRPr lang="en-US" sz="1400" dirty="0"/>
          </a:p>
        </p:txBody>
      </p:sp>
      <p:sp>
        <p:nvSpPr>
          <p:cNvPr id="12" name="Text 10"/>
          <p:cNvSpPr/>
          <p:nvPr/>
        </p:nvSpPr>
        <p:spPr>
          <a:xfrm>
            <a:off x="1645920" y="2596896"/>
            <a:ext cx="6949440" cy="329184"/>
          </a:xfrm>
          <a:prstGeom prst="rect">
            <a:avLst/>
          </a:prstGeom>
          <a:noFill/>
          <a:ln/>
        </p:spPr>
        <p:txBody>
          <a:bodyPr wrap="square" lIns="0" tIns="0" rIns="0" bIns="0" rtlCol="0" anchor="ctr"/>
          <a:lstStyle/>
          <a:p>
            <a:pPr indent="0" marL="0">
              <a:buNone/>
            </a:pPr>
            <a:r>
              <a:rPr lang="en-US" sz="1500" b="1" dirty="0">
                <a:solidFill>
                  <a:srgbClr val="1A1F4D"/>
                </a:solidFill>
                <a:latin typeface="Arial" pitchFamily="34" charset="0"/>
                <a:ea typeface="Arial" pitchFamily="34" charset="-122"/>
                <a:cs typeface="Arial" pitchFamily="34" charset="-120"/>
              </a:rPr>
              <a:t>Maison Zitouna</a:t>
            </a:r>
            <a:endParaRPr lang="en-US" sz="1500" dirty="0"/>
          </a:p>
        </p:txBody>
      </p:sp>
      <p:sp>
        <p:nvSpPr>
          <p:cNvPr id="13" name="Shape 11"/>
          <p:cNvSpPr/>
          <p:nvPr/>
        </p:nvSpPr>
        <p:spPr>
          <a:xfrm>
            <a:off x="822960" y="3063240"/>
            <a:ext cx="7772400" cy="0"/>
          </a:xfrm>
          <a:prstGeom prst="line">
            <a:avLst/>
          </a:prstGeom>
          <a:noFill/>
          <a:ln w="12700">
            <a:solidFill>
              <a:srgbClr val="DCE2F0"/>
            </a:solidFill>
            <a:prstDash val="solid"/>
          </a:ln>
        </p:spPr>
      </p:sp>
      <p:sp>
        <p:nvSpPr>
          <p:cNvPr id="14" name="Text 12"/>
          <p:cNvSpPr/>
          <p:nvPr/>
        </p:nvSpPr>
        <p:spPr>
          <a:xfrm>
            <a:off x="822960" y="3200400"/>
            <a:ext cx="7772400" cy="2743200"/>
          </a:xfrm>
          <a:prstGeom prst="rect">
            <a:avLst/>
          </a:prstGeom>
          <a:noFill/>
          <a:ln/>
        </p:spPr>
        <p:txBody>
          <a:bodyPr wrap="square" lIns="0" tIns="0" rIns="0" bIns="0" rtlCol="0" anchor="t"/>
          <a:lstStyle/>
          <a:p>
            <a:pPr indent="0" marL="0">
              <a:spcAft>
                <a:spcPts val="800"/>
              </a:spcAft>
              <a:buNone/>
            </a:pPr>
            <a:r>
              <a:rPr lang="en-US" sz="2100" dirty="0">
                <a:solidFill>
                  <a:srgbClr val="2B3180"/>
                </a:solidFill>
                <a:latin typeface="Arial" pitchFamily="34" charset="0"/>
                <a:ea typeface="Arial" pitchFamily="34" charset="-122"/>
                <a:cs typeface="Arial" pitchFamily="34" charset="-120"/>
              </a:rPr>
              <a:t>« Les ventes montent, mais où passe la marge ?</a:t>
            </a:r>
            <a:endParaRPr lang="en-US" sz="2100" dirty="0"/>
          </a:p>
          <a:p>
            <a:pPr indent="0" marL="0">
              <a:spcAft>
                <a:spcPts val="800"/>
              </a:spcAft>
              <a:buNone/>
            </a:pPr>
            <a:r>
              <a:rPr lang="en-US" sz="2100" dirty="0">
                <a:solidFill>
                  <a:srgbClr val="2B3180"/>
                </a:solidFill>
                <a:latin typeface="Arial" pitchFamily="34" charset="0"/>
                <a:ea typeface="Arial" pitchFamily="34" charset="-122"/>
                <a:cs typeface="Arial" pitchFamily="34" charset="-120"/>
              </a:rPr>
              <a:t>Par boutique, par zone et par mois : ventes brutes, retours, ventes nettes, marge sur coût d'achat, taux de retour.</a:t>
            </a:r>
            <a:endParaRPr lang="en-US" sz="2100" dirty="0"/>
          </a:p>
          <a:p>
            <a:pPr indent="0" marL="0">
              <a:spcAft>
                <a:spcPts val="800"/>
              </a:spcAft>
              <a:buNone/>
            </a:pPr>
            <a:r>
              <a:rPr lang="en-US" sz="2100" dirty="0">
                <a:solidFill>
                  <a:srgbClr val="2B3180"/>
                </a:solidFill>
                <a:latin typeface="Arial" pitchFamily="34" charset="0"/>
                <a:ea typeface="Arial" pitchFamily="34" charset="-122"/>
                <a:cs typeface="Arial" pitchFamily="34" charset="-120"/>
              </a:rPr>
              <a:t>Et dites-moi ce que vous avez dû écarter, et pourquoi. »</a:t>
            </a:r>
            <a:endParaRPr lang="en-US" sz="2100" dirty="0"/>
          </a:p>
        </p:txBody>
      </p:sp>
      <p:sp>
        <p:nvSpPr>
          <p:cNvPr id="15" name="Shape 13"/>
          <p:cNvSpPr/>
          <p:nvPr/>
        </p:nvSpPr>
        <p:spPr>
          <a:xfrm>
            <a:off x="9189720" y="1691640"/>
            <a:ext cx="2453335" cy="4434840"/>
          </a:xfrm>
          <a:prstGeom prst="roundRect">
            <a:avLst>
              <a:gd name="adj" fmla="val 3727"/>
            </a:avLst>
          </a:prstGeom>
          <a:solidFill>
            <a:srgbClr val="07152F"/>
          </a:solidFill>
          <a:ln w="9525">
            <a:solidFill>
              <a:srgbClr val="07152F"/>
            </a:solidFill>
            <a:prstDash val="solid"/>
          </a:ln>
        </p:spPr>
      </p:sp>
      <p:sp>
        <p:nvSpPr>
          <p:cNvPr id="16" name="Text 14"/>
          <p:cNvSpPr/>
          <p:nvPr/>
        </p:nvSpPr>
        <p:spPr>
          <a:xfrm>
            <a:off x="9418320" y="1920240"/>
            <a:ext cx="201168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À NOTER</a:t>
            </a:r>
            <a:endParaRPr lang="en-US" sz="1400" dirty="0"/>
          </a:p>
        </p:txBody>
      </p:sp>
      <p:sp>
        <p:nvSpPr>
          <p:cNvPr id="17" name="Text 15"/>
          <p:cNvSpPr/>
          <p:nvPr/>
        </p:nvSpPr>
        <p:spPr>
          <a:xfrm>
            <a:off x="9418320" y="2377440"/>
            <a:ext cx="1996135" cy="210312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À partir du 15 juillet, Nabeul passe de Cap Bon à Nord-Est.</a:t>
            </a:r>
            <a:endParaRPr lang="en-US" sz="2000" dirty="0"/>
          </a:p>
        </p:txBody>
      </p:sp>
      <p:sp>
        <p:nvSpPr>
          <p:cNvPr id="18" name="Text 16"/>
          <p:cNvSpPr/>
          <p:nvPr/>
        </p:nvSpPr>
        <p:spPr>
          <a:xfrm>
            <a:off x="9418320" y="5349240"/>
            <a:ext cx="1996135" cy="54864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Personnages et entreprise fictifs.</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LA MISSION</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200" b="1" dirty="0">
                <a:solidFill>
                  <a:srgbClr val="1A1F4D"/>
                </a:solidFill>
                <a:latin typeface="Arial" pitchFamily="34" charset="0"/>
                <a:ea typeface="Arial" pitchFamily="34" charset="-122"/>
                <a:cs typeface="Arial" pitchFamily="34" charset="-120"/>
              </a:rPr>
              <a:t>De la question de la direction à la décision</a:t>
            </a:r>
            <a:endParaRPr lang="en-US" sz="22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686174"/>
          </a:xfrm>
          <a:prstGeom prst="roundRect">
            <a:avLst>
              <a:gd name="adj" fmla="val 1171"/>
            </a:avLst>
          </a:prstGeom>
          <a:solidFill>
            <a:srgbClr val="FFFFFF"/>
          </a:solidFill>
          <a:ln w="9525">
            <a:solidFill>
              <a:srgbClr val="DCE2F0"/>
            </a:solidFill>
            <a:prstDash val="solid"/>
          </a:ln>
        </p:spPr>
      </p:sp>
      <p:pic>
        <p:nvPicPr>
          <p:cNvPr id="9" name="Image 0" descr="De la question de la direction à la décision">    </p:cNvPr>
          <p:cNvPicPr>
            <a:picLocks noChangeAspect="1"/>
          </p:cNvPicPr>
          <p:nvPr/>
        </p:nvPicPr>
        <p:blipFill>
          <a:blip r:embed="rId1"/>
          <a:srcRect l="0" r="0" t="19512" b="0"/>
          <a:stretch/>
        </p:blipFill>
        <p:spPr>
          <a:xfrm>
            <a:off x="548640" y="1371600"/>
            <a:ext cx="11094415" cy="4576446"/>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 BINÔME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Deux recrues, deux rôles qui alternent</a:t>
            </a:r>
            <a:endParaRPr lang="en-US" sz="3000" dirty="0"/>
          </a:p>
        </p:txBody>
      </p:sp>
      <p:sp>
        <p:nvSpPr>
          <p:cNvPr id="6" name="Shape 4"/>
          <p:cNvSpPr/>
          <p:nvPr/>
        </p:nvSpPr>
        <p:spPr>
          <a:xfrm>
            <a:off x="548640" y="1783080"/>
            <a:ext cx="5166360" cy="3520440"/>
          </a:xfrm>
          <a:prstGeom prst="roundRect">
            <a:avLst>
              <a:gd name="adj" fmla="val 2597"/>
            </a:avLst>
          </a:prstGeom>
          <a:solidFill>
            <a:srgbClr val="F3F5FC"/>
          </a:solidFill>
          <a:ln w="9525">
            <a:solidFill>
              <a:srgbClr val="F3F5FC"/>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2B3180"/>
                </a:solidFill>
                <a:latin typeface="Arial" pitchFamily="34" charset="0"/>
                <a:ea typeface="Arial" pitchFamily="34" charset="-122"/>
                <a:cs typeface="Arial" pitchFamily="34" charset="-120"/>
              </a:rPr>
              <a:t>AUTEUR</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Rédige la demande à Codex</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Lance les contrôles, lit le diff</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Commit, push, ouvre la PR</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RELECTEUR</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Récupère la branche</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Revue Codex en lecture seule</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Écrit SA revue, approuve ou non</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Deux comptes GitHub · deux comptes Codex Free · deux copies locales · un dépôt par binôme.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 CONTRAT</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 contrat du cours</a:t>
            </a:r>
            <a:endParaRPr lang="en-US" sz="3000" dirty="0"/>
          </a:p>
        </p:txBody>
      </p:sp>
      <p:sp>
        <p:nvSpPr>
          <p:cNvPr id="6" name="Shape 4"/>
          <p:cNvSpPr/>
          <p:nvPr/>
        </p:nvSpPr>
        <p:spPr>
          <a:xfrm>
            <a:off x="548640" y="1874520"/>
            <a:ext cx="2567864" cy="3383280"/>
          </a:xfrm>
          <a:prstGeom prst="roundRect">
            <a:avLst>
              <a:gd name="adj" fmla="val 3561"/>
            </a:avLst>
          </a:prstGeom>
          <a:solidFill>
            <a:srgbClr val="F3F5FC"/>
          </a:solidFill>
          <a:ln w="9525">
            <a:solidFill>
              <a:srgbClr val="F3F5FC"/>
            </a:solidFill>
            <a:prstDash val="solid"/>
          </a:ln>
        </p:spPr>
      </p:sp>
      <p:sp>
        <p:nvSpPr>
          <p:cNvPr id="7" name="Text 5"/>
          <p:cNvSpPr/>
          <p:nvPr/>
        </p:nvSpPr>
        <p:spPr>
          <a:xfrm>
            <a:off x="731520"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22 h</a:t>
            </a:r>
            <a:endParaRPr lang="en-US" sz="4400" dirty="0"/>
          </a:p>
        </p:txBody>
      </p:sp>
      <p:sp>
        <p:nvSpPr>
          <p:cNvPr id="8" name="Text 6"/>
          <p:cNvSpPr/>
          <p:nvPr/>
        </p:nvSpPr>
        <p:spPr>
          <a:xfrm>
            <a:off x="731520"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en présence</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5 × 4 h</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 soutenance 2 h</a:t>
            </a:r>
            <a:endParaRPr lang="en-US" sz="1700" dirty="0"/>
          </a:p>
        </p:txBody>
      </p:sp>
      <p:sp>
        <p:nvSpPr>
          <p:cNvPr id="9" name="Shape 7"/>
          <p:cNvSpPr/>
          <p:nvPr/>
        </p:nvSpPr>
        <p:spPr>
          <a:xfrm>
            <a:off x="3390824" y="1874520"/>
            <a:ext cx="2567864" cy="3383280"/>
          </a:xfrm>
          <a:prstGeom prst="roundRect">
            <a:avLst>
              <a:gd name="adj" fmla="val 3561"/>
            </a:avLst>
          </a:prstGeom>
          <a:solidFill>
            <a:srgbClr val="2B3180"/>
          </a:solidFill>
          <a:ln w="9525">
            <a:solidFill>
              <a:srgbClr val="2B3180"/>
            </a:solidFill>
            <a:prstDash val="solid"/>
          </a:ln>
        </p:spPr>
      </p:sp>
      <p:sp>
        <p:nvSpPr>
          <p:cNvPr id="10" name="Text 8"/>
          <p:cNvSpPr/>
          <p:nvPr/>
        </p:nvSpPr>
        <p:spPr>
          <a:xfrm>
            <a:off x="3573704" y="2286000"/>
            <a:ext cx="2202104" cy="100584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 8 h</a:t>
            </a:r>
            <a:endParaRPr lang="en-US" sz="4400" dirty="0"/>
          </a:p>
        </p:txBody>
      </p:sp>
      <p:sp>
        <p:nvSpPr>
          <p:cNvPr id="11" name="Text 9"/>
          <p:cNvSpPr/>
          <p:nvPr/>
        </p:nvSpPr>
        <p:spPr>
          <a:xfrm>
            <a:off x="3573704" y="3520440"/>
            <a:ext cx="2202104" cy="1554480"/>
          </a:xfrm>
          <a:prstGeom prst="rect">
            <a:avLst/>
          </a:prstGeom>
          <a:noFill/>
          <a:ln/>
        </p:spPr>
        <p:txBody>
          <a:bodyPr wrap="square" lIns="0" tIns="0" rIns="0" bIns="0" rtlCol="0" anchor="t"/>
          <a:lstStyle/>
          <a:p>
            <a:pPr algn="ctr" indent="0" marL="0">
              <a:buNone/>
            </a:pPr>
            <a:r>
              <a:rPr lang="en-US" sz="1700" dirty="0">
                <a:solidFill>
                  <a:srgbClr val="FFFFFF"/>
                </a:solidFill>
                <a:latin typeface="Arial" pitchFamily="34" charset="0"/>
                <a:ea typeface="Arial" pitchFamily="34" charset="-122"/>
                <a:cs typeface="Arial" pitchFamily="34" charset="-120"/>
              </a:rPr>
              <a:t>de travail personnel</a:t>
            </a:r>
            <a:endParaRPr lang="en-US" sz="1700" dirty="0"/>
          </a:p>
          <a:p>
            <a:pPr algn="ctr" indent="0" marL="0">
              <a:buNone/>
            </a:pPr>
            <a:r>
              <a:rPr lang="en-US" sz="1700" dirty="0">
                <a:solidFill>
                  <a:srgbClr val="FFFFFF"/>
                </a:solidFill>
                <a:latin typeface="Arial" pitchFamily="34" charset="0"/>
                <a:ea typeface="Arial" pitchFamily="34" charset="-122"/>
                <a:cs typeface="Arial" pitchFamily="34" charset="-120"/>
              </a:rPr>
              <a:t>dont 2 h de séance 0</a:t>
            </a:r>
            <a:endParaRPr lang="en-US" sz="1700" dirty="0"/>
          </a:p>
          <a:p>
            <a:pPr algn="ctr" indent="0" marL="0">
              <a:buNone/>
            </a:pPr>
            <a:r>
              <a:rPr lang="en-US" sz="1700" dirty="0">
                <a:solidFill>
                  <a:srgbClr val="FFFFFF"/>
                </a:solidFill>
                <a:latin typeface="Arial" pitchFamily="34" charset="0"/>
                <a:ea typeface="Arial" pitchFamily="34" charset="-122"/>
                <a:cs typeface="Arial" pitchFamily="34" charset="-120"/>
              </a:rPr>
              <a:t>(≈ 30 h au total)</a:t>
            </a:r>
            <a:endParaRPr lang="en-US" sz="1700" dirty="0"/>
          </a:p>
        </p:txBody>
      </p:sp>
      <p:sp>
        <p:nvSpPr>
          <p:cNvPr id="12" name="Shape 10"/>
          <p:cNvSpPr/>
          <p:nvPr/>
        </p:nvSpPr>
        <p:spPr>
          <a:xfrm>
            <a:off x="6233008" y="1874520"/>
            <a:ext cx="2567864" cy="3383280"/>
          </a:xfrm>
          <a:prstGeom prst="roundRect">
            <a:avLst>
              <a:gd name="adj" fmla="val 3561"/>
            </a:avLst>
          </a:prstGeom>
          <a:solidFill>
            <a:srgbClr val="F3F5FC"/>
          </a:solidFill>
          <a:ln w="9525">
            <a:solidFill>
              <a:srgbClr val="F3F5FC"/>
            </a:solidFill>
            <a:prstDash val="solid"/>
          </a:ln>
        </p:spPr>
      </p:sp>
      <p:sp>
        <p:nvSpPr>
          <p:cNvPr id="13" name="Text 11"/>
          <p:cNvSpPr/>
          <p:nvPr/>
        </p:nvSpPr>
        <p:spPr>
          <a:xfrm>
            <a:off x="6415888"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 70 %</a:t>
            </a:r>
            <a:endParaRPr lang="en-US" sz="4400" dirty="0"/>
          </a:p>
        </p:txBody>
      </p:sp>
      <p:sp>
        <p:nvSpPr>
          <p:cNvPr id="14" name="Text 12"/>
          <p:cNvSpPr/>
          <p:nvPr/>
        </p:nvSpPr>
        <p:spPr>
          <a:xfrm>
            <a:off x="6415888"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de pratique</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hors pauses</a:t>
            </a:r>
            <a:endParaRPr lang="en-US" sz="1700" dirty="0"/>
          </a:p>
        </p:txBody>
      </p:sp>
      <p:sp>
        <p:nvSpPr>
          <p:cNvPr id="15" name="Shape 13"/>
          <p:cNvSpPr/>
          <p:nvPr/>
        </p:nvSpPr>
        <p:spPr>
          <a:xfrm>
            <a:off x="9075191" y="1874520"/>
            <a:ext cx="2567864" cy="3383280"/>
          </a:xfrm>
          <a:prstGeom prst="roundRect">
            <a:avLst>
              <a:gd name="adj" fmla="val 3561"/>
            </a:avLst>
          </a:prstGeom>
          <a:solidFill>
            <a:srgbClr val="F3F5FC"/>
          </a:solidFill>
          <a:ln w="9525">
            <a:solidFill>
              <a:srgbClr val="F3F5FC"/>
            </a:solidFill>
            <a:prstDash val="solid"/>
          </a:ln>
        </p:spPr>
      </p:sp>
      <p:sp>
        <p:nvSpPr>
          <p:cNvPr id="16" name="Text 14"/>
          <p:cNvSpPr/>
          <p:nvPr/>
        </p:nvSpPr>
        <p:spPr>
          <a:xfrm>
            <a:off x="9258071"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0</a:t>
            </a:r>
            <a:endParaRPr lang="en-US" sz="4400" dirty="0"/>
          </a:p>
        </p:txBody>
      </p:sp>
      <p:sp>
        <p:nvSpPr>
          <p:cNvPr id="17" name="Text 15"/>
          <p:cNvSpPr/>
          <p:nvPr/>
        </p:nvSpPr>
        <p:spPr>
          <a:xfrm>
            <a:off x="9258071"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ligne de code</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tapée à la main</a:t>
            </a:r>
            <a:endParaRPr lang="en-US" sz="1700" dirty="0"/>
          </a:p>
        </p:txBody>
      </p:sp>
      <p:sp>
        <p:nvSpPr>
          <p:cNvPr id="18" name="Shape 16"/>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9" name="Shape 17"/>
          <p:cNvSpPr/>
          <p:nvPr/>
        </p:nvSpPr>
        <p:spPr>
          <a:xfrm>
            <a:off x="694944" y="5733288"/>
            <a:ext cx="292608" cy="292608"/>
          </a:xfrm>
          <a:prstGeom prst="ellipse">
            <a:avLst/>
          </a:prstGeom>
          <a:solidFill>
            <a:srgbClr val="FF9A3C"/>
          </a:solidFill>
          <a:ln w="12700">
            <a:solidFill>
              <a:srgbClr val="FF9A3C"/>
            </a:solidFill>
            <a:prstDash val="solid"/>
          </a:ln>
        </p:spPr>
      </p:sp>
      <p:sp>
        <p:nvSpPr>
          <p:cNvPr id="20" name="Text 18"/>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1" name="Text 19"/>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Durées estimées, à confirmer par un essai réel.</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 CONTRAT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400" b="1" dirty="0">
                <a:solidFill>
                  <a:srgbClr val="1A1F4D"/>
                </a:solidFill>
                <a:latin typeface="Arial" pitchFamily="34" charset="0"/>
                <a:ea typeface="Arial" pitchFamily="34" charset="-122"/>
                <a:cs typeface="Arial" pitchFamily="34" charset="-120"/>
              </a:rPr>
              <a:t>Cinq séances, une mission, une soutenance</a:t>
            </a:r>
            <a:endParaRPr lang="en-US" sz="24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547494"/>
          </a:xfrm>
          <a:prstGeom prst="roundRect">
            <a:avLst>
              <a:gd name="adj" fmla="val 1206"/>
            </a:avLst>
          </a:prstGeom>
          <a:solidFill>
            <a:srgbClr val="FFFFFF"/>
          </a:solidFill>
          <a:ln w="9525">
            <a:solidFill>
              <a:srgbClr val="DCE2F0"/>
            </a:solidFill>
            <a:prstDash val="solid"/>
          </a:ln>
        </p:spPr>
      </p:sp>
      <p:pic>
        <p:nvPicPr>
          <p:cNvPr id="9" name="Image 0" descr="Cinq séances, une mission, une soutenance">    </p:cNvPr>
          <p:cNvPicPr>
            <a:picLocks noChangeAspect="1"/>
          </p:cNvPicPr>
          <p:nvPr/>
        </p:nvPicPr>
        <p:blipFill>
          <a:blip r:embed="rId1"/>
          <a:srcRect l="0" r="0" t="16667" b="20588"/>
          <a:stretch/>
        </p:blipFill>
        <p:spPr>
          <a:xfrm>
            <a:off x="548640" y="1371600"/>
            <a:ext cx="11094415" cy="4437766"/>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 CONTRAT</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Règle d'or : Codex écrit, vous décidez</a:t>
            </a:r>
            <a:endParaRPr lang="en-US" sz="3000" dirty="0"/>
          </a:p>
        </p:txBody>
      </p:sp>
      <p:sp>
        <p:nvSpPr>
          <p:cNvPr id="6" name="Shape 4"/>
          <p:cNvSpPr/>
          <p:nvPr/>
        </p:nvSpPr>
        <p:spPr>
          <a:xfrm>
            <a:off x="548640" y="1783080"/>
            <a:ext cx="5166360" cy="3520440"/>
          </a:xfrm>
          <a:prstGeom prst="roundRect">
            <a:avLst>
              <a:gd name="adj" fmla="val 2597"/>
            </a:avLst>
          </a:prstGeom>
          <a:solidFill>
            <a:srgbClr val="F3F5FC"/>
          </a:solidFill>
          <a:ln w="9525">
            <a:solidFill>
              <a:srgbClr val="F3F5FC"/>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2B3180"/>
                </a:solidFill>
                <a:latin typeface="Arial" pitchFamily="34" charset="0"/>
                <a:ea typeface="Arial" pitchFamily="34" charset="-122"/>
                <a:cs typeface="Arial" pitchFamily="34" charset="-120"/>
              </a:rPr>
              <a:t>CODEX ÉCRIT</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Python · SQL · DAX</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Tests · YAML de CI</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Explications</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VOUS FAITES</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Demandes précises et prévisions</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Contrôles, lecture du diff</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Git/GitHub, décisions</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Une valeur n'est vraie que quand vous avez relancé la commande qui la montre.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 CONTRAT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Codex propose, les humains décident</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547494"/>
          </a:xfrm>
          <a:prstGeom prst="roundRect">
            <a:avLst>
              <a:gd name="adj" fmla="val 1206"/>
            </a:avLst>
          </a:prstGeom>
          <a:solidFill>
            <a:srgbClr val="FFFFFF"/>
          </a:solidFill>
          <a:ln w="9525">
            <a:solidFill>
              <a:srgbClr val="DCE2F0"/>
            </a:solidFill>
            <a:prstDash val="solid"/>
          </a:ln>
        </p:spPr>
      </p:sp>
      <p:pic>
        <p:nvPicPr>
          <p:cNvPr id="9" name="Image 0" descr="Codex propose, les humains décident">    </p:cNvPr>
          <p:cNvPicPr>
            <a:picLocks noChangeAspect="1"/>
          </p:cNvPicPr>
          <p:nvPr/>
        </p:nvPicPr>
        <p:blipFill>
          <a:blip r:embed="rId1"/>
          <a:srcRect l="0" r="0" t="20000" b="0"/>
          <a:stretch/>
        </p:blipFill>
        <p:spPr>
          <a:xfrm>
            <a:off x="548640" y="1371600"/>
            <a:ext cx="11094415" cy="4437766"/>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LES DOCUMENTS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La route A → B → C</a:t>
            </a:r>
            <a:endParaRPr lang="en-US" sz="3000" dirty="0"/>
          </a:p>
        </p:txBody>
      </p:sp>
      <p:sp>
        <p:nvSpPr>
          <p:cNvPr id="6" name="Shape 4"/>
          <p:cNvSpPr/>
          <p:nvPr/>
        </p:nvSpPr>
        <p:spPr>
          <a:xfrm>
            <a:off x="548640" y="1965960"/>
            <a:ext cx="3393338" cy="3108960"/>
          </a:xfrm>
          <a:prstGeom prst="roundRect">
            <a:avLst>
              <a:gd name="adj" fmla="val 2941"/>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2991002"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A · Démarrer</a:t>
            </a:r>
            <a:endParaRPr lang="en-US" sz="1900" dirty="0"/>
          </a:p>
        </p:txBody>
      </p:sp>
      <p:sp>
        <p:nvSpPr>
          <p:cNvPr id="10" name="Text 8"/>
          <p:cNvSpPr/>
          <p:nvPr/>
        </p:nvSpPr>
        <p:spPr>
          <a:xfrm>
            <a:off x="749808" y="3611880"/>
            <a:ext cx="2991002"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Livret 01 : poste et comptes chez vous (séance 0 ≈ 2 h), GitHub à deux en S1.</a:t>
            </a:r>
            <a:endParaRPr lang="en-US" sz="1700" dirty="0"/>
          </a:p>
        </p:txBody>
      </p:sp>
      <p:sp>
        <p:nvSpPr>
          <p:cNvPr id="11" name="Shape 9"/>
          <p:cNvSpPr/>
          <p:nvPr/>
        </p:nvSpPr>
        <p:spPr>
          <a:xfrm>
            <a:off x="4005986" y="3520440"/>
            <a:ext cx="329184" cy="0"/>
          </a:xfrm>
          <a:prstGeom prst="line">
            <a:avLst/>
          </a:prstGeom>
          <a:noFill/>
          <a:ln w="31750">
            <a:solidFill>
              <a:srgbClr val="FF9A3C"/>
            </a:solidFill>
            <a:prstDash val="solid"/>
            <a:tailEnd type="triangle"/>
          </a:ln>
        </p:spPr>
      </p:sp>
      <p:sp>
        <p:nvSpPr>
          <p:cNvPr id="12" name="Shape 10"/>
          <p:cNvSpPr/>
          <p:nvPr/>
        </p:nvSpPr>
        <p:spPr>
          <a:xfrm>
            <a:off x="4399178" y="1965960"/>
            <a:ext cx="3393338" cy="3108960"/>
          </a:xfrm>
          <a:prstGeom prst="roundRect">
            <a:avLst>
              <a:gd name="adj" fmla="val 2941"/>
            </a:avLst>
          </a:prstGeom>
          <a:solidFill>
            <a:srgbClr val="F3F5FC"/>
          </a:solidFill>
          <a:ln w="9525">
            <a:solidFill>
              <a:srgbClr val="F3F5FC"/>
            </a:solidFill>
            <a:prstDash val="solid"/>
          </a:ln>
        </p:spPr>
      </p:sp>
      <p:sp>
        <p:nvSpPr>
          <p:cNvPr id="13" name="Shape 11"/>
          <p:cNvSpPr/>
          <p:nvPr/>
        </p:nvSpPr>
        <p:spPr>
          <a:xfrm>
            <a:off x="4600346"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4600346"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4600346" y="2770632"/>
            <a:ext cx="2991002"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B · Tronc commun</a:t>
            </a:r>
            <a:endParaRPr lang="en-US" sz="1900" dirty="0"/>
          </a:p>
        </p:txBody>
      </p:sp>
      <p:sp>
        <p:nvSpPr>
          <p:cNvPr id="16" name="Text 14"/>
          <p:cNvSpPr/>
          <p:nvPr/>
        </p:nvSpPr>
        <p:spPr>
          <a:xfrm>
            <a:off x="4600346" y="3611880"/>
            <a:ext cx="2991002"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Livret 02 : Solen Commerce 360, S1 à S4.</a:t>
            </a:r>
            <a:endParaRPr lang="en-US" sz="1700" dirty="0"/>
          </a:p>
        </p:txBody>
      </p:sp>
      <p:sp>
        <p:nvSpPr>
          <p:cNvPr id="17" name="Shape 15"/>
          <p:cNvSpPr/>
          <p:nvPr/>
        </p:nvSpPr>
        <p:spPr>
          <a:xfrm>
            <a:off x="7856525" y="3520440"/>
            <a:ext cx="329184" cy="0"/>
          </a:xfrm>
          <a:prstGeom prst="line">
            <a:avLst/>
          </a:prstGeom>
          <a:noFill/>
          <a:ln w="31750">
            <a:solidFill>
              <a:srgbClr val="FF9A3C"/>
            </a:solidFill>
            <a:prstDash val="solid"/>
            <a:tailEnd type="triangle"/>
          </a:ln>
        </p:spPr>
      </p:sp>
      <p:sp>
        <p:nvSpPr>
          <p:cNvPr id="18" name="Shape 16"/>
          <p:cNvSpPr/>
          <p:nvPr/>
        </p:nvSpPr>
        <p:spPr>
          <a:xfrm>
            <a:off x="8249717" y="1965960"/>
            <a:ext cx="3393338" cy="3108960"/>
          </a:xfrm>
          <a:prstGeom prst="roundRect">
            <a:avLst>
              <a:gd name="adj" fmla="val 2941"/>
            </a:avLst>
          </a:prstGeom>
          <a:solidFill>
            <a:srgbClr val="2B3180"/>
          </a:solidFill>
          <a:ln w="9525">
            <a:solidFill>
              <a:srgbClr val="2B3180"/>
            </a:solidFill>
            <a:prstDash val="solid"/>
          </a:ln>
        </p:spPr>
      </p:sp>
      <p:sp>
        <p:nvSpPr>
          <p:cNvPr id="19" name="Shape 17"/>
          <p:cNvSpPr/>
          <p:nvPr/>
        </p:nvSpPr>
        <p:spPr>
          <a:xfrm>
            <a:off x="8450885" y="2194560"/>
            <a:ext cx="420624" cy="420624"/>
          </a:xfrm>
          <a:prstGeom prst="ellipse">
            <a:avLst/>
          </a:prstGeom>
          <a:solidFill>
            <a:srgbClr val="FF9A3C"/>
          </a:solidFill>
          <a:ln w="12700">
            <a:solidFill>
              <a:srgbClr val="FF9A3C"/>
            </a:solidFill>
            <a:prstDash val="solid"/>
          </a:ln>
        </p:spPr>
      </p:sp>
      <p:sp>
        <p:nvSpPr>
          <p:cNvPr id="20" name="Text 18"/>
          <p:cNvSpPr/>
          <p:nvPr/>
        </p:nvSpPr>
        <p:spPr>
          <a:xfrm>
            <a:off x="8450885"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8450885" y="2770632"/>
            <a:ext cx="2991002"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C · Livrer</a:t>
            </a:r>
            <a:endParaRPr lang="en-US" sz="1900" dirty="0"/>
          </a:p>
        </p:txBody>
      </p:sp>
      <p:sp>
        <p:nvSpPr>
          <p:cNvPr id="22" name="Text 20"/>
          <p:cNvSpPr/>
          <p:nvPr/>
        </p:nvSpPr>
        <p:spPr>
          <a:xfrm>
            <a:off x="8450885" y="3611880"/>
            <a:ext cx="2991002" cy="13258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Livrets 04 et 05 : votre mission (fin S4, S5), soutenance.</a:t>
            </a:r>
            <a:endParaRPr lang="en-US" sz="1700" dirty="0"/>
          </a:p>
        </p:txBody>
      </p:sp>
      <p:sp>
        <p:nvSpPr>
          <p:cNvPr id="23" name="Shape 21"/>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4" name="Shape 22"/>
          <p:cNvSpPr/>
          <p:nvPr/>
        </p:nvSpPr>
        <p:spPr>
          <a:xfrm>
            <a:off x="694944" y="5733288"/>
            <a:ext cx="292608" cy="292608"/>
          </a:xfrm>
          <a:prstGeom prst="ellipse">
            <a:avLst/>
          </a:prstGeom>
          <a:solidFill>
            <a:srgbClr val="FF9A3C"/>
          </a:solidFill>
          <a:ln w="12700">
            <a:solidFill>
              <a:srgbClr val="FF9A3C"/>
            </a:solidFill>
            <a:prstDash val="solid"/>
          </a:ln>
        </p:spPr>
      </p:sp>
      <p:sp>
        <p:nvSpPr>
          <p:cNvPr id="25" name="Text 23"/>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6" name="Text 24"/>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Toujours ouverts : 03 Diriger Codex et Git · 06 Aide-mémoire · prompts/.</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LES OUTILS</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Votre poste : Windows + Ubuntu (WSL2)</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3008144"/>
          </a:xfrm>
          <a:prstGeom prst="roundRect">
            <a:avLst>
              <a:gd name="adj" fmla="val 1824"/>
            </a:avLst>
          </a:prstGeom>
          <a:solidFill>
            <a:srgbClr val="FFFFFF"/>
          </a:solidFill>
          <a:ln w="9525">
            <a:solidFill>
              <a:srgbClr val="DCE2F0"/>
            </a:solidFill>
            <a:prstDash val="solid"/>
          </a:ln>
        </p:spPr>
      </p:sp>
      <p:pic>
        <p:nvPicPr>
          <p:cNvPr id="9" name="Image 0" descr="Votre poste : Windows + Ubuntu (WSL2)">    </p:cNvPr>
          <p:cNvPicPr>
            <a:picLocks noChangeAspect="1"/>
          </p:cNvPicPr>
          <p:nvPr/>
        </p:nvPicPr>
        <p:blipFill>
          <a:blip r:embed="rId1"/>
          <a:srcRect l="0" r="0" t="14780" b="45786"/>
          <a:stretch/>
        </p:blipFill>
        <p:spPr>
          <a:xfrm>
            <a:off x="548640" y="1371600"/>
            <a:ext cx="11094415" cy="2898416"/>
          </a:xfrm>
          <a:prstGeom prst="rect">
            <a:avLst/>
          </a:prstGeom>
        </p:spPr>
      </p:pic>
      <p:sp>
        <p:nvSpPr>
          <p:cNvPr id="10" name="Shape 7"/>
          <p:cNvSpPr/>
          <p:nvPr/>
        </p:nvSpPr>
        <p:spPr>
          <a:xfrm>
            <a:off x="548640" y="4516904"/>
            <a:ext cx="365760" cy="365760"/>
          </a:xfrm>
          <a:prstGeom prst="ellipse">
            <a:avLst/>
          </a:prstGeom>
          <a:solidFill>
            <a:srgbClr val="FF9A3C"/>
          </a:solidFill>
          <a:ln w="12700">
            <a:solidFill>
              <a:srgbClr val="FF9A3C"/>
            </a:solidFill>
            <a:prstDash val="solid"/>
          </a:ln>
        </p:spPr>
      </p:sp>
      <p:sp>
        <p:nvSpPr>
          <p:cNvPr id="11" name="Text 8"/>
          <p:cNvSpPr/>
          <p:nvPr/>
        </p:nvSpPr>
        <p:spPr>
          <a:xfrm>
            <a:off x="548640" y="451690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449861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Windows : app Codex et Power BI Desktop.</a:t>
            </a:r>
            <a:endParaRPr lang="en-US" sz="1700" dirty="0"/>
          </a:p>
        </p:txBody>
      </p:sp>
      <p:sp>
        <p:nvSpPr>
          <p:cNvPr id="13" name="Shape 10"/>
          <p:cNvSpPr/>
          <p:nvPr/>
        </p:nvSpPr>
        <p:spPr>
          <a:xfrm>
            <a:off x="4353458" y="4516904"/>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451690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449861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Ubuntu (WSL2) : projet, Python, Git ; Codex y agit.</a:t>
            </a:r>
            <a:endParaRPr lang="en-US" sz="1700" dirty="0"/>
          </a:p>
        </p:txBody>
      </p:sp>
      <p:sp>
        <p:nvSpPr>
          <p:cNvPr id="16" name="Shape 13"/>
          <p:cNvSpPr/>
          <p:nvPr/>
        </p:nvSpPr>
        <p:spPr>
          <a:xfrm>
            <a:off x="8158277" y="4516904"/>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451690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449861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GitHub relie les deux postes du binôme.</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BIENVENUE CHEZ SOLEN DIGITAL  ·  LES OUTILS</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Variante : Ubuntu natif</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3475034"/>
          </a:xfrm>
          <a:prstGeom prst="roundRect">
            <a:avLst>
              <a:gd name="adj" fmla="val 1579"/>
            </a:avLst>
          </a:prstGeom>
          <a:solidFill>
            <a:srgbClr val="FFFFFF"/>
          </a:solidFill>
          <a:ln w="9525">
            <a:solidFill>
              <a:srgbClr val="DCE2F0"/>
            </a:solidFill>
            <a:prstDash val="solid"/>
          </a:ln>
        </p:spPr>
      </p:sp>
      <p:pic>
        <p:nvPicPr>
          <p:cNvPr id="9" name="Image 0" descr="Variante : Ubuntu natif">    </p:cNvPr>
          <p:cNvPicPr>
            <a:picLocks noChangeAspect="1"/>
          </p:cNvPicPr>
          <p:nvPr/>
        </p:nvPicPr>
        <p:blipFill>
          <a:blip r:embed="rId1"/>
          <a:srcRect l="0" r="0" t="54214" b="0"/>
          <a:stretch/>
        </p:blipFill>
        <p:spPr>
          <a:xfrm>
            <a:off x="548640" y="1371600"/>
            <a:ext cx="11094415" cy="3365306"/>
          </a:xfrm>
          <a:prstGeom prst="rect">
            <a:avLst/>
          </a:prstGeom>
        </p:spPr>
      </p:pic>
      <p:sp>
        <p:nvSpPr>
          <p:cNvPr id="10" name="Shape 7"/>
          <p:cNvSpPr/>
          <p:nvPr/>
        </p:nvSpPr>
        <p:spPr>
          <a:xfrm>
            <a:off x="548640" y="4983794"/>
            <a:ext cx="365760" cy="365760"/>
          </a:xfrm>
          <a:prstGeom prst="ellipse">
            <a:avLst/>
          </a:prstGeom>
          <a:solidFill>
            <a:srgbClr val="FF9A3C"/>
          </a:solidFill>
          <a:ln w="12700">
            <a:solidFill>
              <a:srgbClr val="FF9A3C"/>
            </a:solidFill>
            <a:prstDash val="solid"/>
          </a:ln>
        </p:spPr>
      </p:sp>
      <p:sp>
        <p:nvSpPr>
          <p:cNvPr id="11" name="Text 8"/>
          <p:cNvSpPr/>
          <p:nvPr/>
        </p:nvSpPr>
        <p:spPr>
          <a:xfrm>
            <a:off x="548640" y="498379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496550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Ubuntu 24.04 / 26.04 : app Codex Linux (preview).</a:t>
            </a:r>
            <a:endParaRPr lang="en-US" sz="1700" dirty="0"/>
          </a:p>
        </p:txBody>
      </p:sp>
      <p:sp>
        <p:nvSpPr>
          <p:cNvPr id="13" name="Shape 10"/>
          <p:cNvSpPr/>
          <p:nvPr/>
        </p:nvSpPr>
        <p:spPr>
          <a:xfrm>
            <a:off x="4353458" y="4983794"/>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498379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496550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Projet, Python et Git dans ~/solen-bi.</a:t>
            </a:r>
            <a:endParaRPr lang="en-US" sz="1700" dirty="0"/>
          </a:p>
        </p:txBody>
      </p:sp>
      <p:sp>
        <p:nvSpPr>
          <p:cNvPr id="16" name="Shape 13"/>
          <p:cNvSpPr/>
          <p:nvPr/>
        </p:nvSpPr>
        <p:spPr>
          <a:xfrm>
            <a:off x="8158277" y="4983794"/>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498379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496550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Power BI Desktop : sur un poste Windows, après pull.</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B</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B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Ce que vous saurez faire</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Dix thèmes, chacun prouvé par une action réelle</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13 / 87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CE QUE VOUS SAUREZ FAIRE  ·  COMPÉTENCES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L'objectif final</a:t>
            </a:r>
            <a:endParaRPr lang="en-US" sz="3000" dirty="0"/>
          </a:p>
        </p:txBody>
      </p:sp>
      <p:sp>
        <p:nvSpPr>
          <p:cNvPr id="6" name="Shape 4"/>
          <p:cNvSpPr/>
          <p:nvPr/>
        </p:nvSpPr>
        <p:spPr>
          <a:xfrm>
            <a:off x="548640" y="1783080"/>
            <a:ext cx="11094415" cy="2514600"/>
          </a:xfrm>
          <a:prstGeom prst="roundRect">
            <a:avLst>
              <a:gd name="adj" fmla="val 3636"/>
            </a:avLst>
          </a:prstGeom>
          <a:solidFill>
            <a:srgbClr val="F3F5FC"/>
          </a:solidFill>
          <a:ln w="9525">
            <a:solidFill>
              <a:srgbClr val="F3F5FC"/>
            </a:solidFill>
            <a:prstDash val="solid"/>
          </a:ln>
        </p:spPr>
      </p:sp>
      <p:sp>
        <p:nvSpPr>
          <p:cNvPr id="7" name="Text 5"/>
          <p:cNvSpPr/>
          <p:nvPr/>
        </p:nvSpPr>
        <p:spPr>
          <a:xfrm>
            <a:off x="1005840" y="1920240"/>
            <a:ext cx="10180015" cy="1600200"/>
          </a:xfrm>
          <a:prstGeom prst="rect">
            <a:avLst/>
          </a:prstGeom>
          <a:noFill/>
          <a:ln/>
        </p:spPr>
        <p:txBody>
          <a:bodyPr wrap="square" lIns="0" tIns="0" rIns="0" bIns="0" rtlCol="0" anchor="ctr"/>
          <a:lstStyle/>
          <a:p>
            <a:pPr algn="ctr" indent="0" marL="0">
              <a:buNone/>
            </a:pPr>
            <a:r>
              <a:rPr lang="en-US" sz="3200" b="1" dirty="0">
                <a:solidFill>
                  <a:srgbClr val="2B3180"/>
                </a:solidFill>
                <a:latin typeface="Arial" pitchFamily="34" charset="0"/>
                <a:ea typeface="Arial" pitchFamily="34" charset="-122"/>
                <a:cs typeface="Arial" pitchFamily="34" charset="-120"/>
              </a:rPr>
              <a:t>Transformer des données brutes en indicateurs utiles à la décision,</a:t>
            </a:r>
            <a:endParaRPr lang="en-US" sz="3200" dirty="0"/>
          </a:p>
        </p:txBody>
      </p:sp>
      <p:sp>
        <p:nvSpPr>
          <p:cNvPr id="8" name="Text 6"/>
          <p:cNvSpPr/>
          <p:nvPr/>
        </p:nvSpPr>
        <p:spPr>
          <a:xfrm>
            <a:off x="1005840" y="3520440"/>
            <a:ext cx="10180015" cy="640080"/>
          </a:xfrm>
          <a:prstGeom prst="rect">
            <a:avLst/>
          </a:prstGeom>
          <a:noFill/>
          <a:ln/>
        </p:spPr>
        <p:txBody>
          <a:bodyPr wrap="square" lIns="0" tIns="0" rIns="0" bIns="0" rtlCol="0" anchor="ctr"/>
          <a:lstStyle/>
          <a:p>
            <a:pPr algn="ctr" indent="0" marL="0">
              <a:buNone/>
            </a:pPr>
            <a:r>
              <a:rPr lang="en-US" sz="2000" dirty="0">
                <a:solidFill>
                  <a:srgbClr val="1A1F4D"/>
                </a:solidFill>
                <a:latin typeface="Arial" pitchFamily="34" charset="0"/>
                <a:ea typeface="Arial" pitchFamily="34" charset="-122"/>
                <a:cs typeface="Arial" pitchFamily="34" charset="-120"/>
              </a:rPr>
              <a:t>en sachant piloter l'IA et contrôler sa production.</a:t>
            </a:r>
            <a:endParaRPr lang="en-US" sz="2000" dirty="0"/>
          </a:p>
        </p:txBody>
      </p:sp>
      <p:sp>
        <p:nvSpPr>
          <p:cNvPr id="9" name="Shape 7"/>
          <p:cNvSpPr/>
          <p:nvPr/>
        </p:nvSpPr>
        <p:spPr>
          <a:xfrm>
            <a:off x="548640" y="4709160"/>
            <a:ext cx="2602154" cy="868680"/>
          </a:xfrm>
          <a:prstGeom prst="roundRect">
            <a:avLst>
              <a:gd name="adj" fmla="val 10526"/>
            </a:avLst>
          </a:prstGeom>
          <a:solidFill>
            <a:srgbClr val="2B3180"/>
          </a:solidFill>
          <a:ln w="9525">
            <a:solidFill>
              <a:srgbClr val="2B3180"/>
            </a:solidFill>
            <a:prstDash val="solid"/>
          </a:ln>
        </p:spPr>
      </p:sp>
      <p:sp>
        <p:nvSpPr>
          <p:cNvPr id="10" name="Text 8"/>
          <p:cNvSpPr/>
          <p:nvPr/>
        </p:nvSpPr>
        <p:spPr>
          <a:xfrm>
            <a:off x="685800" y="4709160"/>
            <a:ext cx="2327834"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CSV · Excel · JSON · SQLite</a:t>
            </a:r>
            <a:endParaRPr lang="en-US" sz="1700" dirty="0"/>
          </a:p>
        </p:txBody>
      </p:sp>
      <p:sp>
        <p:nvSpPr>
          <p:cNvPr id="11" name="Shape 9"/>
          <p:cNvSpPr/>
          <p:nvPr/>
        </p:nvSpPr>
        <p:spPr>
          <a:xfrm>
            <a:off x="3379394" y="4709160"/>
            <a:ext cx="2602154" cy="868680"/>
          </a:xfrm>
          <a:prstGeom prst="roundRect">
            <a:avLst>
              <a:gd name="adj" fmla="val 10526"/>
            </a:avLst>
          </a:prstGeom>
          <a:solidFill>
            <a:srgbClr val="2B3180"/>
          </a:solidFill>
          <a:ln w="9525">
            <a:solidFill>
              <a:srgbClr val="2B3180"/>
            </a:solidFill>
            <a:prstDash val="solid"/>
          </a:ln>
        </p:spPr>
      </p:sp>
      <p:sp>
        <p:nvSpPr>
          <p:cNvPr id="12" name="Text 10"/>
          <p:cNvSpPr/>
          <p:nvPr/>
        </p:nvSpPr>
        <p:spPr>
          <a:xfrm>
            <a:off x="3516554" y="4709160"/>
            <a:ext cx="2327834"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Entrepôt en étoile</a:t>
            </a:r>
            <a:endParaRPr lang="en-US" sz="1700" dirty="0"/>
          </a:p>
        </p:txBody>
      </p:sp>
      <p:sp>
        <p:nvSpPr>
          <p:cNvPr id="13" name="Shape 11"/>
          <p:cNvSpPr/>
          <p:nvPr/>
        </p:nvSpPr>
        <p:spPr>
          <a:xfrm>
            <a:off x="6210148" y="4709160"/>
            <a:ext cx="2602154" cy="868680"/>
          </a:xfrm>
          <a:prstGeom prst="roundRect">
            <a:avLst>
              <a:gd name="adj" fmla="val 10526"/>
            </a:avLst>
          </a:prstGeom>
          <a:solidFill>
            <a:srgbClr val="2B3180"/>
          </a:solidFill>
          <a:ln w="9525">
            <a:solidFill>
              <a:srgbClr val="2B3180"/>
            </a:solidFill>
            <a:prstDash val="solid"/>
          </a:ln>
        </p:spPr>
      </p:sp>
      <p:sp>
        <p:nvSpPr>
          <p:cNvPr id="14" name="Text 12"/>
          <p:cNvSpPr/>
          <p:nvPr/>
        </p:nvSpPr>
        <p:spPr>
          <a:xfrm>
            <a:off x="6347308" y="4709160"/>
            <a:ext cx="2327834"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App locale + Power BI</a:t>
            </a:r>
            <a:endParaRPr lang="en-US" sz="1700" dirty="0"/>
          </a:p>
        </p:txBody>
      </p:sp>
      <p:sp>
        <p:nvSpPr>
          <p:cNvPr id="15" name="Shape 13"/>
          <p:cNvSpPr/>
          <p:nvPr/>
        </p:nvSpPr>
        <p:spPr>
          <a:xfrm>
            <a:off x="9040901" y="4709160"/>
            <a:ext cx="2602154" cy="868680"/>
          </a:xfrm>
          <a:prstGeom prst="roundRect">
            <a:avLst>
              <a:gd name="adj" fmla="val 10526"/>
            </a:avLst>
          </a:prstGeom>
          <a:solidFill>
            <a:srgbClr val="2B3180"/>
          </a:solidFill>
          <a:ln w="9525">
            <a:solidFill>
              <a:srgbClr val="2B3180"/>
            </a:solidFill>
            <a:prstDash val="solid"/>
          </a:ln>
        </p:spPr>
      </p:sp>
      <p:sp>
        <p:nvSpPr>
          <p:cNvPr id="16" name="Text 14"/>
          <p:cNvSpPr/>
          <p:nvPr/>
        </p:nvSpPr>
        <p:spPr>
          <a:xfrm>
            <a:off x="9178061" y="4709160"/>
            <a:ext cx="2327834"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Codex + Git/GitHub</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CE QUE VOUS SAUREZ FAIRE  ·  COMPÉTENCES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Dix thèmes, cinq séances</a:t>
            </a:r>
            <a:endParaRPr lang="en-US" sz="3000" dirty="0"/>
          </a:p>
        </p:txBody>
      </p:sp>
      <p:sp>
        <p:nvSpPr>
          <p:cNvPr id="6" name="Shape 4"/>
          <p:cNvSpPr/>
          <p:nvPr/>
        </p:nvSpPr>
        <p:spPr>
          <a:xfrm>
            <a:off x="548640" y="1737360"/>
            <a:ext cx="2057949" cy="2139696"/>
          </a:xfrm>
          <a:prstGeom prst="roundRect">
            <a:avLst>
              <a:gd name="adj" fmla="val 4443"/>
            </a:avLst>
          </a:prstGeom>
          <a:solidFill>
            <a:srgbClr val="F3F5FC"/>
          </a:solidFill>
          <a:ln w="9525">
            <a:solidFill>
              <a:srgbClr val="F3F5FC"/>
            </a:solidFill>
            <a:prstDash val="solid"/>
          </a:ln>
        </p:spPr>
      </p:sp>
      <p:sp>
        <p:nvSpPr>
          <p:cNvPr id="7" name="Shape 5"/>
          <p:cNvSpPr/>
          <p:nvPr/>
        </p:nvSpPr>
        <p:spPr>
          <a:xfrm>
            <a:off x="713232" y="1901952"/>
            <a:ext cx="457200" cy="457200"/>
          </a:xfrm>
          <a:prstGeom prst="ellipse">
            <a:avLst/>
          </a:prstGeom>
          <a:solidFill>
            <a:srgbClr val="2B3180"/>
          </a:solidFill>
          <a:ln w="12700">
            <a:solidFill>
              <a:srgbClr val="2B3180"/>
            </a:solidFill>
            <a:prstDash val="solid"/>
          </a:ln>
        </p:spPr>
      </p:sp>
      <p:sp>
        <p:nvSpPr>
          <p:cNvPr id="8" name="Text 6"/>
          <p:cNvSpPr/>
          <p:nvPr/>
        </p:nvSpPr>
        <p:spPr>
          <a:xfrm>
            <a:off x="713232"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298448" y="1883664"/>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Python appliqué</a:t>
            </a:r>
            <a:endParaRPr lang="en-US" sz="1500" dirty="0"/>
          </a:p>
        </p:txBody>
      </p:sp>
      <p:sp>
        <p:nvSpPr>
          <p:cNvPr id="10" name="Text 8"/>
          <p:cNvSpPr/>
          <p:nvPr/>
        </p:nvSpPr>
        <p:spPr>
          <a:xfrm>
            <a:off x="731520" y="2560320"/>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fonctions, modules, exceptions, classe</a:t>
            </a:r>
            <a:endParaRPr lang="en-US" sz="1600" dirty="0"/>
          </a:p>
        </p:txBody>
      </p:sp>
      <p:sp>
        <p:nvSpPr>
          <p:cNvPr id="11" name="Shape 9"/>
          <p:cNvSpPr/>
          <p:nvPr/>
        </p:nvSpPr>
        <p:spPr>
          <a:xfrm>
            <a:off x="731520" y="3401568"/>
            <a:ext cx="1211580" cy="365760"/>
          </a:xfrm>
          <a:prstGeom prst="roundRect">
            <a:avLst>
              <a:gd name="adj" fmla="val 50000"/>
            </a:avLst>
          </a:prstGeom>
          <a:solidFill>
            <a:srgbClr val="FF9A3C"/>
          </a:solidFill>
          <a:ln w="12700">
            <a:solidFill>
              <a:srgbClr val="FF9A3C"/>
            </a:solidFill>
            <a:prstDash val="solid"/>
          </a:ln>
        </p:spPr>
      </p:sp>
      <p:sp>
        <p:nvSpPr>
          <p:cNvPr id="12" name="Text 10"/>
          <p:cNvSpPr/>
          <p:nvPr/>
        </p:nvSpPr>
        <p:spPr>
          <a:xfrm>
            <a:off x="731520" y="3401568"/>
            <a:ext cx="12115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S2 · S3</a:t>
            </a:r>
            <a:endParaRPr lang="en-US" sz="1400" dirty="0"/>
          </a:p>
        </p:txBody>
      </p:sp>
      <p:sp>
        <p:nvSpPr>
          <p:cNvPr id="13" name="Shape 11"/>
          <p:cNvSpPr/>
          <p:nvPr/>
        </p:nvSpPr>
        <p:spPr>
          <a:xfrm>
            <a:off x="2807757" y="1737360"/>
            <a:ext cx="2057949" cy="2139696"/>
          </a:xfrm>
          <a:prstGeom prst="roundRect">
            <a:avLst>
              <a:gd name="adj" fmla="val 4443"/>
            </a:avLst>
          </a:prstGeom>
          <a:solidFill>
            <a:srgbClr val="F3F5FC"/>
          </a:solidFill>
          <a:ln w="9525">
            <a:solidFill>
              <a:srgbClr val="F3F5FC"/>
            </a:solidFill>
            <a:prstDash val="solid"/>
          </a:ln>
        </p:spPr>
      </p:sp>
      <p:sp>
        <p:nvSpPr>
          <p:cNvPr id="14" name="Shape 12"/>
          <p:cNvSpPr/>
          <p:nvPr/>
        </p:nvSpPr>
        <p:spPr>
          <a:xfrm>
            <a:off x="2972349" y="1901952"/>
            <a:ext cx="457200" cy="457200"/>
          </a:xfrm>
          <a:prstGeom prst="ellipse">
            <a:avLst/>
          </a:prstGeom>
          <a:solidFill>
            <a:srgbClr val="2B3180"/>
          </a:solidFill>
          <a:ln w="12700">
            <a:solidFill>
              <a:srgbClr val="2B3180"/>
            </a:solidFill>
            <a:prstDash val="solid"/>
          </a:ln>
        </p:spPr>
      </p:sp>
      <p:sp>
        <p:nvSpPr>
          <p:cNvPr id="15" name="Text 13"/>
          <p:cNvSpPr/>
          <p:nvPr/>
        </p:nvSpPr>
        <p:spPr>
          <a:xfrm>
            <a:off x="2972349"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4"/>
          <p:cNvSpPr/>
          <p:nvPr/>
        </p:nvSpPr>
        <p:spPr>
          <a:xfrm>
            <a:off x="3557565" y="1883664"/>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Données</a:t>
            </a:r>
            <a:endParaRPr lang="en-US" sz="1500" dirty="0"/>
          </a:p>
        </p:txBody>
      </p:sp>
      <p:sp>
        <p:nvSpPr>
          <p:cNvPr id="17" name="Text 15"/>
          <p:cNvSpPr/>
          <p:nvPr/>
        </p:nvSpPr>
        <p:spPr>
          <a:xfrm>
            <a:off x="2990637" y="2560320"/>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pandas : CSV, Excel, JSON</a:t>
            </a:r>
            <a:endParaRPr lang="en-US" sz="1600" dirty="0"/>
          </a:p>
        </p:txBody>
      </p:sp>
      <p:sp>
        <p:nvSpPr>
          <p:cNvPr id="18" name="Shape 16"/>
          <p:cNvSpPr/>
          <p:nvPr/>
        </p:nvSpPr>
        <p:spPr>
          <a:xfrm>
            <a:off x="2990637" y="3401568"/>
            <a:ext cx="1097280" cy="365760"/>
          </a:xfrm>
          <a:prstGeom prst="roundRect">
            <a:avLst>
              <a:gd name="adj" fmla="val 50000"/>
            </a:avLst>
          </a:prstGeom>
          <a:solidFill>
            <a:srgbClr val="FF9A3C"/>
          </a:solidFill>
          <a:ln w="12700">
            <a:solidFill>
              <a:srgbClr val="FF9A3C"/>
            </a:solidFill>
            <a:prstDash val="solid"/>
          </a:ln>
        </p:spPr>
      </p:sp>
      <p:sp>
        <p:nvSpPr>
          <p:cNvPr id="19" name="Text 17"/>
          <p:cNvSpPr/>
          <p:nvPr/>
        </p:nvSpPr>
        <p:spPr>
          <a:xfrm>
            <a:off x="2990637" y="3401568"/>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S2</a:t>
            </a:r>
            <a:endParaRPr lang="en-US" sz="1400" dirty="0"/>
          </a:p>
        </p:txBody>
      </p:sp>
      <p:sp>
        <p:nvSpPr>
          <p:cNvPr id="20" name="Shape 18"/>
          <p:cNvSpPr/>
          <p:nvPr/>
        </p:nvSpPr>
        <p:spPr>
          <a:xfrm>
            <a:off x="5066873" y="1737360"/>
            <a:ext cx="2057949" cy="2139696"/>
          </a:xfrm>
          <a:prstGeom prst="roundRect">
            <a:avLst>
              <a:gd name="adj" fmla="val 4443"/>
            </a:avLst>
          </a:prstGeom>
          <a:solidFill>
            <a:srgbClr val="F3F5FC"/>
          </a:solidFill>
          <a:ln w="9525">
            <a:solidFill>
              <a:srgbClr val="F3F5FC"/>
            </a:solidFill>
            <a:prstDash val="solid"/>
          </a:ln>
        </p:spPr>
      </p:sp>
      <p:sp>
        <p:nvSpPr>
          <p:cNvPr id="21" name="Shape 19"/>
          <p:cNvSpPr/>
          <p:nvPr/>
        </p:nvSpPr>
        <p:spPr>
          <a:xfrm>
            <a:off x="5231465" y="1901952"/>
            <a:ext cx="457200" cy="457200"/>
          </a:xfrm>
          <a:prstGeom prst="ellipse">
            <a:avLst/>
          </a:prstGeom>
          <a:solidFill>
            <a:srgbClr val="2B3180"/>
          </a:solidFill>
          <a:ln w="12700">
            <a:solidFill>
              <a:srgbClr val="2B3180"/>
            </a:solidFill>
            <a:prstDash val="solid"/>
          </a:ln>
        </p:spPr>
      </p:sp>
      <p:sp>
        <p:nvSpPr>
          <p:cNvPr id="22" name="Text 20"/>
          <p:cNvSpPr/>
          <p:nvPr/>
        </p:nvSpPr>
        <p:spPr>
          <a:xfrm>
            <a:off x="5231465"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3" name="Text 21"/>
          <p:cNvSpPr/>
          <p:nvPr/>
        </p:nvSpPr>
        <p:spPr>
          <a:xfrm>
            <a:off x="5816681" y="1883664"/>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Qualité</a:t>
            </a:r>
            <a:endParaRPr lang="en-US" sz="1500" dirty="0"/>
          </a:p>
        </p:txBody>
      </p:sp>
      <p:sp>
        <p:nvSpPr>
          <p:cNvPr id="24" name="Text 22"/>
          <p:cNvSpPr/>
          <p:nvPr/>
        </p:nvSpPr>
        <p:spPr>
          <a:xfrm>
            <a:off x="5249753" y="2560320"/>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doublons, formats, rejets motivés</a:t>
            </a:r>
            <a:endParaRPr lang="en-US" sz="1600" dirty="0"/>
          </a:p>
        </p:txBody>
      </p:sp>
      <p:sp>
        <p:nvSpPr>
          <p:cNvPr id="25" name="Shape 23"/>
          <p:cNvSpPr/>
          <p:nvPr/>
        </p:nvSpPr>
        <p:spPr>
          <a:xfrm>
            <a:off x="5249753" y="3401568"/>
            <a:ext cx="1097280" cy="365760"/>
          </a:xfrm>
          <a:prstGeom prst="roundRect">
            <a:avLst>
              <a:gd name="adj" fmla="val 50000"/>
            </a:avLst>
          </a:prstGeom>
          <a:solidFill>
            <a:srgbClr val="FF9A3C"/>
          </a:solidFill>
          <a:ln w="12700">
            <a:solidFill>
              <a:srgbClr val="FF9A3C"/>
            </a:solidFill>
            <a:prstDash val="solid"/>
          </a:ln>
        </p:spPr>
      </p:sp>
      <p:sp>
        <p:nvSpPr>
          <p:cNvPr id="26" name="Text 24"/>
          <p:cNvSpPr/>
          <p:nvPr/>
        </p:nvSpPr>
        <p:spPr>
          <a:xfrm>
            <a:off x="5249753" y="3401568"/>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S2</a:t>
            </a:r>
            <a:endParaRPr lang="en-US" sz="1400" dirty="0"/>
          </a:p>
        </p:txBody>
      </p:sp>
      <p:sp>
        <p:nvSpPr>
          <p:cNvPr id="27" name="Shape 25"/>
          <p:cNvSpPr/>
          <p:nvPr/>
        </p:nvSpPr>
        <p:spPr>
          <a:xfrm>
            <a:off x="7325990" y="1737360"/>
            <a:ext cx="2057949" cy="2139696"/>
          </a:xfrm>
          <a:prstGeom prst="roundRect">
            <a:avLst>
              <a:gd name="adj" fmla="val 4443"/>
            </a:avLst>
          </a:prstGeom>
          <a:solidFill>
            <a:srgbClr val="F3F5FC"/>
          </a:solidFill>
          <a:ln w="9525">
            <a:solidFill>
              <a:srgbClr val="F3F5FC"/>
            </a:solidFill>
            <a:prstDash val="solid"/>
          </a:ln>
        </p:spPr>
      </p:sp>
      <p:sp>
        <p:nvSpPr>
          <p:cNvPr id="28" name="Shape 26"/>
          <p:cNvSpPr/>
          <p:nvPr/>
        </p:nvSpPr>
        <p:spPr>
          <a:xfrm>
            <a:off x="7490582" y="1901952"/>
            <a:ext cx="457200" cy="457200"/>
          </a:xfrm>
          <a:prstGeom prst="ellipse">
            <a:avLst/>
          </a:prstGeom>
          <a:solidFill>
            <a:srgbClr val="2B3180"/>
          </a:solidFill>
          <a:ln w="12700">
            <a:solidFill>
              <a:srgbClr val="2B3180"/>
            </a:solidFill>
            <a:prstDash val="solid"/>
          </a:ln>
        </p:spPr>
      </p:sp>
      <p:sp>
        <p:nvSpPr>
          <p:cNvPr id="29" name="Text 27"/>
          <p:cNvSpPr/>
          <p:nvPr/>
        </p:nvSpPr>
        <p:spPr>
          <a:xfrm>
            <a:off x="7490582"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30" name="Text 28"/>
          <p:cNvSpPr/>
          <p:nvPr/>
        </p:nvSpPr>
        <p:spPr>
          <a:xfrm>
            <a:off x="8075798" y="1883664"/>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SQL + Python</a:t>
            </a:r>
            <a:endParaRPr lang="en-US" sz="1500" dirty="0"/>
          </a:p>
        </p:txBody>
      </p:sp>
      <p:sp>
        <p:nvSpPr>
          <p:cNvPr id="31" name="Text 29"/>
          <p:cNvSpPr/>
          <p:nvPr/>
        </p:nvSpPr>
        <p:spPr>
          <a:xfrm>
            <a:off x="7508870" y="2560320"/>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base opérationnelle, requêtes ?</a:t>
            </a:r>
            <a:endParaRPr lang="en-US" sz="1600" dirty="0"/>
          </a:p>
        </p:txBody>
      </p:sp>
      <p:sp>
        <p:nvSpPr>
          <p:cNvPr id="32" name="Shape 30"/>
          <p:cNvSpPr/>
          <p:nvPr/>
        </p:nvSpPr>
        <p:spPr>
          <a:xfrm>
            <a:off x="7508870" y="3401568"/>
            <a:ext cx="1097280" cy="365760"/>
          </a:xfrm>
          <a:prstGeom prst="roundRect">
            <a:avLst>
              <a:gd name="adj" fmla="val 50000"/>
            </a:avLst>
          </a:prstGeom>
          <a:solidFill>
            <a:srgbClr val="FF9A3C"/>
          </a:solidFill>
          <a:ln w="12700">
            <a:solidFill>
              <a:srgbClr val="FF9A3C"/>
            </a:solidFill>
            <a:prstDash val="solid"/>
          </a:ln>
        </p:spPr>
      </p:sp>
      <p:sp>
        <p:nvSpPr>
          <p:cNvPr id="33" name="Text 31"/>
          <p:cNvSpPr/>
          <p:nvPr/>
        </p:nvSpPr>
        <p:spPr>
          <a:xfrm>
            <a:off x="7508870" y="3401568"/>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S3</a:t>
            </a:r>
            <a:endParaRPr lang="en-US" sz="1400" dirty="0"/>
          </a:p>
        </p:txBody>
      </p:sp>
      <p:sp>
        <p:nvSpPr>
          <p:cNvPr id="34" name="Shape 32"/>
          <p:cNvSpPr/>
          <p:nvPr/>
        </p:nvSpPr>
        <p:spPr>
          <a:xfrm>
            <a:off x="9585107" y="1737360"/>
            <a:ext cx="2057949" cy="2139696"/>
          </a:xfrm>
          <a:prstGeom prst="roundRect">
            <a:avLst>
              <a:gd name="adj" fmla="val 4443"/>
            </a:avLst>
          </a:prstGeom>
          <a:solidFill>
            <a:srgbClr val="F3F5FC"/>
          </a:solidFill>
          <a:ln w="9525">
            <a:solidFill>
              <a:srgbClr val="F3F5FC"/>
            </a:solidFill>
            <a:prstDash val="solid"/>
          </a:ln>
        </p:spPr>
      </p:sp>
      <p:sp>
        <p:nvSpPr>
          <p:cNvPr id="35" name="Shape 33"/>
          <p:cNvSpPr/>
          <p:nvPr/>
        </p:nvSpPr>
        <p:spPr>
          <a:xfrm>
            <a:off x="9749699" y="1901952"/>
            <a:ext cx="457200" cy="457200"/>
          </a:xfrm>
          <a:prstGeom prst="ellipse">
            <a:avLst/>
          </a:prstGeom>
          <a:solidFill>
            <a:srgbClr val="2B3180"/>
          </a:solidFill>
          <a:ln w="12700">
            <a:solidFill>
              <a:srgbClr val="2B3180"/>
            </a:solidFill>
            <a:prstDash val="solid"/>
          </a:ln>
        </p:spPr>
      </p:sp>
      <p:sp>
        <p:nvSpPr>
          <p:cNvPr id="36" name="Text 34"/>
          <p:cNvSpPr/>
          <p:nvPr/>
        </p:nvSpPr>
        <p:spPr>
          <a:xfrm>
            <a:off x="9749699"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7" name="Text 35"/>
          <p:cNvSpPr/>
          <p:nvPr/>
        </p:nvSpPr>
        <p:spPr>
          <a:xfrm>
            <a:off x="10334915" y="1883664"/>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Modéliser</a:t>
            </a:r>
            <a:endParaRPr lang="en-US" sz="1500" dirty="0"/>
          </a:p>
        </p:txBody>
      </p:sp>
      <p:sp>
        <p:nvSpPr>
          <p:cNvPr id="38" name="Text 36"/>
          <p:cNvSpPr/>
          <p:nvPr/>
        </p:nvSpPr>
        <p:spPr>
          <a:xfrm>
            <a:off x="9767987" y="2560320"/>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grain, étoile, clés</a:t>
            </a:r>
            <a:endParaRPr lang="en-US" sz="1600" dirty="0"/>
          </a:p>
        </p:txBody>
      </p:sp>
      <p:sp>
        <p:nvSpPr>
          <p:cNvPr id="39" name="Shape 37"/>
          <p:cNvSpPr/>
          <p:nvPr/>
        </p:nvSpPr>
        <p:spPr>
          <a:xfrm>
            <a:off x="9767987" y="3401568"/>
            <a:ext cx="1097280" cy="365760"/>
          </a:xfrm>
          <a:prstGeom prst="roundRect">
            <a:avLst>
              <a:gd name="adj" fmla="val 50000"/>
            </a:avLst>
          </a:prstGeom>
          <a:solidFill>
            <a:srgbClr val="FF9A3C"/>
          </a:solidFill>
          <a:ln w="12700">
            <a:solidFill>
              <a:srgbClr val="FF9A3C"/>
            </a:solidFill>
            <a:prstDash val="solid"/>
          </a:ln>
        </p:spPr>
      </p:sp>
      <p:sp>
        <p:nvSpPr>
          <p:cNvPr id="40" name="Text 38"/>
          <p:cNvSpPr/>
          <p:nvPr/>
        </p:nvSpPr>
        <p:spPr>
          <a:xfrm>
            <a:off x="9767987" y="3401568"/>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S3</a:t>
            </a:r>
            <a:endParaRPr lang="en-US" sz="1400" dirty="0"/>
          </a:p>
        </p:txBody>
      </p:sp>
      <p:sp>
        <p:nvSpPr>
          <p:cNvPr id="41" name="Shape 39"/>
          <p:cNvSpPr/>
          <p:nvPr/>
        </p:nvSpPr>
        <p:spPr>
          <a:xfrm>
            <a:off x="548640" y="4078224"/>
            <a:ext cx="2057949" cy="2139696"/>
          </a:xfrm>
          <a:prstGeom prst="roundRect">
            <a:avLst>
              <a:gd name="adj" fmla="val 4443"/>
            </a:avLst>
          </a:prstGeom>
          <a:solidFill>
            <a:srgbClr val="F3F5FC"/>
          </a:solidFill>
          <a:ln w="9525">
            <a:solidFill>
              <a:srgbClr val="F3F5FC"/>
            </a:solidFill>
            <a:prstDash val="solid"/>
          </a:ln>
        </p:spPr>
      </p:sp>
      <p:sp>
        <p:nvSpPr>
          <p:cNvPr id="42" name="Shape 40"/>
          <p:cNvSpPr/>
          <p:nvPr/>
        </p:nvSpPr>
        <p:spPr>
          <a:xfrm>
            <a:off x="713232" y="4242816"/>
            <a:ext cx="457200" cy="457200"/>
          </a:xfrm>
          <a:prstGeom prst="ellipse">
            <a:avLst/>
          </a:prstGeom>
          <a:solidFill>
            <a:srgbClr val="2B3180"/>
          </a:solidFill>
          <a:ln w="12700">
            <a:solidFill>
              <a:srgbClr val="2B3180"/>
            </a:solidFill>
            <a:prstDash val="solid"/>
          </a:ln>
        </p:spPr>
      </p:sp>
      <p:sp>
        <p:nvSpPr>
          <p:cNvPr id="43" name="Text 41"/>
          <p:cNvSpPr/>
          <p:nvPr/>
        </p:nvSpPr>
        <p:spPr>
          <a:xfrm>
            <a:off x="713232"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44" name="Text 42"/>
          <p:cNvSpPr/>
          <p:nvPr/>
        </p:nvSpPr>
        <p:spPr>
          <a:xfrm>
            <a:off x="1298448" y="4224528"/>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ETL</a:t>
            </a:r>
            <a:endParaRPr lang="en-US" sz="1500" dirty="0"/>
          </a:p>
        </p:txBody>
      </p:sp>
      <p:sp>
        <p:nvSpPr>
          <p:cNvPr id="45" name="Text 43"/>
          <p:cNvSpPr/>
          <p:nvPr/>
        </p:nvSpPr>
        <p:spPr>
          <a:xfrm>
            <a:off x="731520" y="4901184"/>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extraire, nettoyer, charger</a:t>
            </a:r>
            <a:endParaRPr lang="en-US" sz="1600" dirty="0"/>
          </a:p>
        </p:txBody>
      </p:sp>
      <p:sp>
        <p:nvSpPr>
          <p:cNvPr id="46" name="Shape 44"/>
          <p:cNvSpPr/>
          <p:nvPr/>
        </p:nvSpPr>
        <p:spPr>
          <a:xfrm>
            <a:off x="731520" y="5742432"/>
            <a:ext cx="1211580" cy="365760"/>
          </a:xfrm>
          <a:prstGeom prst="roundRect">
            <a:avLst>
              <a:gd name="adj" fmla="val 50000"/>
            </a:avLst>
          </a:prstGeom>
          <a:solidFill>
            <a:srgbClr val="FF9A3C"/>
          </a:solidFill>
          <a:ln w="12700">
            <a:solidFill>
              <a:srgbClr val="FF9A3C"/>
            </a:solidFill>
            <a:prstDash val="solid"/>
          </a:ln>
        </p:spPr>
      </p:sp>
      <p:sp>
        <p:nvSpPr>
          <p:cNvPr id="47" name="Text 45"/>
          <p:cNvSpPr/>
          <p:nvPr/>
        </p:nvSpPr>
        <p:spPr>
          <a:xfrm>
            <a:off x="731520" y="5742432"/>
            <a:ext cx="12115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S2 → S4</a:t>
            </a:r>
            <a:endParaRPr lang="en-US" sz="1400" dirty="0"/>
          </a:p>
        </p:txBody>
      </p:sp>
      <p:sp>
        <p:nvSpPr>
          <p:cNvPr id="48" name="Shape 46"/>
          <p:cNvSpPr/>
          <p:nvPr/>
        </p:nvSpPr>
        <p:spPr>
          <a:xfrm>
            <a:off x="2807757" y="4078224"/>
            <a:ext cx="2057949" cy="2139696"/>
          </a:xfrm>
          <a:prstGeom prst="roundRect">
            <a:avLst>
              <a:gd name="adj" fmla="val 4443"/>
            </a:avLst>
          </a:prstGeom>
          <a:solidFill>
            <a:srgbClr val="F3F5FC"/>
          </a:solidFill>
          <a:ln w="9525">
            <a:solidFill>
              <a:srgbClr val="F3F5FC"/>
            </a:solidFill>
            <a:prstDash val="solid"/>
          </a:ln>
        </p:spPr>
      </p:sp>
      <p:sp>
        <p:nvSpPr>
          <p:cNvPr id="49" name="Shape 47"/>
          <p:cNvSpPr/>
          <p:nvPr/>
        </p:nvSpPr>
        <p:spPr>
          <a:xfrm>
            <a:off x="2972349" y="4242816"/>
            <a:ext cx="457200" cy="457200"/>
          </a:xfrm>
          <a:prstGeom prst="ellipse">
            <a:avLst/>
          </a:prstGeom>
          <a:solidFill>
            <a:srgbClr val="2B3180"/>
          </a:solidFill>
          <a:ln w="12700">
            <a:solidFill>
              <a:srgbClr val="2B3180"/>
            </a:solidFill>
            <a:prstDash val="solid"/>
          </a:ln>
        </p:spPr>
      </p:sp>
      <p:sp>
        <p:nvSpPr>
          <p:cNvPr id="50" name="Text 48"/>
          <p:cNvSpPr/>
          <p:nvPr/>
        </p:nvSpPr>
        <p:spPr>
          <a:xfrm>
            <a:off x="2972349"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51" name="Text 49"/>
          <p:cNvSpPr/>
          <p:nvPr/>
        </p:nvSpPr>
        <p:spPr>
          <a:xfrm>
            <a:off x="3557565" y="4224528"/>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Mises à jour</a:t>
            </a:r>
            <a:endParaRPr lang="en-US" sz="1500" dirty="0"/>
          </a:p>
        </p:txBody>
      </p:sp>
      <p:sp>
        <p:nvSpPr>
          <p:cNvPr id="52" name="Text 50"/>
          <p:cNvSpPr/>
          <p:nvPr/>
        </p:nvSpPr>
        <p:spPr>
          <a:xfrm>
            <a:off x="2990637" y="4901184"/>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incrément, rejeu, SCD2</a:t>
            </a:r>
            <a:endParaRPr lang="en-US" sz="1600" dirty="0"/>
          </a:p>
        </p:txBody>
      </p:sp>
      <p:sp>
        <p:nvSpPr>
          <p:cNvPr id="53" name="Shape 51"/>
          <p:cNvSpPr/>
          <p:nvPr/>
        </p:nvSpPr>
        <p:spPr>
          <a:xfrm>
            <a:off x="2990637" y="5742432"/>
            <a:ext cx="1097280" cy="365760"/>
          </a:xfrm>
          <a:prstGeom prst="roundRect">
            <a:avLst>
              <a:gd name="adj" fmla="val 50000"/>
            </a:avLst>
          </a:prstGeom>
          <a:solidFill>
            <a:srgbClr val="FF9A3C"/>
          </a:solidFill>
          <a:ln w="12700">
            <a:solidFill>
              <a:srgbClr val="FF9A3C"/>
            </a:solidFill>
            <a:prstDash val="solid"/>
          </a:ln>
        </p:spPr>
      </p:sp>
      <p:sp>
        <p:nvSpPr>
          <p:cNvPr id="54" name="Text 52"/>
          <p:cNvSpPr/>
          <p:nvPr/>
        </p:nvSpPr>
        <p:spPr>
          <a:xfrm>
            <a:off x="2990637" y="5742432"/>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S4</a:t>
            </a:r>
            <a:endParaRPr lang="en-US" sz="1400" dirty="0"/>
          </a:p>
        </p:txBody>
      </p:sp>
      <p:sp>
        <p:nvSpPr>
          <p:cNvPr id="55" name="Shape 53"/>
          <p:cNvSpPr/>
          <p:nvPr/>
        </p:nvSpPr>
        <p:spPr>
          <a:xfrm>
            <a:off x="5066873" y="4078224"/>
            <a:ext cx="2057949" cy="2139696"/>
          </a:xfrm>
          <a:prstGeom prst="roundRect">
            <a:avLst>
              <a:gd name="adj" fmla="val 4443"/>
            </a:avLst>
          </a:prstGeom>
          <a:solidFill>
            <a:srgbClr val="F3F5FC"/>
          </a:solidFill>
          <a:ln w="9525">
            <a:solidFill>
              <a:srgbClr val="F3F5FC"/>
            </a:solidFill>
            <a:prstDash val="solid"/>
          </a:ln>
        </p:spPr>
      </p:sp>
      <p:sp>
        <p:nvSpPr>
          <p:cNvPr id="56" name="Shape 54"/>
          <p:cNvSpPr/>
          <p:nvPr/>
        </p:nvSpPr>
        <p:spPr>
          <a:xfrm>
            <a:off x="5231465" y="4242816"/>
            <a:ext cx="457200" cy="457200"/>
          </a:xfrm>
          <a:prstGeom prst="ellipse">
            <a:avLst/>
          </a:prstGeom>
          <a:solidFill>
            <a:srgbClr val="2B3180"/>
          </a:solidFill>
          <a:ln w="12700">
            <a:solidFill>
              <a:srgbClr val="2B3180"/>
            </a:solidFill>
            <a:prstDash val="solid"/>
          </a:ln>
        </p:spPr>
      </p:sp>
      <p:sp>
        <p:nvSpPr>
          <p:cNvPr id="57" name="Text 55"/>
          <p:cNvSpPr/>
          <p:nvPr/>
        </p:nvSpPr>
        <p:spPr>
          <a:xfrm>
            <a:off x="5231465"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58" name="Text 56"/>
          <p:cNvSpPr/>
          <p:nvPr/>
        </p:nvSpPr>
        <p:spPr>
          <a:xfrm>
            <a:off x="5816681" y="4224528"/>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Visualiser</a:t>
            </a:r>
            <a:endParaRPr lang="en-US" sz="1500" dirty="0"/>
          </a:p>
        </p:txBody>
      </p:sp>
      <p:sp>
        <p:nvSpPr>
          <p:cNvPr id="59" name="Text 57"/>
          <p:cNvSpPr/>
          <p:nvPr/>
        </p:nvSpPr>
        <p:spPr>
          <a:xfrm>
            <a:off x="5249753" y="4901184"/>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unités, filtres, recommandation</a:t>
            </a:r>
            <a:endParaRPr lang="en-US" sz="1600" dirty="0"/>
          </a:p>
        </p:txBody>
      </p:sp>
      <p:sp>
        <p:nvSpPr>
          <p:cNvPr id="60" name="Shape 58"/>
          <p:cNvSpPr/>
          <p:nvPr/>
        </p:nvSpPr>
        <p:spPr>
          <a:xfrm>
            <a:off x="5249753" y="5742432"/>
            <a:ext cx="1097280" cy="365760"/>
          </a:xfrm>
          <a:prstGeom prst="roundRect">
            <a:avLst>
              <a:gd name="adj" fmla="val 50000"/>
            </a:avLst>
          </a:prstGeom>
          <a:solidFill>
            <a:srgbClr val="FF9A3C"/>
          </a:solidFill>
          <a:ln w="12700">
            <a:solidFill>
              <a:srgbClr val="FF9A3C"/>
            </a:solidFill>
            <a:prstDash val="solid"/>
          </a:ln>
        </p:spPr>
      </p:sp>
      <p:sp>
        <p:nvSpPr>
          <p:cNvPr id="61" name="Text 59"/>
          <p:cNvSpPr/>
          <p:nvPr/>
        </p:nvSpPr>
        <p:spPr>
          <a:xfrm>
            <a:off x="5249753" y="5742432"/>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S5</a:t>
            </a:r>
            <a:endParaRPr lang="en-US" sz="1400" dirty="0"/>
          </a:p>
        </p:txBody>
      </p:sp>
      <p:sp>
        <p:nvSpPr>
          <p:cNvPr id="62" name="Shape 60"/>
          <p:cNvSpPr/>
          <p:nvPr/>
        </p:nvSpPr>
        <p:spPr>
          <a:xfrm>
            <a:off x="7325990" y="4078224"/>
            <a:ext cx="2057949" cy="2139696"/>
          </a:xfrm>
          <a:prstGeom prst="roundRect">
            <a:avLst>
              <a:gd name="adj" fmla="val 4443"/>
            </a:avLst>
          </a:prstGeom>
          <a:solidFill>
            <a:srgbClr val="F3F5FC"/>
          </a:solidFill>
          <a:ln w="9525">
            <a:solidFill>
              <a:srgbClr val="F3F5FC"/>
            </a:solidFill>
            <a:prstDash val="solid"/>
          </a:ln>
        </p:spPr>
      </p:sp>
      <p:sp>
        <p:nvSpPr>
          <p:cNvPr id="63" name="Shape 61"/>
          <p:cNvSpPr/>
          <p:nvPr/>
        </p:nvSpPr>
        <p:spPr>
          <a:xfrm>
            <a:off x="7490582" y="4242816"/>
            <a:ext cx="457200" cy="457200"/>
          </a:xfrm>
          <a:prstGeom prst="ellipse">
            <a:avLst/>
          </a:prstGeom>
          <a:solidFill>
            <a:srgbClr val="2B3180"/>
          </a:solidFill>
          <a:ln w="12700">
            <a:solidFill>
              <a:srgbClr val="2B3180"/>
            </a:solidFill>
            <a:prstDash val="solid"/>
          </a:ln>
        </p:spPr>
      </p:sp>
      <p:sp>
        <p:nvSpPr>
          <p:cNvPr id="64" name="Text 62"/>
          <p:cNvSpPr/>
          <p:nvPr/>
        </p:nvSpPr>
        <p:spPr>
          <a:xfrm>
            <a:off x="7490582"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sp>
        <p:nvSpPr>
          <p:cNvPr id="65" name="Text 63"/>
          <p:cNvSpPr/>
          <p:nvPr/>
        </p:nvSpPr>
        <p:spPr>
          <a:xfrm>
            <a:off x="8075798" y="4224528"/>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Power BI</a:t>
            </a:r>
            <a:endParaRPr lang="en-US" sz="1500" dirty="0"/>
          </a:p>
        </p:txBody>
      </p:sp>
      <p:sp>
        <p:nvSpPr>
          <p:cNvPr id="66" name="Text 64"/>
          <p:cNvSpPr/>
          <p:nvPr/>
        </p:nvSpPr>
        <p:spPr>
          <a:xfrm>
            <a:off x="7508870" y="4901184"/>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types, relations, DAX, actualiser</a:t>
            </a:r>
            <a:endParaRPr lang="en-US" sz="1600" dirty="0"/>
          </a:p>
        </p:txBody>
      </p:sp>
      <p:sp>
        <p:nvSpPr>
          <p:cNvPr id="67" name="Shape 65"/>
          <p:cNvSpPr/>
          <p:nvPr/>
        </p:nvSpPr>
        <p:spPr>
          <a:xfrm>
            <a:off x="7508870" y="5742432"/>
            <a:ext cx="1097280" cy="365760"/>
          </a:xfrm>
          <a:prstGeom prst="roundRect">
            <a:avLst>
              <a:gd name="adj" fmla="val 50000"/>
            </a:avLst>
          </a:prstGeom>
          <a:solidFill>
            <a:srgbClr val="FF9A3C"/>
          </a:solidFill>
          <a:ln w="12700">
            <a:solidFill>
              <a:srgbClr val="FF9A3C"/>
            </a:solidFill>
            <a:prstDash val="solid"/>
          </a:ln>
        </p:spPr>
      </p:sp>
      <p:sp>
        <p:nvSpPr>
          <p:cNvPr id="68" name="Text 66"/>
          <p:cNvSpPr/>
          <p:nvPr/>
        </p:nvSpPr>
        <p:spPr>
          <a:xfrm>
            <a:off x="7508870" y="5742432"/>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S5</a:t>
            </a:r>
            <a:endParaRPr lang="en-US" sz="1400" dirty="0"/>
          </a:p>
        </p:txBody>
      </p:sp>
      <p:sp>
        <p:nvSpPr>
          <p:cNvPr id="69" name="Shape 67"/>
          <p:cNvSpPr/>
          <p:nvPr/>
        </p:nvSpPr>
        <p:spPr>
          <a:xfrm>
            <a:off x="9585107" y="4078224"/>
            <a:ext cx="2057949" cy="2139696"/>
          </a:xfrm>
          <a:prstGeom prst="roundRect">
            <a:avLst>
              <a:gd name="adj" fmla="val 4443"/>
            </a:avLst>
          </a:prstGeom>
          <a:solidFill>
            <a:srgbClr val="F3F5FC"/>
          </a:solidFill>
          <a:ln w="9525">
            <a:solidFill>
              <a:srgbClr val="F3F5FC"/>
            </a:solidFill>
            <a:prstDash val="solid"/>
          </a:ln>
        </p:spPr>
      </p:sp>
      <p:sp>
        <p:nvSpPr>
          <p:cNvPr id="70" name="Shape 68"/>
          <p:cNvSpPr/>
          <p:nvPr/>
        </p:nvSpPr>
        <p:spPr>
          <a:xfrm>
            <a:off x="9749699" y="4242816"/>
            <a:ext cx="457200" cy="457200"/>
          </a:xfrm>
          <a:prstGeom prst="ellipse">
            <a:avLst/>
          </a:prstGeom>
          <a:solidFill>
            <a:srgbClr val="2B3180"/>
          </a:solidFill>
          <a:ln w="12700">
            <a:solidFill>
              <a:srgbClr val="2B3180"/>
            </a:solidFill>
            <a:prstDash val="solid"/>
          </a:ln>
        </p:spPr>
      </p:sp>
      <p:sp>
        <p:nvSpPr>
          <p:cNvPr id="71" name="Text 69"/>
          <p:cNvSpPr/>
          <p:nvPr/>
        </p:nvSpPr>
        <p:spPr>
          <a:xfrm>
            <a:off x="9749699"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10</a:t>
            </a:r>
            <a:endParaRPr lang="en-US" sz="1600" dirty="0"/>
          </a:p>
        </p:txBody>
      </p:sp>
      <p:sp>
        <p:nvSpPr>
          <p:cNvPr id="72" name="Text 70"/>
          <p:cNvSpPr/>
          <p:nvPr/>
        </p:nvSpPr>
        <p:spPr>
          <a:xfrm>
            <a:off x="10334915" y="4224528"/>
            <a:ext cx="1161837" cy="502920"/>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IA et Git</a:t>
            </a:r>
            <a:endParaRPr lang="en-US" sz="1500" dirty="0"/>
          </a:p>
        </p:txBody>
      </p:sp>
      <p:sp>
        <p:nvSpPr>
          <p:cNvPr id="73" name="Text 71"/>
          <p:cNvSpPr/>
          <p:nvPr/>
        </p:nvSpPr>
        <p:spPr>
          <a:xfrm>
            <a:off x="9767987" y="4901184"/>
            <a:ext cx="1692189" cy="85953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Codex, AGENTS.md, Skills, Git, CI</a:t>
            </a:r>
            <a:endParaRPr lang="en-US" sz="1600" dirty="0"/>
          </a:p>
        </p:txBody>
      </p:sp>
      <p:sp>
        <p:nvSpPr>
          <p:cNvPr id="74" name="Shape 72"/>
          <p:cNvSpPr/>
          <p:nvPr/>
        </p:nvSpPr>
        <p:spPr>
          <a:xfrm>
            <a:off x="9767987" y="5742432"/>
            <a:ext cx="1211580" cy="365760"/>
          </a:xfrm>
          <a:prstGeom prst="roundRect">
            <a:avLst>
              <a:gd name="adj" fmla="val 50000"/>
            </a:avLst>
          </a:prstGeom>
          <a:solidFill>
            <a:srgbClr val="FF9A3C"/>
          </a:solidFill>
          <a:ln w="12700">
            <a:solidFill>
              <a:srgbClr val="FF9A3C"/>
            </a:solidFill>
            <a:prstDash val="solid"/>
          </a:ln>
        </p:spPr>
      </p:sp>
      <p:sp>
        <p:nvSpPr>
          <p:cNvPr id="75" name="Text 73"/>
          <p:cNvSpPr/>
          <p:nvPr/>
        </p:nvSpPr>
        <p:spPr>
          <a:xfrm>
            <a:off x="9767987" y="5742432"/>
            <a:ext cx="12115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S1 → S5</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CE QUE VOUS SAUREZ FAIRE  ·  COMPÉTENCES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Matrice 1/2 : de la compétence à la preuve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69854"/>
                <a:gridCol w="2401030"/>
                <a:gridCol w="3311766"/>
                <a:gridCol w="3311766"/>
              </a:tblGrid>
              <a:tr h="713232">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Compétence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Mission (épisode)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Votre action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Preuve visible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1 Python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S2-S3 · lire le code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Trouver la fonction qui rejette ; expliquer la classe Entrepot</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Explication orale + diff lu</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2 Données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S2 · premier résultat faux</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Demander la lecture des 4 sources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Comptes de lignes = les vôtres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3 Qualité</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S2 · anomalies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Fixer les règles, prévoir les rejets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rejets.csv : 26 rejets lot 1</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4 SQL</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S3 · base des retours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Requête paramétrée « ? »</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25 retours VALIDE en mars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5 Modélisation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S3 · étoile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Fixer le grain, relier par *_key</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5 tables, faits reliés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CE QUE VOUS SAUREZ FAIRE  ·  COMPÉTENCES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Matrice 2/2 : de la compétence à la preuve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69854"/>
                <a:gridCol w="2401030"/>
                <a:gridCol w="3311766"/>
                <a:gridCol w="3311766"/>
              </a:tblGrid>
              <a:tr h="713232">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Compétence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Mission (épisode)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Votre action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Preuve visible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6 ETL</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S3 · chargement initial</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Dimensions avant faits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--etape initial : 0 ÉCHEC</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7 Mises à jour</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S4 · Nabeul change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Incrément, rejeu, SCD2</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2345 faits ; rejeu = 0 ajout</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8 Visualisation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S5 · livraison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Lire un visuel, écrire la reco</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Recommandation en 5 parties</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9 Power BI</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S5 · livraison</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6 relations, 5 mesures, Actualiser</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Rapport actualisé après lot 2</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B3180"/>
                          </a:solidFill>
                          <a:latin typeface="Arial" pitchFamily="34" charset="0"/>
                          <a:ea typeface="Arial" pitchFamily="34" charset="-122"/>
                          <a:cs typeface="Arial" pitchFamily="34" charset="-120"/>
                        </a:rPr>
                        <a:t>10 IA + Git</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S1 → S5 · chaque PR</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Demande, revue, correction, merge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400" dirty="0">
                          <a:solidFill>
                            <a:srgbClr val="1A1F4D"/>
                          </a:solidFill>
                          <a:latin typeface="Arial" pitchFamily="34" charset="0"/>
                          <a:ea typeface="Arial" pitchFamily="34" charset="-122"/>
                          <a:cs typeface="Arial" pitchFamily="34" charset="-120"/>
                        </a:rPr>
                        <a:t>PR relues, CI verte</a:t>
                      </a:r>
                      <a:endParaRPr lang="en-US" sz="14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C</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C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Git et GitHub, de zéro</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Trois emplacements, un cycle, des rôles qui alternent</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18 / 87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GIT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Trois emplacements pour un même dépôt</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686174"/>
          </a:xfrm>
          <a:prstGeom prst="roundRect">
            <a:avLst>
              <a:gd name="adj" fmla="val 1171"/>
            </a:avLst>
          </a:prstGeom>
          <a:solidFill>
            <a:srgbClr val="FFFFFF"/>
          </a:solidFill>
          <a:ln w="9525">
            <a:solidFill>
              <a:srgbClr val="DCE2F0"/>
            </a:solidFill>
            <a:prstDash val="solid"/>
          </a:ln>
        </p:spPr>
      </p:sp>
      <p:pic>
        <p:nvPicPr>
          <p:cNvPr id="9" name="Image 0" descr="Trois emplacements pour un même dépôt">    </p:cNvPr>
          <p:cNvPicPr>
            <a:picLocks noChangeAspect="1"/>
          </p:cNvPicPr>
          <p:nvPr/>
        </p:nvPicPr>
        <p:blipFill>
          <a:blip r:embed="rId1"/>
          <a:srcRect l="0" r="0" t="17014" b="14236"/>
          <a:stretch/>
        </p:blipFill>
        <p:spPr>
          <a:xfrm>
            <a:off x="548640" y="1371600"/>
            <a:ext cx="11094415" cy="4576446"/>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GIT</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Huit mots, huit gestes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68450"/>
                <a:gridCol w="5265146"/>
                <a:gridCol w="3760819"/>
              </a:tblGrid>
              <a:tr h="497840">
                <a:tc>
                  <a:txBody>
                    <a:bodyPr/>
                    <a:lstStyle/>
                    <a:p>
                      <a:pPr indent="0" marL="0">
                        <a:buNone/>
                      </a:pPr>
                      <a:r>
                        <a:rPr lang="en-US" sz="1500" b="1" dirty="0">
                          <a:solidFill>
                            <a:srgbClr val="FFFFFF"/>
                          </a:solidFill>
                          <a:latin typeface="Arial" pitchFamily="34" charset="0"/>
                          <a:ea typeface="Arial" pitchFamily="34" charset="-122"/>
                          <a:cs typeface="Arial" pitchFamily="34" charset="-120"/>
                        </a:rPr>
                        <a:t>Mot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Ce que c'est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Geste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commit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un point enregistré, chez moi</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git add · git commit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branche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une ligne de travail à part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git switch -c &lt;branche&gt;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push</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envoyer mes commits sur GitHub</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git push -u origin &lt;branche&gt;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pull</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récupérer les commits de GitHub</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git switch main &amp;&amp; git pull</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PR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une demande de fusion, à relire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Compare &amp; pull request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revue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l'avis écrit du partenaire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Files changed → Review changes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merge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intégrer la branche dans main</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Merge pull request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97840">
                <a:tc>
                  <a:txBody>
                    <a:bodyPr/>
                    <a:lstStyle/>
                    <a:p>
                      <a:pPr indent="0" marL="0">
                        <a:buNone/>
                      </a:pPr>
                      <a:r>
                        <a:rPr lang="en-US" sz="1500" b="1" dirty="0">
                          <a:solidFill>
                            <a:srgbClr val="2B3180"/>
                          </a:solidFill>
                          <a:latin typeface="Arial" pitchFamily="34" charset="0"/>
                          <a:ea typeface="Arial" pitchFamily="34" charset="-122"/>
                          <a:cs typeface="Arial" pitchFamily="34" charset="-120"/>
                        </a:rPr>
                        <a:t>CI</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contrôles sur une machine neuve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onglet Actions · controles.yml</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GIT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200" b="1" dirty="0">
                <a:solidFill>
                  <a:srgbClr val="1A1F4D"/>
                </a:solidFill>
                <a:latin typeface="Arial" pitchFamily="34" charset="0"/>
                <a:ea typeface="Arial" pitchFamily="34" charset="-122"/>
                <a:cs typeface="Arial" pitchFamily="34" charset="-120"/>
              </a:rPr>
              <a:t>Le cycle d’une PR · 1/2 : de main à la revue</a:t>
            </a:r>
            <a:endParaRPr lang="en-US" sz="22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2998899"/>
          </a:xfrm>
          <a:prstGeom prst="roundRect">
            <a:avLst>
              <a:gd name="adj" fmla="val 1829"/>
            </a:avLst>
          </a:prstGeom>
          <a:solidFill>
            <a:srgbClr val="FFFFFF"/>
          </a:solidFill>
          <a:ln w="9525">
            <a:solidFill>
              <a:srgbClr val="DCE2F0"/>
            </a:solidFill>
            <a:prstDash val="solid"/>
          </a:ln>
        </p:spPr>
      </p:sp>
      <p:pic>
        <p:nvPicPr>
          <p:cNvPr id="9" name="Image 0" descr="Le cycle d’une PR · 1/2 : de main à la revue">    </p:cNvPr>
          <p:cNvPicPr>
            <a:picLocks noChangeAspect="1"/>
          </p:cNvPicPr>
          <p:nvPr/>
        </p:nvPicPr>
        <p:blipFill>
          <a:blip r:embed="rId1"/>
          <a:srcRect l="0" r="0" t="14783" b="48985"/>
          <a:stretch/>
        </p:blipFill>
        <p:spPr>
          <a:xfrm>
            <a:off x="548640" y="1371600"/>
            <a:ext cx="11094415" cy="2889171"/>
          </a:xfrm>
          <a:prstGeom prst="rect">
            <a:avLst/>
          </a:prstGeom>
        </p:spPr>
      </p:pic>
      <p:sp>
        <p:nvSpPr>
          <p:cNvPr id="10" name="Shape 7"/>
          <p:cNvSpPr/>
          <p:nvPr/>
        </p:nvSpPr>
        <p:spPr>
          <a:xfrm>
            <a:off x="548640" y="4507659"/>
            <a:ext cx="365760" cy="365760"/>
          </a:xfrm>
          <a:prstGeom prst="ellipse">
            <a:avLst/>
          </a:prstGeom>
          <a:solidFill>
            <a:srgbClr val="FF9A3C"/>
          </a:solidFill>
          <a:ln w="12700">
            <a:solidFill>
              <a:srgbClr val="FF9A3C"/>
            </a:solidFill>
            <a:prstDash val="solid"/>
          </a:ln>
        </p:spPr>
      </p:sp>
      <p:sp>
        <p:nvSpPr>
          <p:cNvPr id="11" name="Text 8"/>
          <p:cNvSpPr/>
          <p:nvPr/>
        </p:nvSpPr>
        <p:spPr>
          <a:xfrm>
            <a:off x="548640" y="4507659"/>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4489371"/>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Étapes 1 → 7 : l’auteur prépare et pousse sa branche.</a:t>
            </a:r>
            <a:endParaRPr lang="en-US" sz="1700" dirty="0"/>
          </a:p>
        </p:txBody>
      </p:sp>
      <p:sp>
        <p:nvSpPr>
          <p:cNvPr id="13" name="Shape 10"/>
          <p:cNvSpPr/>
          <p:nvPr/>
        </p:nvSpPr>
        <p:spPr>
          <a:xfrm>
            <a:off x="4353458" y="4507659"/>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4507659"/>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4489371"/>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Étape 8 : la PR est ouverte sur GitHub.</a:t>
            </a:r>
            <a:endParaRPr lang="en-US" sz="1700" dirty="0"/>
          </a:p>
        </p:txBody>
      </p:sp>
      <p:sp>
        <p:nvSpPr>
          <p:cNvPr id="16" name="Shape 13"/>
          <p:cNvSpPr/>
          <p:nvPr/>
        </p:nvSpPr>
        <p:spPr>
          <a:xfrm>
            <a:off x="8158277" y="4507659"/>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4507659"/>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4489371"/>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Étapes 9 → 10 : le partenaire relit.</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GIT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000" b="1" dirty="0">
                <a:solidFill>
                  <a:srgbClr val="1A1F4D"/>
                </a:solidFill>
                <a:latin typeface="Arial" pitchFamily="34" charset="0"/>
                <a:ea typeface="Arial" pitchFamily="34" charset="-122"/>
                <a:cs typeface="Arial" pitchFamily="34" charset="-120"/>
              </a:rPr>
              <a:t>Le cycle d’une PR · 2/2 : de la correction au pull</a:t>
            </a:r>
            <a:endParaRPr lang="en-US" sz="20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3900320"/>
          </a:xfrm>
          <a:prstGeom prst="roundRect">
            <a:avLst>
              <a:gd name="adj" fmla="val 1407"/>
            </a:avLst>
          </a:prstGeom>
          <a:solidFill>
            <a:srgbClr val="FFFFFF"/>
          </a:solidFill>
          <a:ln w="9525">
            <a:solidFill>
              <a:srgbClr val="DCE2F0"/>
            </a:solidFill>
            <a:prstDash val="solid"/>
          </a:ln>
        </p:spPr>
      </p:sp>
      <p:pic>
        <p:nvPicPr>
          <p:cNvPr id="9" name="Image 0" descr="Le cycle d’une PR · 2/2 : de la correction au pull">    </p:cNvPr>
          <p:cNvPicPr>
            <a:picLocks noChangeAspect="1"/>
          </p:cNvPicPr>
          <p:nvPr/>
        </p:nvPicPr>
        <p:blipFill>
          <a:blip r:embed="rId1"/>
          <a:srcRect l="0" r="0" t="51014" b="1449"/>
          <a:stretch/>
        </p:blipFill>
        <p:spPr>
          <a:xfrm>
            <a:off x="548640" y="1371600"/>
            <a:ext cx="11094415" cy="3790592"/>
          </a:xfrm>
          <a:prstGeom prst="rect">
            <a:avLst/>
          </a:prstGeom>
        </p:spPr>
      </p:pic>
      <p:sp>
        <p:nvSpPr>
          <p:cNvPr id="10" name="Shape 7"/>
          <p:cNvSpPr/>
          <p:nvPr/>
        </p:nvSpPr>
        <p:spPr>
          <a:xfrm>
            <a:off x="548640" y="5409080"/>
            <a:ext cx="365760" cy="365760"/>
          </a:xfrm>
          <a:prstGeom prst="ellipse">
            <a:avLst/>
          </a:prstGeom>
          <a:solidFill>
            <a:srgbClr val="FF9A3C"/>
          </a:solidFill>
          <a:ln w="12700">
            <a:solidFill>
              <a:srgbClr val="FF9A3C"/>
            </a:solidFill>
            <a:prstDash val="solid"/>
          </a:ln>
        </p:spPr>
      </p:sp>
      <p:sp>
        <p:nvSpPr>
          <p:cNvPr id="11" name="Text 8"/>
          <p:cNvSpPr/>
          <p:nvPr/>
        </p:nvSpPr>
        <p:spPr>
          <a:xfrm>
            <a:off x="548640" y="5409080"/>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5390792"/>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Une correction = un commit de plus sur la branche.</a:t>
            </a:r>
            <a:endParaRPr lang="en-US" sz="1700" dirty="0"/>
          </a:p>
        </p:txBody>
      </p:sp>
      <p:sp>
        <p:nvSpPr>
          <p:cNvPr id="13" name="Shape 10"/>
          <p:cNvSpPr/>
          <p:nvPr/>
        </p:nvSpPr>
        <p:spPr>
          <a:xfrm>
            <a:off x="4353458" y="5409080"/>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5409080"/>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5390792"/>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Pas de fusion sans CI verte ni approbation.</a:t>
            </a:r>
            <a:endParaRPr lang="en-US" sz="1700" dirty="0"/>
          </a:p>
        </p:txBody>
      </p:sp>
      <p:sp>
        <p:nvSpPr>
          <p:cNvPr id="16" name="Shape 13"/>
          <p:cNvSpPr/>
          <p:nvPr/>
        </p:nvSpPr>
        <p:spPr>
          <a:xfrm>
            <a:off x="8158277" y="5409080"/>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5409080"/>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5390792"/>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Puis les deux font git pull et les rôles s’inversent.</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GIT</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Les rôles alternent à chaque cycle</a:t>
            </a:r>
            <a:endParaRPr lang="en-US" sz="3000" dirty="0"/>
          </a:p>
        </p:txBody>
      </p:sp>
      <p:sp>
        <p:nvSpPr>
          <p:cNvPr id="6" name="Shape 4"/>
          <p:cNvSpPr/>
          <p:nvPr/>
        </p:nvSpPr>
        <p:spPr>
          <a:xfrm>
            <a:off x="548640" y="1965960"/>
            <a:ext cx="1853123" cy="3108960"/>
          </a:xfrm>
          <a:prstGeom prst="roundRect">
            <a:avLst>
              <a:gd name="adj" fmla="val 4934"/>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S1 · PR n°1</a:t>
            </a:r>
            <a:endParaRPr lang="en-US" sz="1700" dirty="0"/>
          </a:p>
        </p:txBody>
      </p:sp>
      <p:sp>
        <p:nvSpPr>
          <p:cNvPr id="10" name="Text 8"/>
          <p:cNvSpPr/>
          <p:nvPr/>
        </p:nvSpPr>
        <p:spPr>
          <a:xfrm>
            <a:off x="749808"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A auteur : journal</a:t>
            </a:r>
            <a:endParaRPr lang="en-US" sz="1500" dirty="0"/>
          </a:p>
          <a:p>
            <a:pPr indent="0" marL="0">
              <a:buNone/>
            </a:pPr>
            <a:r>
              <a:rPr lang="en-US" sz="1500" dirty="0">
                <a:solidFill>
                  <a:srgbClr val="1A1F4D"/>
                </a:solidFill>
                <a:latin typeface="Arial" pitchFamily="34" charset="0"/>
                <a:ea typeface="Arial" pitchFamily="34" charset="-122"/>
                <a:cs typeface="Arial" pitchFamily="34" charset="-120"/>
              </a:rPr>
              <a:t>(livret 01)</a:t>
            </a:r>
            <a:endParaRPr lang="en-US" sz="1500" dirty="0"/>
          </a:p>
          <a:p>
            <a:pPr indent="0" marL="0">
              <a:buNone/>
            </a:pPr>
            <a:r>
              <a:rPr lang="en-US" sz="1500" dirty="0">
                <a:solidFill>
                  <a:srgbClr val="1A1F4D"/>
                </a:solidFill>
                <a:latin typeface="Arial" pitchFamily="34" charset="0"/>
                <a:ea typeface="Arial" pitchFamily="34" charset="-122"/>
                <a:cs typeface="Arial" pitchFamily="34" charset="-120"/>
              </a:rPr>
              <a:t>B relit</a:t>
            </a:r>
            <a:endParaRPr lang="en-US" sz="1500" dirty="0"/>
          </a:p>
        </p:txBody>
      </p:sp>
      <p:sp>
        <p:nvSpPr>
          <p:cNvPr id="11" name="Shape 9"/>
          <p:cNvSpPr/>
          <p:nvPr/>
        </p:nvSpPr>
        <p:spPr>
          <a:xfrm>
            <a:off x="2465771" y="3520440"/>
            <a:ext cx="329184" cy="0"/>
          </a:xfrm>
          <a:prstGeom prst="line">
            <a:avLst/>
          </a:prstGeom>
          <a:noFill/>
          <a:ln w="31750">
            <a:solidFill>
              <a:srgbClr val="FF9A3C"/>
            </a:solidFill>
            <a:prstDash val="solid"/>
            <a:tailEnd type="triangle"/>
          </a:ln>
        </p:spPr>
      </p:sp>
      <p:sp>
        <p:nvSpPr>
          <p:cNvPr id="12" name="Shape 10"/>
          <p:cNvSpPr/>
          <p:nvPr/>
        </p:nvSpPr>
        <p:spPr>
          <a:xfrm>
            <a:off x="2858963" y="1965960"/>
            <a:ext cx="1853123" cy="3108960"/>
          </a:xfrm>
          <a:prstGeom prst="roundRect">
            <a:avLst>
              <a:gd name="adj" fmla="val 4934"/>
            </a:avLst>
          </a:prstGeom>
          <a:solidFill>
            <a:srgbClr val="F3F5FC"/>
          </a:solidFill>
          <a:ln w="9525">
            <a:solidFill>
              <a:srgbClr val="F3F5FC"/>
            </a:solidFill>
            <a:prstDash val="solid"/>
          </a:ln>
        </p:spPr>
      </p:sp>
      <p:sp>
        <p:nvSpPr>
          <p:cNvPr id="13" name="Shape 11"/>
          <p:cNvSpPr/>
          <p:nvPr/>
        </p:nvSpPr>
        <p:spPr>
          <a:xfrm>
            <a:off x="3060131"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060131"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060131"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S1 · PR n°2</a:t>
            </a:r>
            <a:endParaRPr lang="en-US" sz="1700" dirty="0"/>
          </a:p>
        </p:txBody>
      </p:sp>
      <p:sp>
        <p:nvSpPr>
          <p:cNvPr id="16" name="Text 14"/>
          <p:cNvSpPr/>
          <p:nvPr/>
        </p:nvSpPr>
        <p:spPr>
          <a:xfrm>
            <a:off x="3060131"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B auteur : cadrage</a:t>
            </a:r>
            <a:endParaRPr lang="en-US" sz="1500" dirty="0"/>
          </a:p>
          <a:p>
            <a:pPr indent="0" marL="0">
              <a:buNone/>
            </a:pPr>
            <a:r>
              <a:rPr lang="en-US" sz="1500" dirty="0">
                <a:solidFill>
                  <a:srgbClr val="1A1F4D"/>
                </a:solidFill>
                <a:latin typeface="Arial" pitchFamily="34" charset="0"/>
                <a:ea typeface="Arial" pitchFamily="34" charset="-122"/>
                <a:cs typeface="Arial" pitchFamily="34" charset="-120"/>
              </a:rPr>
              <a:t>A relit</a:t>
            </a:r>
            <a:endParaRPr lang="en-US" sz="1500" dirty="0"/>
          </a:p>
        </p:txBody>
      </p:sp>
      <p:sp>
        <p:nvSpPr>
          <p:cNvPr id="17" name="Shape 15"/>
          <p:cNvSpPr/>
          <p:nvPr/>
        </p:nvSpPr>
        <p:spPr>
          <a:xfrm>
            <a:off x="4776094" y="3520440"/>
            <a:ext cx="329184" cy="0"/>
          </a:xfrm>
          <a:prstGeom prst="line">
            <a:avLst/>
          </a:prstGeom>
          <a:noFill/>
          <a:ln w="31750">
            <a:solidFill>
              <a:srgbClr val="FF9A3C"/>
            </a:solidFill>
            <a:prstDash val="solid"/>
            <a:tailEnd type="triangle"/>
          </a:ln>
        </p:spPr>
      </p:sp>
      <p:sp>
        <p:nvSpPr>
          <p:cNvPr id="18" name="Shape 16"/>
          <p:cNvSpPr/>
          <p:nvPr/>
        </p:nvSpPr>
        <p:spPr>
          <a:xfrm>
            <a:off x="5169286" y="1965960"/>
            <a:ext cx="1853123" cy="3108960"/>
          </a:xfrm>
          <a:prstGeom prst="roundRect">
            <a:avLst>
              <a:gd name="adj" fmla="val 4934"/>
            </a:avLst>
          </a:prstGeom>
          <a:solidFill>
            <a:srgbClr val="F3F5FC"/>
          </a:solidFill>
          <a:ln w="9525">
            <a:solidFill>
              <a:srgbClr val="F3F5FC"/>
            </a:solidFill>
            <a:prstDash val="solid"/>
          </a:ln>
        </p:spPr>
      </p:sp>
      <p:sp>
        <p:nvSpPr>
          <p:cNvPr id="19" name="Shape 17"/>
          <p:cNvSpPr/>
          <p:nvPr/>
        </p:nvSpPr>
        <p:spPr>
          <a:xfrm>
            <a:off x="5370454"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5370454"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5370454"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S2 · A auteur</a:t>
            </a:r>
            <a:endParaRPr lang="en-US" sz="1700" dirty="0"/>
          </a:p>
        </p:txBody>
      </p:sp>
      <p:sp>
        <p:nvSpPr>
          <p:cNvPr id="22" name="Text 20"/>
          <p:cNvSpPr/>
          <p:nvPr/>
        </p:nvSpPr>
        <p:spPr>
          <a:xfrm>
            <a:off x="5370454"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Lecture et rejets</a:t>
            </a:r>
            <a:endParaRPr lang="en-US" sz="1500" dirty="0"/>
          </a:p>
          <a:p>
            <a:pPr indent="0" marL="0">
              <a:buNone/>
            </a:pPr>
            <a:r>
              <a:rPr lang="en-US" sz="1500" dirty="0">
                <a:solidFill>
                  <a:srgbClr val="1A1F4D"/>
                </a:solidFill>
                <a:latin typeface="Arial" pitchFamily="34" charset="0"/>
                <a:ea typeface="Arial" pitchFamily="34" charset="-122"/>
                <a:cs typeface="Arial" pitchFamily="34" charset="-120"/>
              </a:rPr>
              <a:t>B relit, A corrige</a:t>
            </a:r>
            <a:endParaRPr lang="en-US" sz="1500" dirty="0"/>
          </a:p>
        </p:txBody>
      </p:sp>
      <p:sp>
        <p:nvSpPr>
          <p:cNvPr id="23" name="Shape 21"/>
          <p:cNvSpPr/>
          <p:nvPr/>
        </p:nvSpPr>
        <p:spPr>
          <a:xfrm>
            <a:off x="7086417" y="3520440"/>
            <a:ext cx="329184" cy="0"/>
          </a:xfrm>
          <a:prstGeom prst="line">
            <a:avLst/>
          </a:prstGeom>
          <a:noFill/>
          <a:ln w="31750">
            <a:solidFill>
              <a:srgbClr val="FF9A3C"/>
            </a:solidFill>
            <a:prstDash val="solid"/>
            <a:tailEnd type="triangle"/>
          </a:ln>
        </p:spPr>
      </p:sp>
      <p:sp>
        <p:nvSpPr>
          <p:cNvPr id="24" name="Shape 22"/>
          <p:cNvSpPr/>
          <p:nvPr/>
        </p:nvSpPr>
        <p:spPr>
          <a:xfrm>
            <a:off x="7479609" y="1965960"/>
            <a:ext cx="1853123" cy="3108960"/>
          </a:xfrm>
          <a:prstGeom prst="roundRect">
            <a:avLst>
              <a:gd name="adj" fmla="val 4934"/>
            </a:avLst>
          </a:prstGeom>
          <a:solidFill>
            <a:srgbClr val="F3F5FC"/>
          </a:solidFill>
          <a:ln w="9525">
            <a:solidFill>
              <a:srgbClr val="F3F5FC"/>
            </a:solidFill>
            <a:prstDash val="solid"/>
          </a:ln>
        </p:spPr>
      </p:sp>
      <p:sp>
        <p:nvSpPr>
          <p:cNvPr id="25" name="Shape 23"/>
          <p:cNvSpPr/>
          <p:nvPr/>
        </p:nvSpPr>
        <p:spPr>
          <a:xfrm>
            <a:off x="7680777" y="2194560"/>
            <a:ext cx="420624" cy="420624"/>
          </a:xfrm>
          <a:prstGeom prst="ellipse">
            <a:avLst/>
          </a:prstGeom>
          <a:solidFill>
            <a:srgbClr val="2B3180"/>
          </a:solidFill>
          <a:ln w="12700">
            <a:solidFill>
              <a:srgbClr val="2B3180"/>
            </a:solidFill>
            <a:prstDash val="solid"/>
          </a:ln>
        </p:spPr>
      </p:sp>
      <p:sp>
        <p:nvSpPr>
          <p:cNvPr id="26" name="Text 24"/>
          <p:cNvSpPr/>
          <p:nvPr/>
        </p:nvSpPr>
        <p:spPr>
          <a:xfrm>
            <a:off x="7680777"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7680777"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S3 · B auteur</a:t>
            </a:r>
            <a:endParaRPr lang="en-US" sz="1700" dirty="0"/>
          </a:p>
        </p:txBody>
      </p:sp>
      <p:sp>
        <p:nvSpPr>
          <p:cNvPr id="28" name="Text 26"/>
          <p:cNvSpPr/>
          <p:nvPr/>
        </p:nvSpPr>
        <p:spPr>
          <a:xfrm>
            <a:off x="7680777"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Étoile, lot 1</a:t>
            </a:r>
            <a:endParaRPr lang="en-US" sz="1500" dirty="0"/>
          </a:p>
          <a:p>
            <a:pPr indent="0" marL="0">
              <a:buNone/>
            </a:pPr>
            <a:r>
              <a:rPr lang="en-US" sz="1500" dirty="0">
                <a:solidFill>
                  <a:srgbClr val="1A1F4D"/>
                </a:solidFill>
                <a:latin typeface="Arial" pitchFamily="34" charset="0"/>
                <a:ea typeface="Arial" pitchFamily="34" charset="-122"/>
                <a:cs typeface="Arial" pitchFamily="34" charset="-120"/>
              </a:rPr>
              <a:t>A relit</a:t>
            </a:r>
            <a:endParaRPr lang="en-US" sz="1500" dirty="0"/>
          </a:p>
        </p:txBody>
      </p:sp>
      <p:sp>
        <p:nvSpPr>
          <p:cNvPr id="29" name="Shape 27"/>
          <p:cNvSpPr/>
          <p:nvPr/>
        </p:nvSpPr>
        <p:spPr>
          <a:xfrm>
            <a:off x="9396740" y="3520440"/>
            <a:ext cx="329184" cy="0"/>
          </a:xfrm>
          <a:prstGeom prst="line">
            <a:avLst/>
          </a:prstGeom>
          <a:noFill/>
          <a:ln w="31750">
            <a:solidFill>
              <a:srgbClr val="FF9A3C"/>
            </a:solidFill>
            <a:prstDash val="solid"/>
            <a:tailEnd type="triangle"/>
          </a:ln>
        </p:spPr>
      </p:sp>
      <p:sp>
        <p:nvSpPr>
          <p:cNvPr id="30" name="Shape 28"/>
          <p:cNvSpPr/>
          <p:nvPr/>
        </p:nvSpPr>
        <p:spPr>
          <a:xfrm>
            <a:off x="9789932" y="1965960"/>
            <a:ext cx="1853123" cy="3108960"/>
          </a:xfrm>
          <a:prstGeom prst="roundRect">
            <a:avLst>
              <a:gd name="adj" fmla="val 4934"/>
            </a:avLst>
          </a:prstGeom>
          <a:solidFill>
            <a:srgbClr val="2B3180"/>
          </a:solidFill>
          <a:ln w="9525">
            <a:solidFill>
              <a:srgbClr val="2B3180"/>
            </a:solidFill>
            <a:prstDash val="solid"/>
          </a:ln>
        </p:spPr>
      </p:sp>
      <p:sp>
        <p:nvSpPr>
          <p:cNvPr id="31" name="Shape 29"/>
          <p:cNvSpPr/>
          <p:nvPr/>
        </p:nvSpPr>
        <p:spPr>
          <a:xfrm>
            <a:off x="9991100" y="2194560"/>
            <a:ext cx="420624" cy="420624"/>
          </a:xfrm>
          <a:prstGeom prst="ellipse">
            <a:avLst/>
          </a:prstGeom>
          <a:solidFill>
            <a:srgbClr val="FF9A3C"/>
          </a:solidFill>
          <a:ln w="12700">
            <a:solidFill>
              <a:srgbClr val="FF9A3C"/>
            </a:solidFill>
            <a:prstDash val="solid"/>
          </a:ln>
        </p:spPr>
      </p:sp>
      <p:sp>
        <p:nvSpPr>
          <p:cNvPr id="32" name="Text 30"/>
          <p:cNvSpPr/>
          <p:nvPr/>
        </p:nvSpPr>
        <p:spPr>
          <a:xfrm>
            <a:off x="9991100"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5</a:t>
            </a:r>
            <a:endParaRPr lang="en-US" sz="1500" dirty="0"/>
          </a:p>
        </p:txBody>
      </p:sp>
      <p:sp>
        <p:nvSpPr>
          <p:cNvPr id="33" name="Text 31"/>
          <p:cNvSpPr/>
          <p:nvPr/>
        </p:nvSpPr>
        <p:spPr>
          <a:xfrm>
            <a:off x="9991100" y="2770632"/>
            <a:ext cx="1450787" cy="8229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S4 · revue</a:t>
            </a:r>
            <a:endParaRPr lang="en-US" sz="1700" dirty="0"/>
          </a:p>
        </p:txBody>
      </p:sp>
      <p:sp>
        <p:nvSpPr>
          <p:cNvPr id="34" name="Text 32"/>
          <p:cNvSpPr/>
          <p:nvPr/>
        </p:nvSpPr>
        <p:spPr>
          <a:xfrm>
            <a:off x="9991100" y="3611880"/>
            <a:ext cx="1450787" cy="132588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Défaut planté,</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conflit contrôlé</a:t>
            </a:r>
            <a:endParaRPr lang="en-US" sz="1500" dirty="0"/>
          </a:p>
        </p:txBody>
      </p:sp>
      <p:sp>
        <p:nvSpPr>
          <p:cNvPr id="35" name="Shape 33"/>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6" name="Shape 34"/>
          <p:cNvSpPr/>
          <p:nvPr/>
        </p:nvSpPr>
        <p:spPr>
          <a:xfrm>
            <a:off x="694944" y="5733288"/>
            <a:ext cx="292608" cy="292608"/>
          </a:xfrm>
          <a:prstGeom prst="ellipse">
            <a:avLst/>
          </a:prstGeom>
          <a:solidFill>
            <a:srgbClr val="FF9A3C"/>
          </a:solidFill>
          <a:ln w="12700">
            <a:solidFill>
              <a:srgbClr val="FF9A3C"/>
            </a:solidFill>
            <a:prstDash val="solid"/>
          </a:ln>
        </p:spPr>
      </p:sp>
      <p:sp>
        <p:nvSpPr>
          <p:cNvPr id="37" name="Text 35"/>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8" name="Text 36"/>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Chacun : des commits, au moins une PR comme auteur, une revue du partenaire.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REVUE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Une revue utile cite ce que VOUS avez vu</a:t>
            </a:r>
            <a:endParaRPr lang="en-US" sz="3000" dirty="0"/>
          </a:p>
        </p:txBody>
      </p:sp>
      <p:sp>
        <p:nvSpPr>
          <p:cNvPr id="6" name="Shape 4"/>
          <p:cNvSpPr/>
          <p:nvPr/>
        </p:nvSpPr>
        <p:spPr>
          <a:xfrm>
            <a:off x="548640" y="1783080"/>
            <a:ext cx="5166360" cy="3520440"/>
          </a:xfrm>
          <a:prstGeom prst="roundRect">
            <a:avLst>
              <a:gd name="adj" fmla="val 2597"/>
            </a:avLst>
          </a:prstGeom>
          <a:solidFill>
            <a:srgbClr val="FBEDEE"/>
          </a:solidFill>
          <a:ln w="9525">
            <a:solidFill>
              <a:srgbClr val="FBEDEE"/>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A12E39"/>
                </a:solidFill>
                <a:latin typeface="Arial" pitchFamily="34" charset="0"/>
                <a:ea typeface="Arial" pitchFamily="34" charset="-122"/>
                <a:cs typeface="Arial" pitchFamily="34" charset="-120"/>
              </a:rPr>
              <a:t>REVUE FAIBLE</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 OK, Codex dit qu'il n'y a aucun défaut. »</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REVUE UTILE</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 historique.py:42 : valid_to comparé avec &lt;=.</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Vente NBE du 2026-07-15 en Cap Bon.</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Non vérifié : le rejeu. → Request changes »</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On n'approuve que si les contrôles sont verts chez vous ET dans la CI.</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DÉPANNAGE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Une erreur Git se diagnostique, elle ne se force pas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578844"/>
                <a:gridCol w="2863075"/>
                <a:gridCol w="4652497"/>
              </a:tblGrid>
              <a:tr h="713232">
                <a:tc>
                  <a:txBody>
                    <a:bodyPr/>
                    <a:lstStyle/>
                    <a:p>
                      <a:pPr indent="0" marL="0">
                        <a:buNone/>
                      </a:pPr>
                      <a:r>
                        <a:rPr lang="en-US" sz="1500" b="1" dirty="0">
                          <a:solidFill>
                            <a:srgbClr val="FFFFFF"/>
                          </a:solidFill>
                          <a:latin typeface="Arial" pitchFamily="34" charset="0"/>
                          <a:ea typeface="Arial" pitchFamily="34" charset="-122"/>
                          <a:cs typeface="Arial" pitchFamily="34" charset="-120"/>
                        </a:rPr>
                        <a:t>Symptôme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Cause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Réparer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not a git repository</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mauvais dossier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cd ~/solen-bi puis git status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commit fait sur main</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branche oubliée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git switch -c &lt;branche&gt;, push, PR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push refusé : fetch first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main en retard</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git pull, contrôles, git push</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croix rouge sur la PR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CI échouée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Details, relancer chez soi, prompt 10</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CONFLICT … Merge conflict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mêmes lignes modifiées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prompt 15, décider à deux, contrôles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DÉPANNAGE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Jamais de raccourci destructif</a:t>
            </a:r>
            <a:endParaRPr lang="en-US" sz="3000" dirty="0"/>
          </a:p>
        </p:txBody>
      </p:sp>
      <p:sp>
        <p:nvSpPr>
          <p:cNvPr id="6" name="Shape 4"/>
          <p:cNvSpPr/>
          <p:nvPr/>
        </p:nvSpPr>
        <p:spPr>
          <a:xfrm>
            <a:off x="548640" y="2331720"/>
            <a:ext cx="11094415" cy="2514600"/>
          </a:xfrm>
          <a:prstGeom prst="roundRect">
            <a:avLst>
              <a:gd name="adj" fmla="val 3636"/>
            </a:avLst>
          </a:prstGeom>
          <a:solidFill>
            <a:srgbClr val="FBEDEE"/>
          </a:solidFill>
          <a:ln w="9525">
            <a:solidFill>
              <a:srgbClr val="A12E39"/>
            </a:solidFill>
            <a:prstDash val="solid"/>
          </a:ln>
        </p:spPr>
      </p:sp>
      <p:sp>
        <p:nvSpPr>
          <p:cNvPr id="7" name="Text 5"/>
          <p:cNvSpPr/>
          <p:nvPr/>
        </p:nvSpPr>
        <p:spPr>
          <a:xfrm>
            <a:off x="1005840" y="2468880"/>
            <a:ext cx="10180015" cy="1600200"/>
          </a:xfrm>
          <a:prstGeom prst="rect">
            <a:avLst/>
          </a:prstGeom>
          <a:noFill/>
          <a:ln/>
        </p:spPr>
        <p:txBody>
          <a:bodyPr wrap="square" lIns="0" tIns="0" rIns="0" bIns="0" rtlCol="0" anchor="ctr"/>
          <a:lstStyle/>
          <a:p>
            <a:pPr algn="ctr" indent="0" marL="0">
              <a:buNone/>
            </a:pPr>
            <a:r>
              <a:rPr lang="en-US" sz="2800" b="1" dirty="0">
                <a:solidFill>
                  <a:srgbClr val="A12E39"/>
                </a:solidFill>
                <a:latin typeface="Courier New" pitchFamily="34" charset="0"/>
                <a:ea typeface="Courier New" pitchFamily="34" charset="-122"/>
                <a:cs typeface="Courier New" pitchFamily="34" charset="-120"/>
              </a:rPr>
              <a:t>git push --force · git reset --hard</a:t>
            </a:r>
            <a:endParaRPr lang="en-US" sz="2800" dirty="0"/>
          </a:p>
          <a:p>
            <a:pPr algn="ctr" indent="0" marL="0">
              <a:buNone/>
            </a:pPr>
            <a:r>
              <a:rPr lang="en-US" sz="2800" b="1" dirty="0">
                <a:solidFill>
                  <a:srgbClr val="A12E39"/>
                </a:solidFill>
                <a:latin typeface="Courier New" pitchFamily="34" charset="0"/>
                <a:ea typeface="Courier New" pitchFamily="34" charset="-122"/>
                <a:cs typeface="Courier New" pitchFamily="34" charset="-120"/>
              </a:rPr>
              <a:t>supprimer .git · fusionner sa propre PR</a:t>
            </a:r>
            <a:endParaRPr lang="en-US" sz="2800" dirty="0"/>
          </a:p>
        </p:txBody>
      </p:sp>
      <p:sp>
        <p:nvSpPr>
          <p:cNvPr id="8" name="Text 6"/>
          <p:cNvSpPr/>
          <p:nvPr/>
        </p:nvSpPr>
        <p:spPr>
          <a:xfrm>
            <a:off x="1005840" y="4069080"/>
            <a:ext cx="10180015" cy="640080"/>
          </a:xfrm>
          <a:prstGeom prst="rect">
            <a:avLst/>
          </a:prstGeom>
          <a:noFill/>
          <a:ln/>
        </p:spPr>
        <p:txBody>
          <a:bodyPr wrap="square" lIns="0" tIns="0" rIns="0" bIns="0" rtlCol="0" anchor="ctr"/>
          <a:lstStyle/>
          <a:p>
            <a:pPr algn="ctr" indent="0" marL="0">
              <a:buNone/>
            </a:pPr>
            <a:r>
              <a:rPr lang="en-US" sz="2000" dirty="0">
                <a:solidFill>
                  <a:srgbClr val="1A1F4D"/>
                </a:solidFill>
                <a:latin typeface="Arial" pitchFamily="34" charset="0"/>
                <a:ea typeface="Arial" pitchFamily="34" charset="-122"/>
                <a:cs typeface="Arial" pitchFamily="34" charset="-120"/>
              </a:rPr>
              <a:t>Ils effacent du travail ou contournent la revue. En cas de doute : montrez git status au binôme.</a:t>
            </a:r>
            <a:endParaRPr lang="en-US" sz="20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GIT ET GITHUB  ·  GITHUB</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Deux « workflows » : même mot, deux choses</a:t>
            </a:r>
            <a:endParaRPr lang="en-US" sz="3000" dirty="0"/>
          </a:p>
        </p:txBody>
      </p:sp>
      <p:sp>
        <p:nvSpPr>
          <p:cNvPr id="6" name="Shape 4"/>
          <p:cNvSpPr/>
          <p:nvPr/>
        </p:nvSpPr>
        <p:spPr>
          <a:xfrm>
            <a:off x="548640" y="1783080"/>
            <a:ext cx="5166360" cy="3520440"/>
          </a:xfrm>
          <a:prstGeom prst="roundRect">
            <a:avLst>
              <a:gd name="adj" fmla="val 2597"/>
            </a:avLst>
          </a:prstGeom>
          <a:solidFill>
            <a:srgbClr val="F3F5FC"/>
          </a:solidFill>
          <a:ln w="9525">
            <a:solidFill>
              <a:srgbClr val="F3F5FC"/>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2B3180"/>
                </a:solidFill>
                <a:latin typeface="Arial" pitchFamily="34" charset="0"/>
                <a:ea typeface="Arial" pitchFamily="34" charset="-122"/>
                <a:cs typeface="Arial" pitchFamily="34" charset="-120"/>
              </a:rPr>
              <a:t>WORKFLOW DE TRAVAIL · VOUS</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Vos gestes, dans l'ordre :</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branche → PR → revue → merge.</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C'est vous qui le faites, à deux.</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WORKFLOW GITHUB ACTIONS · LA MACHINE</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Le fichier controles.yml.</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GitHub le lance seul à chaque PR, sur un Linux neuf : verifier + pytest.</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Onglet Actions.</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Dépôt public : protection de branche et CI gratuites sur GitHub Free · aucun jeton dans le dépôt.</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D</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D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Codex Free : diriger, pas taper</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Uniquement ce qu'un compte Free affiche · faits datés du 28/10/2026</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28 / 87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CODEX FREE · 28/10/2026</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Ce que la doc annonce pour Free</a:t>
            </a:r>
            <a:endParaRPr lang="en-US" sz="3000" dirty="0"/>
          </a:p>
        </p:txBody>
      </p:sp>
      <p:sp>
        <p:nvSpPr>
          <p:cNvPr id="6" name="Shape 4"/>
          <p:cNvSpPr/>
          <p:nvPr/>
        </p:nvSpPr>
        <p:spPr>
          <a:xfrm>
            <a:off x="548640" y="1828800"/>
            <a:ext cx="2567864" cy="3429000"/>
          </a:xfrm>
          <a:prstGeom prst="roundRect">
            <a:avLst>
              <a:gd name="adj" fmla="val 3561"/>
            </a:avLst>
          </a:prstGeom>
          <a:solidFill>
            <a:srgbClr val="F3F5FC"/>
          </a:solidFill>
          <a:ln w="9525">
            <a:solidFill>
              <a:srgbClr val="F3F5FC"/>
            </a:solidFill>
            <a:prstDash val="solid"/>
          </a:ln>
        </p:spPr>
      </p:sp>
      <p:sp>
        <p:nvSpPr>
          <p:cNvPr id="7" name="Shape 5"/>
          <p:cNvSpPr/>
          <p:nvPr/>
        </p:nvSpPr>
        <p:spPr>
          <a:xfrm>
            <a:off x="777240" y="2084832"/>
            <a:ext cx="457200" cy="457200"/>
          </a:xfrm>
          <a:prstGeom prst="ellipse">
            <a:avLst/>
          </a:prstGeom>
          <a:solidFill>
            <a:srgbClr val="2B3180"/>
          </a:solidFill>
          <a:ln w="12700">
            <a:solidFill>
              <a:srgbClr val="2B3180"/>
            </a:solidFill>
            <a:prstDash val="solid"/>
          </a:ln>
        </p:spPr>
      </p:sp>
      <p:sp>
        <p:nvSpPr>
          <p:cNvPr id="8" name="Text 6"/>
          <p:cNvSpPr/>
          <p:nvPr/>
        </p:nvSpPr>
        <p:spPr>
          <a:xfrm>
            <a:off x="777240"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777240"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Client</a:t>
            </a:r>
            <a:endParaRPr lang="en-US" sz="1900" dirty="0"/>
          </a:p>
        </p:txBody>
      </p:sp>
      <p:sp>
        <p:nvSpPr>
          <p:cNvPr id="10" name="Text 8"/>
          <p:cNvSpPr/>
          <p:nvPr/>
        </p:nvSpPr>
        <p:spPr>
          <a:xfrm>
            <a:off x="777240"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Application de bureau ChatGPT, mode Codex.</a:t>
            </a:r>
            <a:endParaRPr lang="en-US" sz="1600" dirty="0"/>
          </a:p>
        </p:txBody>
      </p:sp>
      <p:sp>
        <p:nvSpPr>
          <p:cNvPr id="11" name="Shape 9"/>
          <p:cNvSpPr/>
          <p:nvPr/>
        </p:nvSpPr>
        <p:spPr>
          <a:xfrm>
            <a:off x="3390824" y="1828800"/>
            <a:ext cx="2567864" cy="3429000"/>
          </a:xfrm>
          <a:prstGeom prst="roundRect">
            <a:avLst>
              <a:gd name="adj" fmla="val 3561"/>
            </a:avLst>
          </a:prstGeom>
          <a:solidFill>
            <a:srgbClr val="F3F5FC"/>
          </a:solidFill>
          <a:ln w="9525">
            <a:solidFill>
              <a:srgbClr val="F3F5FC"/>
            </a:solidFill>
            <a:prstDash val="solid"/>
          </a:ln>
        </p:spPr>
      </p:sp>
      <p:sp>
        <p:nvSpPr>
          <p:cNvPr id="12" name="Shape 10"/>
          <p:cNvSpPr/>
          <p:nvPr/>
        </p:nvSpPr>
        <p:spPr>
          <a:xfrm>
            <a:off x="3619424" y="2084832"/>
            <a:ext cx="457200" cy="457200"/>
          </a:xfrm>
          <a:prstGeom prst="ellipse">
            <a:avLst/>
          </a:prstGeom>
          <a:solidFill>
            <a:srgbClr val="2B3180"/>
          </a:solidFill>
          <a:ln w="12700">
            <a:solidFill>
              <a:srgbClr val="2B3180"/>
            </a:solidFill>
            <a:prstDash val="solid"/>
          </a:ln>
        </p:spPr>
      </p:sp>
      <p:sp>
        <p:nvSpPr>
          <p:cNvPr id="13" name="Text 11"/>
          <p:cNvSpPr/>
          <p:nvPr/>
        </p:nvSpPr>
        <p:spPr>
          <a:xfrm>
            <a:off x="3619424"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3619424"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Modèle</a:t>
            </a:r>
            <a:endParaRPr lang="en-US" sz="1900" dirty="0"/>
          </a:p>
        </p:txBody>
      </p:sp>
      <p:sp>
        <p:nvSpPr>
          <p:cNvPr id="15" name="Text 13"/>
          <p:cNvSpPr/>
          <p:nvPr/>
        </p:nvSpPr>
        <p:spPr>
          <a:xfrm>
            <a:off x="3619424"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GPT-6 Luna, « subject to rollout ».</a:t>
            </a:r>
            <a:endParaRPr lang="en-US" sz="1600" dirty="0"/>
          </a:p>
        </p:txBody>
      </p:sp>
      <p:sp>
        <p:nvSpPr>
          <p:cNvPr id="16" name="Shape 14"/>
          <p:cNvSpPr/>
          <p:nvPr/>
        </p:nvSpPr>
        <p:spPr>
          <a:xfrm>
            <a:off x="6233008" y="1828800"/>
            <a:ext cx="2567864" cy="3429000"/>
          </a:xfrm>
          <a:prstGeom prst="roundRect">
            <a:avLst>
              <a:gd name="adj" fmla="val 3561"/>
            </a:avLst>
          </a:prstGeom>
          <a:solidFill>
            <a:srgbClr val="F3F5FC"/>
          </a:solidFill>
          <a:ln w="9525">
            <a:solidFill>
              <a:srgbClr val="F3F5FC"/>
            </a:solidFill>
            <a:prstDash val="solid"/>
          </a:ln>
        </p:spPr>
      </p:sp>
      <p:sp>
        <p:nvSpPr>
          <p:cNvPr id="17" name="Shape 15"/>
          <p:cNvSpPr/>
          <p:nvPr/>
        </p:nvSpPr>
        <p:spPr>
          <a:xfrm>
            <a:off x="6461608" y="2084832"/>
            <a:ext cx="457200" cy="457200"/>
          </a:xfrm>
          <a:prstGeom prst="ellipse">
            <a:avLst/>
          </a:prstGeom>
          <a:solidFill>
            <a:srgbClr val="2B3180"/>
          </a:solidFill>
          <a:ln w="12700">
            <a:solidFill>
              <a:srgbClr val="2B3180"/>
            </a:solidFill>
            <a:prstDash val="solid"/>
          </a:ln>
        </p:spPr>
      </p:sp>
      <p:sp>
        <p:nvSpPr>
          <p:cNvPr id="18" name="Text 16"/>
          <p:cNvSpPr/>
          <p:nvPr/>
        </p:nvSpPr>
        <p:spPr>
          <a:xfrm>
            <a:off x="6461608"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6461608"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Vitesse</a:t>
            </a:r>
            <a:endParaRPr lang="en-US" sz="1900" dirty="0"/>
          </a:p>
        </p:txBody>
      </p:sp>
      <p:sp>
        <p:nvSpPr>
          <p:cNvPr id="20" name="Text 18"/>
          <p:cNvSpPr/>
          <p:nvPr/>
        </p:nvSpPr>
        <p:spPr>
          <a:xfrm>
            <a:off x="6461608"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Standard : une vitesse, pas un effort.</a:t>
            </a:r>
            <a:endParaRPr lang="en-US" sz="1600" dirty="0"/>
          </a:p>
        </p:txBody>
      </p:sp>
      <p:sp>
        <p:nvSpPr>
          <p:cNvPr id="21" name="Shape 19"/>
          <p:cNvSpPr/>
          <p:nvPr/>
        </p:nvSpPr>
        <p:spPr>
          <a:xfrm>
            <a:off x="9075191" y="1828800"/>
            <a:ext cx="2567864" cy="3429000"/>
          </a:xfrm>
          <a:prstGeom prst="roundRect">
            <a:avLst>
              <a:gd name="adj" fmla="val 3561"/>
            </a:avLst>
          </a:prstGeom>
          <a:solidFill>
            <a:srgbClr val="F3F5FC"/>
          </a:solidFill>
          <a:ln w="9525">
            <a:solidFill>
              <a:srgbClr val="F3F5FC"/>
            </a:solidFill>
            <a:prstDash val="solid"/>
          </a:ln>
        </p:spPr>
      </p:sp>
      <p:sp>
        <p:nvSpPr>
          <p:cNvPr id="22" name="Shape 20"/>
          <p:cNvSpPr/>
          <p:nvPr/>
        </p:nvSpPr>
        <p:spPr>
          <a:xfrm>
            <a:off x="9303791" y="2084832"/>
            <a:ext cx="457200" cy="457200"/>
          </a:xfrm>
          <a:prstGeom prst="ellipse">
            <a:avLst/>
          </a:prstGeom>
          <a:solidFill>
            <a:srgbClr val="2B3180"/>
          </a:solidFill>
          <a:ln w="12700">
            <a:solidFill>
              <a:srgbClr val="2B3180"/>
            </a:solidFill>
            <a:prstDash val="solid"/>
          </a:ln>
        </p:spPr>
      </p:sp>
      <p:sp>
        <p:nvSpPr>
          <p:cNvPr id="23" name="Text 21"/>
          <p:cNvSpPr/>
          <p:nvPr/>
        </p:nvSpPr>
        <p:spPr>
          <a:xfrm>
            <a:off x="9303791"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9303791"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CLI</a:t>
            </a:r>
            <a:endParaRPr lang="en-US" sz="1900" dirty="0"/>
          </a:p>
        </p:txBody>
      </p:sp>
      <p:sp>
        <p:nvSpPr>
          <p:cNvPr id="25" name="Text 23"/>
          <p:cNvSpPr/>
          <p:nvPr/>
        </p:nvSpPr>
        <p:spPr>
          <a:xfrm>
            <a:off x="9303791"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Listé à partir de Plus : facultatif ici.</a:t>
            </a:r>
            <a:endParaRPr lang="en-US" sz="1600" dirty="0"/>
          </a:p>
        </p:txBody>
      </p:sp>
      <p:sp>
        <p:nvSpPr>
          <p:cNvPr id="26" name="Shape 2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7" name="Shape 25"/>
          <p:cNvSpPr/>
          <p:nvPr/>
        </p:nvSpPr>
        <p:spPr>
          <a:xfrm>
            <a:off x="694944" y="5733288"/>
            <a:ext cx="292608" cy="292608"/>
          </a:xfrm>
          <a:prstGeom prst="ellipse">
            <a:avLst/>
          </a:prstGeom>
          <a:solidFill>
            <a:srgbClr val="FF9A3C"/>
          </a:solidFill>
          <a:ln w="12700">
            <a:solidFill>
              <a:srgbClr val="FF9A3C"/>
            </a:solidFill>
            <a:prstDash val="solid"/>
          </a:ln>
        </p:spPr>
      </p:sp>
      <p:sp>
        <p:nvSpPr>
          <p:cNvPr id="28" name="Text 2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9" name="Text 2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Votre écran fait foi : notez ce que VOTRE compte affiche.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CODEX FREE · 28/10/2026</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Quatre efforts : commencez par High</a:t>
            </a:r>
            <a:endParaRPr lang="en-US" sz="3000" dirty="0"/>
          </a:p>
        </p:txBody>
      </p:sp>
      <p:sp>
        <p:nvSpPr>
          <p:cNvPr id="6" name="Shape 4"/>
          <p:cNvSpPr/>
          <p:nvPr/>
        </p:nvSpPr>
        <p:spPr>
          <a:xfrm>
            <a:off x="548640" y="3749040"/>
            <a:ext cx="2567864" cy="1097280"/>
          </a:xfrm>
          <a:prstGeom prst="roundRect">
            <a:avLst>
              <a:gd name="adj" fmla="val 6667"/>
            </a:avLst>
          </a:prstGeom>
          <a:solidFill>
            <a:srgbClr val="F3F5FC"/>
          </a:solidFill>
          <a:ln w="9525">
            <a:solidFill>
              <a:srgbClr val="F3F5FC"/>
            </a:solidFill>
            <a:prstDash val="solid"/>
          </a:ln>
        </p:spPr>
      </p:sp>
      <p:sp>
        <p:nvSpPr>
          <p:cNvPr id="7" name="Text 5"/>
          <p:cNvSpPr/>
          <p:nvPr/>
        </p:nvSpPr>
        <p:spPr>
          <a:xfrm>
            <a:off x="685800" y="3886200"/>
            <a:ext cx="2293544" cy="548640"/>
          </a:xfrm>
          <a:prstGeom prst="rect">
            <a:avLst/>
          </a:prstGeom>
          <a:noFill/>
          <a:ln/>
        </p:spPr>
        <p:txBody>
          <a:bodyPr wrap="square" lIns="0" tIns="0" rIns="0" bIns="0" rtlCol="0" anchor="ctr"/>
          <a:lstStyle/>
          <a:p>
            <a:pPr algn="ctr" indent="0" marL="0">
              <a:buNone/>
            </a:pPr>
            <a:r>
              <a:rPr lang="en-US" sz="2400" b="1" dirty="0">
                <a:solidFill>
                  <a:srgbClr val="2B3180"/>
                </a:solidFill>
                <a:latin typeface="Arial" pitchFamily="34" charset="0"/>
                <a:ea typeface="Arial" pitchFamily="34" charset="-122"/>
                <a:cs typeface="Arial" pitchFamily="34" charset="-120"/>
              </a:rPr>
              <a:t>Light</a:t>
            </a:r>
            <a:endParaRPr lang="en-US" sz="2400" dirty="0"/>
          </a:p>
        </p:txBody>
      </p:sp>
      <p:sp>
        <p:nvSpPr>
          <p:cNvPr id="8" name="Text 6"/>
          <p:cNvSpPr/>
          <p:nvPr/>
        </p:nvSpPr>
        <p:spPr>
          <a:xfrm>
            <a:off x="548640" y="4956048"/>
            <a:ext cx="2567864" cy="411480"/>
          </a:xfrm>
          <a:prstGeom prst="rect">
            <a:avLst/>
          </a:prstGeom>
          <a:noFill/>
          <a:ln/>
        </p:spPr>
        <p:txBody>
          <a:bodyPr wrap="square" lIns="0" tIns="0" rIns="0" bIns="0" rtlCol="0" anchor="ctr"/>
          <a:lstStyle/>
          <a:p>
            <a:pPr algn="ctr" indent="0" marL="0">
              <a:buNone/>
            </a:pPr>
            <a:r>
              <a:rPr lang="en-US" sz="1600" dirty="0">
                <a:solidFill>
                  <a:srgbClr val="1A1F4D"/>
                </a:solidFill>
                <a:latin typeface="Arial" pitchFamily="34" charset="0"/>
                <a:ea typeface="Arial" pitchFamily="34" charset="-122"/>
                <a:cs typeface="Arial" pitchFamily="34" charset="-120"/>
              </a:rPr>
              <a:t>question courte</a:t>
            </a:r>
            <a:endParaRPr lang="en-US" sz="1600" dirty="0"/>
          </a:p>
        </p:txBody>
      </p:sp>
      <p:sp>
        <p:nvSpPr>
          <p:cNvPr id="9" name="Shape 7"/>
          <p:cNvSpPr/>
          <p:nvPr/>
        </p:nvSpPr>
        <p:spPr>
          <a:xfrm>
            <a:off x="3390824" y="3182112"/>
            <a:ext cx="2567864" cy="1664208"/>
          </a:xfrm>
          <a:prstGeom prst="roundRect">
            <a:avLst>
              <a:gd name="adj" fmla="val 4396"/>
            </a:avLst>
          </a:prstGeom>
          <a:solidFill>
            <a:srgbClr val="F3F5FC"/>
          </a:solidFill>
          <a:ln w="9525">
            <a:solidFill>
              <a:srgbClr val="F3F5FC"/>
            </a:solidFill>
            <a:prstDash val="solid"/>
          </a:ln>
        </p:spPr>
      </p:sp>
      <p:sp>
        <p:nvSpPr>
          <p:cNvPr id="10" name="Text 8"/>
          <p:cNvSpPr/>
          <p:nvPr/>
        </p:nvSpPr>
        <p:spPr>
          <a:xfrm>
            <a:off x="3527984" y="3319272"/>
            <a:ext cx="2293544" cy="548640"/>
          </a:xfrm>
          <a:prstGeom prst="rect">
            <a:avLst/>
          </a:prstGeom>
          <a:noFill/>
          <a:ln/>
        </p:spPr>
        <p:txBody>
          <a:bodyPr wrap="square" lIns="0" tIns="0" rIns="0" bIns="0" rtlCol="0" anchor="ctr"/>
          <a:lstStyle/>
          <a:p>
            <a:pPr algn="ctr" indent="0" marL="0">
              <a:buNone/>
            </a:pPr>
            <a:r>
              <a:rPr lang="en-US" sz="2400" b="1" dirty="0">
                <a:solidFill>
                  <a:srgbClr val="2B3180"/>
                </a:solidFill>
                <a:latin typeface="Arial" pitchFamily="34" charset="0"/>
                <a:ea typeface="Arial" pitchFamily="34" charset="-122"/>
                <a:cs typeface="Arial" pitchFamily="34" charset="-120"/>
              </a:rPr>
              <a:t>Medium</a:t>
            </a:r>
            <a:endParaRPr lang="en-US" sz="2400" dirty="0"/>
          </a:p>
        </p:txBody>
      </p:sp>
      <p:sp>
        <p:nvSpPr>
          <p:cNvPr id="11" name="Text 9"/>
          <p:cNvSpPr/>
          <p:nvPr/>
        </p:nvSpPr>
        <p:spPr>
          <a:xfrm>
            <a:off x="3390824" y="4956048"/>
            <a:ext cx="2567864" cy="411480"/>
          </a:xfrm>
          <a:prstGeom prst="rect">
            <a:avLst/>
          </a:prstGeom>
          <a:noFill/>
          <a:ln/>
        </p:spPr>
        <p:txBody>
          <a:bodyPr wrap="square" lIns="0" tIns="0" rIns="0" bIns="0" rtlCol="0" anchor="ctr"/>
          <a:lstStyle/>
          <a:p>
            <a:pPr algn="ctr" indent="0" marL="0">
              <a:buNone/>
            </a:pPr>
            <a:r>
              <a:rPr lang="en-US" sz="1600" dirty="0">
                <a:solidFill>
                  <a:srgbClr val="1A1F4D"/>
                </a:solidFill>
                <a:latin typeface="Arial" pitchFamily="34" charset="0"/>
                <a:ea typeface="Arial" pitchFamily="34" charset="-122"/>
                <a:cs typeface="Arial" pitchFamily="34" charset="-120"/>
              </a:rPr>
              <a:t>petite tâche cadrée</a:t>
            </a:r>
            <a:endParaRPr lang="en-US" sz="1600" dirty="0"/>
          </a:p>
        </p:txBody>
      </p:sp>
      <p:sp>
        <p:nvSpPr>
          <p:cNvPr id="12" name="Shape 10"/>
          <p:cNvSpPr/>
          <p:nvPr/>
        </p:nvSpPr>
        <p:spPr>
          <a:xfrm>
            <a:off x="6233008" y="2615184"/>
            <a:ext cx="2567864" cy="2231136"/>
          </a:xfrm>
          <a:prstGeom prst="roundRect">
            <a:avLst>
              <a:gd name="adj" fmla="val 3279"/>
            </a:avLst>
          </a:prstGeom>
          <a:solidFill>
            <a:srgbClr val="FF9A3C"/>
          </a:solidFill>
          <a:ln w="9525">
            <a:solidFill>
              <a:srgbClr val="FF9A3C"/>
            </a:solidFill>
            <a:prstDash val="solid"/>
          </a:ln>
        </p:spPr>
      </p:sp>
      <p:sp>
        <p:nvSpPr>
          <p:cNvPr id="13" name="Text 11"/>
          <p:cNvSpPr/>
          <p:nvPr/>
        </p:nvSpPr>
        <p:spPr>
          <a:xfrm>
            <a:off x="6370168" y="2752344"/>
            <a:ext cx="2293544" cy="548640"/>
          </a:xfrm>
          <a:prstGeom prst="rect">
            <a:avLst/>
          </a:prstGeom>
          <a:noFill/>
          <a:ln/>
        </p:spPr>
        <p:txBody>
          <a:bodyPr wrap="square" lIns="0" tIns="0" rIns="0" bIns="0" rtlCol="0" anchor="ctr"/>
          <a:lstStyle/>
          <a:p>
            <a:pPr algn="ctr" indent="0" marL="0">
              <a:buNone/>
            </a:pPr>
            <a:r>
              <a:rPr lang="en-US" sz="2400" b="1" dirty="0">
                <a:solidFill>
                  <a:srgbClr val="07152F"/>
                </a:solidFill>
                <a:latin typeface="Arial" pitchFamily="34" charset="0"/>
                <a:ea typeface="Arial" pitchFamily="34" charset="-122"/>
                <a:cs typeface="Arial" pitchFamily="34" charset="-120"/>
              </a:rPr>
              <a:t>High</a:t>
            </a:r>
            <a:endParaRPr lang="en-US" sz="2400" dirty="0"/>
          </a:p>
        </p:txBody>
      </p:sp>
      <p:sp>
        <p:nvSpPr>
          <p:cNvPr id="14" name="Text 12"/>
          <p:cNvSpPr/>
          <p:nvPr/>
        </p:nvSpPr>
        <p:spPr>
          <a:xfrm>
            <a:off x="6233008" y="4956048"/>
            <a:ext cx="2567864" cy="411480"/>
          </a:xfrm>
          <a:prstGeom prst="rect">
            <a:avLst/>
          </a:prstGeom>
          <a:noFill/>
          <a:ln/>
        </p:spPr>
        <p:txBody>
          <a:bodyPr wrap="square" lIns="0" tIns="0" rIns="0" bIns="0" rtlCol="0" anchor="ctr"/>
          <a:lstStyle/>
          <a:p>
            <a:pPr algn="ctr" indent="0" marL="0">
              <a:buNone/>
            </a:pPr>
            <a:r>
              <a:rPr lang="en-US" sz="1600" b="1" dirty="0">
                <a:solidFill>
                  <a:srgbClr val="1A1F4D"/>
                </a:solidFill>
                <a:latin typeface="Arial" pitchFamily="34" charset="0"/>
                <a:ea typeface="Arial" pitchFamily="34" charset="-122"/>
                <a:cs typeface="Arial" pitchFamily="34" charset="-120"/>
              </a:rPr>
              <a:t>point de départ</a:t>
            </a:r>
            <a:endParaRPr lang="en-US" sz="1600" dirty="0"/>
          </a:p>
        </p:txBody>
      </p:sp>
      <p:sp>
        <p:nvSpPr>
          <p:cNvPr id="15" name="Shape 13"/>
          <p:cNvSpPr/>
          <p:nvPr/>
        </p:nvSpPr>
        <p:spPr>
          <a:xfrm>
            <a:off x="9075191" y="2048256"/>
            <a:ext cx="2567864" cy="2798064"/>
          </a:xfrm>
          <a:prstGeom prst="roundRect">
            <a:avLst>
              <a:gd name="adj" fmla="val 2849"/>
            </a:avLst>
          </a:prstGeom>
          <a:solidFill>
            <a:srgbClr val="2B3180"/>
          </a:solidFill>
          <a:ln w="9525">
            <a:solidFill>
              <a:srgbClr val="2B3180"/>
            </a:solidFill>
            <a:prstDash val="solid"/>
          </a:ln>
        </p:spPr>
      </p:sp>
      <p:sp>
        <p:nvSpPr>
          <p:cNvPr id="16" name="Text 14"/>
          <p:cNvSpPr/>
          <p:nvPr/>
        </p:nvSpPr>
        <p:spPr>
          <a:xfrm>
            <a:off x="9212351" y="2185416"/>
            <a:ext cx="2293544"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Extra High</a:t>
            </a:r>
            <a:endParaRPr lang="en-US" sz="2400" dirty="0"/>
          </a:p>
        </p:txBody>
      </p:sp>
      <p:sp>
        <p:nvSpPr>
          <p:cNvPr id="17" name="Text 15"/>
          <p:cNvSpPr/>
          <p:nvPr/>
        </p:nvSpPr>
        <p:spPr>
          <a:xfrm>
            <a:off x="9075191" y="4956048"/>
            <a:ext cx="2567864" cy="411480"/>
          </a:xfrm>
          <a:prstGeom prst="rect">
            <a:avLst/>
          </a:prstGeom>
          <a:noFill/>
          <a:ln/>
        </p:spPr>
        <p:txBody>
          <a:bodyPr wrap="square" lIns="0" tIns="0" rIns="0" bIns="0" rtlCol="0" anchor="ctr"/>
          <a:lstStyle/>
          <a:p>
            <a:pPr algn="ctr" indent="0" marL="0">
              <a:buNone/>
            </a:pPr>
            <a:r>
              <a:rPr lang="en-US" sz="1600" dirty="0">
                <a:solidFill>
                  <a:srgbClr val="1A1F4D"/>
                </a:solidFill>
                <a:latin typeface="Arial" pitchFamily="34" charset="0"/>
                <a:ea typeface="Arial" pitchFamily="34" charset="-122"/>
                <a:cs typeface="Arial" pitchFamily="34" charset="-120"/>
              </a:rPr>
              <a:t>débogage bloqué</a:t>
            </a:r>
            <a:endParaRPr lang="en-US" sz="1600" dirty="0"/>
          </a:p>
        </p:txBody>
      </p:sp>
      <p:sp>
        <p:nvSpPr>
          <p:cNvPr id="18" name="Shape 16"/>
          <p:cNvSpPr/>
          <p:nvPr/>
        </p:nvSpPr>
        <p:spPr>
          <a:xfrm>
            <a:off x="6693979" y="2157984"/>
            <a:ext cx="1645920" cy="365760"/>
          </a:xfrm>
          <a:prstGeom prst="roundRect">
            <a:avLst>
              <a:gd name="adj" fmla="val 50000"/>
            </a:avLst>
          </a:prstGeom>
          <a:solidFill>
            <a:srgbClr val="07152F"/>
          </a:solidFill>
          <a:ln w="12700">
            <a:solidFill>
              <a:srgbClr val="07152F"/>
            </a:solidFill>
            <a:prstDash val="solid"/>
          </a:ln>
        </p:spPr>
      </p:sp>
      <p:sp>
        <p:nvSpPr>
          <p:cNvPr id="19" name="Text 17"/>
          <p:cNvSpPr/>
          <p:nvPr/>
        </p:nvSpPr>
        <p:spPr>
          <a:xfrm>
            <a:off x="6693979" y="2157984"/>
            <a:ext cx="1645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COMMENCER ICI</a:t>
            </a:r>
            <a:endParaRPr lang="en-US" sz="1400" dirty="0"/>
          </a:p>
        </p:txBody>
      </p:sp>
      <p:sp>
        <p:nvSpPr>
          <p:cNvPr id="20" name="Text 18"/>
          <p:cNvSpPr/>
          <p:nvPr/>
        </p:nvSpPr>
        <p:spPr>
          <a:xfrm>
            <a:off x="548640" y="1691640"/>
            <a:ext cx="6400800" cy="365760"/>
          </a:xfrm>
          <a:prstGeom prst="rect">
            <a:avLst/>
          </a:prstGeom>
          <a:noFill/>
          <a:ln/>
        </p:spPr>
        <p:txBody>
          <a:bodyPr wrap="square" lIns="0" tIns="0" rIns="0" bIns="0" rtlCol="0" anchor="ctr"/>
          <a:lstStyle/>
          <a:p>
            <a:pPr indent="0" marL="0">
              <a:buNone/>
            </a:pPr>
            <a:r>
              <a:rPr lang="en-US" sz="1500" b="1" dirty="0">
                <a:solidFill>
                  <a:srgbClr val="5A6478"/>
                </a:solidFill>
                <a:latin typeface="Arial" pitchFamily="34" charset="0"/>
                <a:ea typeface="Arial" pitchFamily="34" charset="-122"/>
                <a:cs typeface="Arial" pitchFamily="34" charset="-120"/>
              </a:rPr>
              <a:t>GPT-6 Luna · Standard = vitesse, réglée par l'offre</a:t>
            </a:r>
            <a:endParaRPr lang="en-US" sz="1500" dirty="0"/>
          </a:p>
        </p:txBody>
      </p:sp>
      <p:sp>
        <p:nvSpPr>
          <p:cNvPr id="21" name="Shape 19"/>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2" name="Shape 20"/>
          <p:cNvSpPr/>
          <p:nvPr/>
        </p:nvSpPr>
        <p:spPr>
          <a:xfrm>
            <a:off x="694944" y="5733288"/>
            <a:ext cx="292608" cy="292608"/>
          </a:xfrm>
          <a:prstGeom prst="ellipse">
            <a:avLst/>
          </a:prstGeom>
          <a:solidFill>
            <a:srgbClr val="FF9A3C"/>
          </a:solidFill>
          <a:ln w="12700">
            <a:solidFill>
              <a:srgbClr val="FF9A3C"/>
            </a:solidFill>
            <a:prstDash val="solid"/>
          </a:ln>
        </p:spPr>
      </p:sp>
      <p:sp>
        <p:nvSpPr>
          <p:cNvPr id="23" name="Text 21"/>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4" name="Text 22"/>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 Start with High for Luna. » Plus d'effort ne dispense jamais de la preuve.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RESSOURCES</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Tokens · contexte · effort · quota</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293247"/>
          </a:xfrm>
          <a:prstGeom prst="roundRect">
            <a:avLst>
              <a:gd name="adj" fmla="val 1278"/>
            </a:avLst>
          </a:prstGeom>
          <a:solidFill>
            <a:srgbClr val="FFFFFF"/>
          </a:solidFill>
          <a:ln w="9525">
            <a:solidFill>
              <a:srgbClr val="DCE2F0"/>
            </a:solidFill>
            <a:prstDash val="solid"/>
          </a:ln>
        </p:spPr>
      </p:sp>
      <p:pic>
        <p:nvPicPr>
          <p:cNvPr id="9" name="Image 0" descr="Tokens · contexte · effort · quota">    </p:cNvPr>
          <p:cNvPicPr>
            <a:picLocks noChangeAspect="1"/>
          </p:cNvPicPr>
          <p:nvPr/>
        </p:nvPicPr>
        <p:blipFill>
          <a:blip r:embed="rId1"/>
          <a:srcRect l="0" r="0" t="14583" b="31548"/>
          <a:stretch/>
        </p:blipFill>
        <p:spPr>
          <a:xfrm>
            <a:off x="548640" y="1371600"/>
            <a:ext cx="11094415" cy="4183519"/>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RESSOURCES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Six mots à ne pas confondre</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89422"/>
                <a:gridCol w="4652497"/>
                <a:gridCol w="4652497"/>
              </a:tblGrid>
              <a:tr h="6400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Mot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Ce que c'est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Le bon geste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640080">
                <a:tc>
                  <a:txBody>
                    <a:bodyPr/>
                    <a:lstStyle/>
                    <a:p>
                      <a:pPr indent="0" marL="0">
                        <a:buNone/>
                      </a:pPr>
                      <a:r>
                        <a:rPr lang="en-US" sz="1500" b="1" dirty="0">
                          <a:solidFill>
                            <a:srgbClr val="2B3180"/>
                          </a:solidFill>
                          <a:latin typeface="Arial" pitchFamily="34" charset="0"/>
                          <a:ea typeface="Arial" pitchFamily="34" charset="-122"/>
                          <a:cs typeface="Arial" pitchFamily="34" charset="-120"/>
                        </a:rPr>
                        <a:t>Modèle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GPT-6 Luna (annoncé Free)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sélecteur : choisir Luna</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640080">
                <a:tc>
                  <a:txBody>
                    <a:bodyPr/>
                    <a:lstStyle/>
                    <a:p>
                      <a:pPr indent="0" marL="0">
                        <a:buNone/>
                      </a:pPr>
                      <a:r>
                        <a:rPr lang="en-US" sz="1500" b="1" dirty="0">
                          <a:solidFill>
                            <a:srgbClr val="2B3180"/>
                          </a:solidFill>
                          <a:latin typeface="Arial" pitchFamily="34" charset="0"/>
                          <a:ea typeface="Arial" pitchFamily="34" charset="-122"/>
                          <a:cs typeface="Arial" pitchFamily="34" charset="-120"/>
                        </a:rPr>
                        <a:t>Effort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combien il réfléchit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commencer High</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B3180"/>
                          </a:solidFill>
                          <a:latin typeface="Arial" pitchFamily="34" charset="0"/>
                          <a:ea typeface="Arial" pitchFamily="34" charset="-122"/>
                          <a:cs typeface="Arial" pitchFamily="34" charset="-120"/>
                        </a:rPr>
                        <a:t>Vitesse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Standard, pas un effort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rien à régler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640080">
                <a:tc>
                  <a:txBody>
                    <a:bodyPr/>
                    <a:lstStyle/>
                    <a:p>
                      <a:pPr indent="0" marL="0">
                        <a:buNone/>
                      </a:pPr>
                      <a:r>
                        <a:rPr lang="en-US" sz="1500" b="1" dirty="0">
                          <a:solidFill>
                            <a:srgbClr val="2B3180"/>
                          </a:solidFill>
                          <a:latin typeface="Arial" pitchFamily="34" charset="0"/>
                          <a:ea typeface="Arial" pitchFamily="34" charset="-122"/>
                          <a:cs typeface="Arial" pitchFamily="34" charset="-120"/>
                        </a:rPr>
                        <a:t>Tokens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demande + fichiers + réponse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nommer le seul fichier utile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B3180"/>
                          </a:solidFill>
                          <a:latin typeface="Arial" pitchFamily="34" charset="0"/>
                          <a:ea typeface="Arial" pitchFamily="34" charset="-122"/>
                          <a:cs typeface="Arial" pitchFamily="34" charset="-120"/>
                        </a:rPr>
                        <a:t>Contexte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ce que le chat contient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note d'état, chat neuf</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640080">
                <a:tc>
                  <a:txBody>
                    <a:bodyPr/>
                    <a:lstStyle/>
                    <a:p>
                      <a:pPr indent="0" marL="0">
                        <a:buNone/>
                      </a:pPr>
                      <a:r>
                        <a:rPr lang="en-US" sz="1500" b="1" dirty="0">
                          <a:solidFill>
                            <a:srgbClr val="2B3180"/>
                          </a:solidFill>
                          <a:latin typeface="Arial" pitchFamily="34" charset="0"/>
                          <a:ea typeface="Arial" pitchFamily="34" charset="-122"/>
                          <a:cs typeface="Arial" pitchFamily="34" charset="-120"/>
                        </a:rPr>
                        <a:t>Quota</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usage permis sur une période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/status, tableau d'usage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LA FICHE TÂCHE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Fiche tâche 1/2 : quelle tâche, quel effort ?</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973359"/>
                <a:gridCol w="2486679"/>
                <a:gridCol w="3634377"/>
              </a:tblGrid>
              <a:tr h="468630">
                <a:tc>
                  <a:txBody>
                    <a:bodyPr/>
                    <a:lstStyle/>
                    <a:p>
                      <a:pPr indent="0" marL="0">
                        <a:buNone/>
                      </a:pPr>
                      <a:r>
                        <a:rPr lang="en-US" sz="1600" b="1" dirty="0">
                          <a:solidFill>
                            <a:srgbClr val="FFFFFF"/>
                          </a:solidFill>
                          <a:latin typeface="Arial" pitchFamily="34" charset="0"/>
                          <a:ea typeface="Arial" pitchFamily="34" charset="-122"/>
                          <a:cs typeface="Arial" pitchFamily="34" charset="-120"/>
                        </a:rPr>
                        <a:t>Tâche (exemple Solen)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Effort</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Raison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Comprendre le grain de fact_vente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relier fichiers et notions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Planifier outputs/rejets.csv</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découper avant d'écrire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Petite fonction : 18,500 → 18500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Medium ou High</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petit, bien délimité</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Intégrer python -m solen initial</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plusieurs modules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Déboguer « attendu 1960, observé 1966 »</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High → Extra High</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la cause, pas le symptôme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Revoir avec $revoir-bi</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trouver ce qui manque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Question courte : « valid_to ? »</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Light</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rien à relier</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7" name="Shape 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8" name="Shape 5"/>
          <p:cNvSpPr/>
          <p:nvPr/>
        </p:nvSpPr>
        <p:spPr>
          <a:xfrm>
            <a:off x="694944" y="5733288"/>
            <a:ext cx="292608" cy="292608"/>
          </a:xfrm>
          <a:prstGeom prst="ellipse">
            <a:avLst/>
          </a:prstGeom>
          <a:solidFill>
            <a:srgbClr val="FF9A3C"/>
          </a:solidFill>
          <a:ln w="12700">
            <a:solidFill>
              <a:srgbClr val="FF9A3C"/>
            </a:solidFill>
            <a:prstDash val="solid"/>
          </a:ln>
        </p:spPr>
      </p:sp>
      <p:sp>
        <p:nvSpPr>
          <p:cNvPr id="9" name="Text 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0" name="Text 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Un seul modèle annoncé pour Free, GPT-6 Luna : seul l’effort change.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LA FICHE TÂCHE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Fiche tâche 2/2 : quelle preuve attendue ?</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547208"/>
                <a:gridCol w="5547208"/>
              </a:tblGrid>
              <a:tr h="468630">
                <a:tc>
                  <a:txBody>
                    <a:bodyPr/>
                    <a:lstStyle/>
                    <a:p>
                      <a:pPr indent="0" marL="0">
                        <a:buNone/>
                      </a:pPr>
                      <a:r>
                        <a:rPr lang="en-US" sz="1600" b="1" dirty="0">
                          <a:solidFill>
                            <a:srgbClr val="FFFFFF"/>
                          </a:solidFill>
                          <a:latin typeface="Arial" pitchFamily="34" charset="0"/>
                          <a:ea typeface="Arial" pitchFamily="34" charset="-122"/>
                          <a:cs typeface="Arial" pitchFamily="34" charset="-120"/>
                        </a:rPr>
                        <a:t>Tâche (exemple Solen)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Preuve attendue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Comprendre le grain de fact_vente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vous l'expliquez sans l'écran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Planifier outputs/rejets.csv</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3 à 5 étapes, un contrôle chacune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Petite fonction : 18,500 → 18500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diff lu + test vert</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Intégrer python -m solen initial</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--etape initial OK</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Déboguer « attendu 1960, observé 1966 »</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erreur reproduite puis disparue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Revoir avec $revoir-bi</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constats fichier:ligne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468630">
                <a:tc>
                  <a:txBody>
                    <a:bodyPr/>
                    <a:lstStyle/>
                    <a:p>
                      <a:pPr indent="0" marL="0">
                        <a:buNone/>
                      </a:pPr>
                      <a:r>
                        <a:rPr lang="en-US" sz="1600" b="1" dirty="0">
                          <a:solidFill>
                            <a:srgbClr val="2B3180"/>
                          </a:solidFill>
                          <a:latin typeface="Arial" pitchFamily="34" charset="0"/>
                          <a:ea typeface="Arial" pitchFamily="34" charset="-122"/>
                          <a:cs typeface="Arial" pitchFamily="34" charset="-120"/>
                        </a:rPr>
                        <a:t>Question courte : « valid_to ? »</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vous reformulez</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7" name="Shape 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8" name="Shape 5"/>
          <p:cNvSpPr/>
          <p:nvPr/>
        </p:nvSpPr>
        <p:spPr>
          <a:xfrm>
            <a:off x="694944" y="5733288"/>
            <a:ext cx="292608" cy="292608"/>
          </a:xfrm>
          <a:prstGeom prst="ellipse">
            <a:avLst/>
          </a:prstGeom>
          <a:solidFill>
            <a:srgbClr val="FF9A3C"/>
          </a:solidFill>
          <a:ln w="12700">
            <a:solidFill>
              <a:srgbClr val="FF9A3C"/>
            </a:solidFill>
            <a:prstDash val="solid"/>
          </a:ln>
        </p:spPr>
      </p:sp>
      <p:sp>
        <p:nvSpPr>
          <p:cNvPr id="9" name="Text 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0" name="Text 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Pas de preuve, pas de fusion. Le schéma v7-tache-modele-effort est dans le livret 03.</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MÉTHODE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Les huit habitudes</a:t>
            </a:r>
            <a:endParaRPr lang="en-US" sz="3000" dirty="0"/>
          </a:p>
        </p:txBody>
      </p:sp>
      <p:sp>
        <p:nvSpPr>
          <p:cNvPr id="6" name="Shape 4"/>
          <p:cNvSpPr/>
          <p:nvPr/>
        </p:nvSpPr>
        <p:spPr>
          <a:xfrm>
            <a:off x="548640" y="1737360"/>
            <a:ext cx="2622728" cy="2139696"/>
          </a:xfrm>
          <a:prstGeom prst="roundRect">
            <a:avLst>
              <a:gd name="adj" fmla="val 4274"/>
            </a:avLst>
          </a:prstGeom>
          <a:solidFill>
            <a:srgbClr val="F3F5FC"/>
          </a:solidFill>
          <a:ln w="9525">
            <a:solidFill>
              <a:srgbClr val="F3F5FC"/>
            </a:solidFill>
            <a:prstDash val="solid"/>
          </a:ln>
        </p:spPr>
      </p:sp>
      <p:sp>
        <p:nvSpPr>
          <p:cNvPr id="7" name="Shape 5"/>
          <p:cNvSpPr/>
          <p:nvPr/>
        </p:nvSpPr>
        <p:spPr>
          <a:xfrm>
            <a:off x="713232" y="1901952"/>
            <a:ext cx="457200" cy="457200"/>
          </a:xfrm>
          <a:prstGeom prst="ellipse">
            <a:avLst/>
          </a:prstGeom>
          <a:solidFill>
            <a:srgbClr val="2B3180"/>
          </a:solidFill>
          <a:ln w="12700">
            <a:solidFill>
              <a:srgbClr val="2B3180"/>
            </a:solidFill>
            <a:prstDash val="solid"/>
          </a:ln>
        </p:spPr>
      </p:sp>
      <p:sp>
        <p:nvSpPr>
          <p:cNvPr id="8" name="Text 6"/>
          <p:cNvSpPr/>
          <p:nvPr/>
        </p:nvSpPr>
        <p:spPr>
          <a:xfrm>
            <a:off x="713232"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298448" y="1883664"/>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Être précis</a:t>
            </a:r>
            <a:endParaRPr lang="en-US" sz="1800" dirty="0"/>
          </a:p>
        </p:txBody>
      </p:sp>
      <p:sp>
        <p:nvSpPr>
          <p:cNvPr id="10" name="Text 8"/>
          <p:cNvSpPr/>
          <p:nvPr/>
        </p:nvSpPr>
        <p:spPr>
          <a:xfrm>
            <a:off x="731520" y="2560320"/>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résultat, fichiers, contrôle, prévision</a:t>
            </a:r>
            <a:endParaRPr lang="en-US" sz="1600" dirty="0"/>
          </a:p>
        </p:txBody>
      </p:sp>
      <p:sp>
        <p:nvSpPr>
          <p:cNvPr id="11" name="Shape 9"/>
          <p:cNvSpPr/>
          <p:nvPr/>
        </p:nvSpPr>
        <p:spPr>
          <a:xfrm>
            <a:off x="3372536" y="1737360"/>
            <a:ext cx="2622728" cy="2139696"/>
          </a:xfrm>
          <a:prstGeom prst="roundRect">
            <a:avLst>
              <a:gd name="adj" fmla="val 4274"/>
            </a:avLst>
          </a:prstGeom>
          <a:solidFill>
            <a:srgbClr val="F3F5FC"/>
          </a:solidFill>
          <a:ln w="9525">
            <a:solidFill>
              <a:srgbClr val="F3F5FC"/>
            </a:solidFill>
            <a:prstDash val="solid"/>
          </a:ln>
        </p:spPr>
      </p:sp>
      <p:sp>
        <p:nvSpPr>
          <p:cNvPr id="12" name="Shape 10"/>
          <p:cNvSpPr/>
          <p:nvPr/>
        </p:nvSpPr>
        <p:spPr>
          <a:xfrm>
            <a:off x="3537128" y="1901952"/>
            <a:ext cx="457200" cy="457200"/>
          </a:xfrm>
          <a:prstGeom prst="ellipse">
            <a:avLst/>
          </a:prstGeom>
          <a:solidFill>
            <a:srgbClr val="2B3180"/>
          </a:solidFill>
          <a:ln w="12700">
            <a:solidFill>
              <a:srgbClr val="2B3180"/>
            </a:solidFill>
            <a:prstDash val="solid"/>
          </a:ln>
        </p:spPr>
      </p:sp>
      <p:sp>
        <p:nvSpPr>
          <p:cNvPr id="13" name="Text 11"/>
          <p:cNvSpPr/>
          <p:nvPr/>
        </p:nvSpPr>
        <p:spPr>
          <a:xfrm>
            <a:off x="3537128"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4122344" y="1883664"/>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Plan court</a:t>
            </a:r>
            <a:endParaRPr lang="en-US" sz="1800" dirty="0"/>
          </a:p>
        </p:txBody>
      </p:sp>
      <p:sp>
        <p:nvSpPr>
          <p:cNvPr id="15" name="Text 13"/>
          <p:cNvSpPr/>
          <p:nvPr/>
        </p:nvSpPr>
        <p:spPr>
          <a:xfrm>
            <a:off x="3555416" y="2560320"/>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3 à 5 étapes, une à la fois</a:t>
            </a:r>
            <a:endParaRPr lang="en-US" sz="1600" dirty="0"/>
          </a:p>
        </p:txBody>
      </p:sp>
      <p:sp>
        <p:nvSpPr>
          <p:cNvPr id="16" name="Shape 14"/>
          <p:cNvSpPr/>
          <p:nvPr/>
        </p:nvSpPr>
        <p:spPr>
          <a:xfrm>
            <a:off x="6196432" y="1737360"/>
            <a:ext cx="2622728" cy="2139696"/>
          </a:xfrm>
          <a:prstGeom prst="roundRect">
            <a:avLst>
              <a:gd name="adj" fmla="val 4274"/>
            </a:avLst>
          </a:prstGeom>
          <a:solidFill>
            <a:srgbClr val="F3F5FC"/>
          </a:solidFill>
          <a:ln w="9525">
            <a:solidFill>
              <a:srgbClr val="F3F5FC"/>
            </a:solidFill>
            <a:prstDash val="solid"/>
          </a:ln>
        </p:spPr>
      </p:sp>
      <p:sp>
        <p:nvSpPr>
          <p:cNvPr id="17" name="Shape 15"/>
          <p:cNvSpPr/>
          <p:nvPr/>
        </p:nvSpPr>
        <p:spPr>
          <a:xfrm>
            <a:off x="6361024" y="1901952"/>
            <a:ext cx="457200" cy="457200"/>
          </a:xfrm>
          <a:prstGeom prst="ellipse">
            <a:avLst/>
          </a:prstGeom>
          <a:solidFill>
            <a:srgbClr val="2B3180"/>
          </a:solidFill>
          <a:ln w="12700">
            <a:solidFill>
              <a:srgbClr val="2B3180"/>
            </a:solidFill>
            <a:prstDash val="solid"/>
          </a:ln>
        </p:spPr>
      </p:sp>
      <p:sp>
        <p:nvSpPr>
          <p:cNvPr id="18" name="Text 16"/>
          <p:cNvSpPr/>
          <p:nvPr/>
        </p:nvSpPr>
        <p:spPr>
          <a:xfrm>
            <a:off x="6361024"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6946240" y="1883664"/>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Diff + contrôle</a:t>
            </a:r>
            <a:endParaRPr lang="en-US" sz="1800" dirty="0"/>
          </a:p>
        </p:txBody>
      </p:sp>
      <p:sp>
        <p:nvSpPr>
          <p:cNvPr id="20" name="Text 18"/>
          <p:cNvSpPr/>
          <p:nvPr/>
        </p:nvSpPr>
        <p:spPr>
          <a:xfrm>
            <a:off x="6379312" y="2560320"/>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déterministe, pas « tout est bon ? »</a:t>
            </a:r>
            <a:endParaRPr lang="en-US" sz="1600" dirty="0"/>
          </a:p>
        </p:txBody>
      </p:sp>
      <p:sp>
        <p:nvSpPr>
          <p:cNvPr id="21" name="Shape 19"/>
          <p:cNvSpPr/>
          <p:nvPr/>
        </p:nvSpPr>
        <p:spPr>
          <a:xfrm>
            <a:off x="9020327" y="1737360"/>
            <a:ext cx="2622728" cy="2139696"/>
          </a:xfrm>
          <a:prstGeom prst="roundRect">
            <a:avLst>
              <a:gd name="adj" fmla="val 4274"/>
            </a:avLst>
          </a:prstGeom>
          <a:solidFill>
            <a:srgbClr val="F3F5FC"/>
          </a:solidFill>
          <a:ln w="9525">
            <a:solidFill>
              <a:srgbClr val="F3F5FC"/>
            </a:solidFill>
            <a:prstDash val="solid"/>
          </a:ln>
        </p:spPr>
      </p:sp>
      <p:sp>
        <p:nvSpPr>
          <p:cNvPr id="22" name="Shape 20"/>
          <p:cNvSpPr/>
          <p:nvPr/>
        </p:nvSpPr>
        <p:spPr>
          <a:xfrm>
            <a:off x="9184919" y="1901952"/>
            <a:ext cx="457200" cy="457200"/>
          </a:xfrm>
          <a:prstGeom prst="ellipse">
            <a:avLst/>
          </a:prstGeom>
          <a:solidFill>
            <a:srgbClr val="2B3180"/>
          </a:solidFill>
          <a:ln w="12700">
            <a:solidFill>
              <a:srgbClr val="2B3180"/>
            </a:solidFill>
            <a:prstDash val="solid"/>
          </a:ln>
        </p:spPr>
      </p:sp>
      <p:sp>
        <p:nvSpPr>
          <p:cNvPr id="23" name="Text 21"/>
          <p:cNvSpPr/>
          <p:nvPr/>
        </p:nvSpPr>
        <p:spPr>
          <a:xfrm>
            <a:off x="9184919"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2"/>
          <p:cNvSpPr/>
          <p:nvPr/>
        </p:nvSpPr>
        <p:spPr>
          <a:xfrm>
            <a:off x="9770135" y="1883664"/>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Note courte</a:t>
            </a:r>
            <a:endParaRPr lang="en-US" sz="1800" dirty="0"/>
          </a:p>
        </p:txBody>
      </p:sp>
      <p:sp>
        <p:nvSpPr>
          <p:cNvPr id="25" name="Text 23"/>
          <p:cNvSpPr/>
          <p:nvPr/>
        </p:nvSpPr>
        <p:spPr>
          <a:xfrm>
            <a:off x="9203207" y="2560320"/>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état · décision · preuve · objectif</a:t>
            </a:r>
            <a:endParaRPr lang="en-US" sz="1600" dirty="0"/>
          </a:p>
        </p:txBody>
      </p:sp>
      <p:sp>
        <p:nvSpPr>
          <p:cNvPr id="26" name="Shape 24"/>
          <p:cNvSpPr/>
          <p:nvPr/>
        </p:nvSpPr>
        <p:spPr>
          <a:xfrm>
            <a:off x="548640" y="4078224"/>
            <a:ext cx="2622728" cy="2139696"/>
          </a:xfrm>
          <a:prstGeom prst="roundRect">
            <a:avLst>
              <a:gd name="adj" fmla="val 4274"/>
            </a:avLst>
          </a:prstGeom>
          <a:solidFill>
            <a:srgbClr val="F3F5FC"/>
          </a:solidFill>
          <a:ln w="9525">
            <a:solidFill>
              <a:srgbClr val="F3F5FC"/>
            </a:solidFill>
            <a:prstDash val="solid"/>
          </a:ln>
        </p:spPr>
      </p:sp>
      <p:sp>
        <p:nvSpPr>
          <p:cNvPr id="27" name="Shape 25"/>
          <p:cNvSpPr/>
          <p:nvPr/>
        </p:nvSpPr>
        <p:spPr>
          <a:xfrm>
            <a:off x="713232" y="4242816"/>
            <a:ext cx="457200" cy="457200"/>
          </a:xfrm>
          <a:prstGeom prst="ellipse">
            <a:avLst/>
          </a:prstGeom>
          <a:solidFill>
            <a:srgbClr val="2B3180"/>
          </a:solidFill>
          <a:ln w="12700">
            <a:solidFill>
              <a:srgbClr val="2B3180"/>
            </a:solidFill>
            <a:prstDash val="solid"/>
          </a:ln>
        </p:spPr>
      </p:sp>
      <p:sp>
        <p:nvSpPr>
          <p:cNvPr id="28" name="Text 26"/>
          <p:cNvSpPr/>
          <p:nvPr/>
        </p:nvSpPr>
        <p:spPr>
          <a:xfrm>
            <a:off x="713232"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9" name="Text 27"/>
          <p:cNvSpPr/>
          <p:nvPr/>
        </p:nvSpPr>
        <p:spPr>
          <a:xfrm>
            <a:off x="1298448" y="4224528"/>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Six mots</a:t>
            </a:r>
            <a:endParaRPr lang="en-US" sz="1800" dirty="0"/>
          </a:p>
        </p:txBody>
      </p:sp>
      <p:sp>
        <p:nvSpPr>
          <p:cNvPr id="30" name="Text 28"/>
          <p:cNvSpPr/>
          <p:nvPr/>
        </p:nvSpPr>
        <p:spPr>
          <a:xfrm>
            <a:off x="731520" y="4901184"/>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tokens ≠ contexte ≠ effort ≠ quota</a:t>
            </a:r>
            <a:endParaRPr lang="en-US" sz="1600" dirty="0"/>
          </a:p>
        </p:txBody>
      </p:sp>
      <p:sp>
        <p:nvSpPr>
          <p:cNvPr id="31" name="Shape 29"/>
          <p:cNvSpPr/>
          <p:nvPr/>
        </p:nvSpPr>
        <p:spPr>
          <a:xfrm>
            <a:off x="3372536" y="4078224"/>
            <a:ext cx="2622728" cy="2139696"/>
          </a:xfrm>
          <a:prstGeom prst="roundRect">
            <a:avLst>
              <a:gd name="adj" fmla="val 4274"/>
            </a:avLst>
          </a:prstGeom>
          <a:solidFill>
            <a:srgbClr val="F3F5FC"/>
          </a:solidFill>
          <a:ln w="9525">
            <a:solidFill>
              <a:srgbClr val="F3F5FC"/>
            </a:solidFill>
            <a:prstDash val="solid"/>
          </a:ln>
        </p:spPr>
      </p:sp>
      <p:sp>
        <p:nvSpPr>
          <p:cNvPr id="32" name="Shape 30"/>
          <p:cNvSpPr/>
          <p:nvPr/>
        </p:nvSpPr>
        <p:spPr>
          <a:xfrm>
            <a:off x="3537128" y="4242816"/>
            <a:ext cx="457200" cy="457200"/>
          </a:xfrm>
          <a:prstGeom prst="ellipse">
            <a:avLst/>
          </a:prstGeom>
          <a:solidFill>
            <a:srgbClr val="2B3180"/>
          </a:solidFill>
          <a:ln w="12700">
            <a:solidFill>
              <a:srgbClr val="2B3180"/>
            </a:solidFill>
            <a:prstDash val="solid"/>
          </a:ln>
        </p:spPr>
      </p:sp>
      <p:sp>
        <p:nvSpPr>
          <p:cNvPr id="33" name="Text 31"/>
          <p:cNvSpPr/>
          <p:nvPr/>
        </p:nvSpPr>
        <p:spPr>
          <a:xfrm>
            <a:off x="3537128"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4" name="Text 32"/>
          <p:cNvSpPr/>
          <p:nvPr/>
        </p:nvSpPr>
        <p:spPr>
          <a:xfrm>
            <a:off x="4122344" y="4224528"/>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Revue → fix</a:t>
            </a:r>
            <a:endParaRPr lang="en-US" sz="1800" dirty="0"/>
          </a:p>
        </p:txBody>
      </p:sp>
      <p:sp>
        <p:nvSpPr>
          <p:cNvPr id="35" name="Text 33"/>
          <p:cNvSpPr/>
          <p:nvPr/>
        </p:nvSpPr>
        <p:spPr>
          <a:xfrm>
            <a:off x="3555416" y="4901184"/>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lecture seule, correction, recontrôle</a:t>
            </a:r>
            <a:endParaRPr lang="en-US" sz="1600" dirty="0"/>
          </a:p>
        </p:txBody>
      </p:sp>
      <p:sp>
        <p:nvSpPr>
          <p:cNvPr id="36" name="Shape 34"/>
          <p:cNvSpPr/>
          <p:nvPr/>
        </p:nvSpPr>
        <p:spPr>
          <a:xfrm>
            <a:off x="6196432" y="4078224"/>
            <a:ext cx="2622728" cy="2139696"/>
          </a:xfrm>
          <a:prstGeom prst="roundRect">
            <a:avLst>
              <a:gd name="adj" fmla="val 4274"/>
            </a:avLst>
          </a:prstGeom>
          <a:solidFill>
            <a:srgbClr val="F3F5FC"/>
          </a:solidFill>
          <a:ln w="9525">
            <a:solidFill>
              <a:srgbClr val="F3F5FC"/>
            </a:solidFill>
            <a:prstDash val="solid"/>
          </a:ln>
        </p:spPr>
      </p:sp>
      <p:sp>
        <p:nvSpPr>
          <p:cNvPr id="37" name="Shape 35"/>
          <p:cNvSpPr/>
          <p:nvPr/>
        </p:nvSpPr>
        <p:spPr>
          <a:xfrm>
            <a:off x="6361024" y="4242816"/>
            <a:ext cx="457200" cy="457200"/>
          </a:xfrm>
          <a:prstGeom prst="ellipse">
            <a:avLst/>
          </a:prstGeom>
          <a:solidFill>
            <a:srgbClr val="2B3180"/>
          </a:solidFill>
          <a:ln w="12700">
            <a:solidFill>
              <a:srgbClr val="2B3180"/>
            </a:solidFill>
            <a:prstDash val="solid"/>
          </a:ln>
        </p:spPr>
      </p:sp>
      <p:sp>
        <p:nvSpPr>
          <p:cNvPr id="38" name="Text 36"/>
          <p:cNvSpPr/>
          <p:nvPr/>
        </p:nvSpPr>
        <p:spPr>
          <a:xfrm>
            <a:off x="6361024"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39" name="Text 37"/>
          <p:cNvSpPr/>
          <p:nvPr/>
        </p:nvSpPr>
        <p:spPr>
          <a:xfrm>
            <a:off x="6946240" y="4224528"/>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AGENTS.md + Skills</a:t>
            </a:r>
            <a:endParaRPr lang="en-US" sz="1800" dirty="0"/>
          </a:p>
        </p:txBody>
      </p:sp>
      <p:sp>
        <p:nvSpPr>
          <p:cNvPr id="40" name="Text 38"/>
          <p:cNvSpPr/>
          <p:nvPr/>
        </p:nvSpPr>
        <p:spPr>
          <a:xfrm>
            <a:off x="6379312" y="4901184"/>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règles et méthodes du dépôt</a:t>
            </a:r>
            <a:endParaRPr lang="en-US" sz="1600" dirty="0"/>
          </a:p>
        </p:txBody>
      </p:sp>
      <p:sp>
        <p:nvSpPr>
          <p:cNvPr id="41" name="Shape 39"/>
          <p:cNvSpPr/>
          <p:nvPr/>
        </p:nvSpPr>
        <p:spPr>
          <a:xfrm>
            <a:off x="9020327" y="4078224"/>
            <a:ext cx="2622728" cy="2139696"/>
          </a:xfrm>
          <a:prstGeom prst="roundRect">
            <a:avLst>
              <a:gd name="adj" fmla="val 4274"/>
            </a:avLst>
          </a:prstGeom>
          <a:solidFill>
            <a:srgbClr val="F3F5FC"/>
          </a:solidFill>
          <a:ln w="9525">
            <a:solidFill>
              <a:srgbClr val="F3F5FC"/>
            </a:solidFill>
            <a:prstDash val="solid"/>
          </a:ln>
        </p:spPr>
      </p:sp>
      <p:sp>
        <p:nvSpPr>
          <p:cNvPr id="42" name="Shape 40"/>
          <p:cNvSpPr/>
          <p:nvPr/>
        </p:nvSpPr>
        <p:spPr>
          <a:xfrm>
            <a:off x="9184919" y="4242816"/>
            <a:ext cx="457200" cy="457200"/>
          </a:xfrm>
          <a:prstGeom prst="ellipse">
            <a:avLst/>
          </a:prstGeom>
          <a:solidFill>
            <a:srgbClr val="2B3180"/>
          </a:solidFill>
          <a:ln w="12700">
            <a:solidFill>
              <a:srgbClr val="2B3180"/>
            </a:solidFill>
            <a:prstDash val="solid"/>
          </a:ln>
        </p:spPr>
      </p:sp>
      <p:sp>
        <p:nvSpPr>
          <p:cNvPr id="43" name="Text 41"/>
          <p:cNvSpPr/>
          <p:nvPr/>
        </p:nvSpPr>
        <p:spPr>
          <a:xfrm>
            <a:off x="9184919"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44" name="Text 42"/>
          <p:cNvSpPr/>
          <p:nvPr/>
        </p:nvSpPr>
        <p:spPr>
          <a:xfrm>
            <a:off x="9770135" y="4224528"/>
            <a:ext cx="1726616"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Parallèle ?</a:t>
            </a:r>
            <a:endParaRPr lang="en-US" sz="1800" dirty="0"/>
          </a:p>
        </p:txBody>
      </p:sp>
      <p:sp>
        <p:nvSpPr>
          <p:cNvPr id="45" name="Text 43"/>
          <p:cNvSpPr/>
          <p:nvPr/>
        </p:nvSpPr>
        <p:spPr>
          <a:xfrm>
            <a:off x="9203207" y="4901184"/>
            <a:ext cx="2256968" cy="122529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seulement si utile et proposé</a:t>
            </a:r>
            <a:endParaRPr lang="en-US" sz="16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MÉTHODE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Habitude 1 : une demande précise</a:t>
            </a:r>
            <a:endParaRPr lang="en-US" sz="3000" dirty="0"/>
          </a:p>
        </p:txBody>
      </p:sp>
      <p:sp>
        <p:nvSpPr>
          <p:cNvPr id="6" name="Shape 4"/>
          <p:cNvSpPr/>
          <p:nvPr/>
        </p:nvSpPr>
        <p:spPr>
          <a:xfrm>
            <a:off x="548640" y="1783080"/>
            <a:ext cx="5166360" cy="3520440"/>
          </a:xfrm>
          <a:prstGeom prst="roundRect">
            <a:avLst>
              <a:gd name="adj" fmla="val 2597"/>
            </a:avLst>
          </a:prstGeom>
          <a:solidFill>
            <a:srgbClr val="FBEDEE"/>
          </a:solidFill>
          <a:ln w="9525">
            <a:solidFill>
              <a:srgbClr val="FBEDEE"/>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A12E39"/>
                </a:solidFill>
                <a:latin typeface="Arial" pitchFamily="34" charset="0"/>
                <a:ea typeface="Arial" pitchFamily="34" charset="-122"/>
                <a:cs typeface="Arial" pitchFamily="34" charset="-120"/>
              </a:rPr>
              <a:t>FLOUE</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 Fais le nettoyage des ventes. »</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PRÉCISE</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 Rejette les quantités ≤ 0, motif quantite_invalide, dans outputs/rejets.csv.</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Sources et controles/ intacts.</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Je prévois 1 rejet (E-009-1). »</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Objectif observable · fichiers à toucher et à ne pas toucher · contrôle · votre prévision.</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MÉTHODE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Habitude 6 : revue → correction → revue</a:t>
            </a:r>
            <a:endParaRPr lang="en-US" sz="3000" dirty="0"/>
          </a:p>
        </p:txBody>
      </p:sp>
      <p:sp>
        <p:nvSpPr>
          <p:cNvPr id="6" name="Shape 4"/>
          <p:cNvSpPr/>
          <p:nvPr/>
        </p:nvSpPr>
        <p:spPr>
          <a:xfrm>
            <a:off x="548640" y="1965960"/>
            <a:ext cx="2430704" cy="3108960"/>
          </a:xfrm>
          <a:prstGeom prst="roundRect">
            <a:avLst>
              <a:gd name="adj" fmla="val 3762"/>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Lecture seule</a:t>
            </a:r>
            <a:endParaRPr lang="en-US" sz="1900" dirty="0"/>
          </a:p>
        </p:txBody>
      </p:sp>
      <p:sp>
        <p:nvSpPr>
          <p:cNvPr id="10" name="Text 8"/>
          <p:cNvSpPr/>
          <p:nvPr/>
        </p:nvSpPr>
        <p:spPr>
          <a:xfrm>
            <a:off x="749808"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$revoir-bi : ≤ 3 défauts, avec preuve</a:t>
            </a:r>
            <a:endParaRPr lang="en-US" sz="1700" dirty="0"/>
          </a:p>
        </p:txBody>
      </p:sp>
      <p:sp>
        <p:nvSpPr>
          <p:cNvPr id="11" name="Shape 9"/>
          <p:cNvSpPr/>
          <p:nvPr/>
        </p:nvSpPr>
        <p:spPr>
          <a:xfrm>
            <a:off x="3043352" y="3520440"/>
            <a:ext cx="329184" cy="0"/>
          </a:xfrm>
          <a:prstGeom prst="line">
            <a:avLst/>
          </a:prstGeom>
          <a:noFill/>
          <a:ln w="31750">
            <a:solidFill>
              <a:srgbClr val="FF9A3C"/>
            </a:solidFill>
            <a:prstDash val="solid"/>
            <a:tailEnd type="triangle"/>
          </a:ln>
        </p:spPr>
      </p:sp>
      <p:sp>
        <p:nvSpPr>
          <p:cNvPr id="12" name="Shape 10"/>
          <p:cNvSpPr/>
          <p:nvPr/>
        </p:nvSpPr>
        <p:spPr>
          <a:xfrm>
            <a:off x="3436544" y="1965960"/>
            <a:ext cx="2430704" cy="3108960"/>
          </a:xfrm>
          <a:prstGeom prst="roundRect">
            <a:avLst>
              <a:gd name="adj" fmla="val 3762"/>
            </a:avLst>
          </a:prstGeom>
          <a:solidFill>
            <a:srgbClr val="F3F5FC"/>
          </a:solidFill>
          <a:ln w="9525">
            <a:solidFill>
              <a:srgbClr val="F3F5FC"/>
            </a:solidFill>
            <a:prstDash val="solid"/>
          </a:ln>
        </p:spPr>
      </p:sp>
      <p:sp>
        <p:nvSpPr>
          <p:cNvPr id="13" name="Shape 11"/>
          <p:cNvSpPr/>
          <p:nvPr/>
        </p:nvSpPr>
        <p:spPr>
          <a:xfrm>
            <a:off x="3637712"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637712"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637712"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Constater</a:t>
            </a:r>
            <a:endParaRPr lang="en-US" sz="1900" dirty="0"/>
          </a:p>
        </p:txBody>
      </p:sp>
      <p:sp>
        <p:nvSpPr>
          <p:cNvPr id="16" name="Text 14"/>
          <p:cNvSpPr/>
          <p:nvPr/>
        </p:nvSpPr>
        <p:spPr>
          <a:xfrm>
            <a:off x="3637712"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vous reproduisez le défaut</a:t>
            </a:r>
            <a:endParaRPr lang="en-US" sz="1700" dirty="0"/>
          </a:p>
        </p:txBody>
      </p:sp>
      <p:sp>
        <p:nvSpPr>
          <p:cNvPr id="17" name="Shape 15"/>
          <p:cNvSpPr/>
          <p:nvPr/>
        </p:nvSpPr>
        <p:spPr>
          <a:xfrm>
            <a:off x="5931256" y="3520440"/>
            <a:ext cx="329184" cy="0"/>
          </a:xfrm>
          <a:prstGeom prst="line">
            <a:avLst/>
          </a:prstGeom>
          <a:noFill/>
          <a:ln w="31750">
            <a:solidFill>
              <a:srgbClr val="FF9A3C"/>
            </a:solidFill>
            <a:prstDash val="solid"/>
            <a:tailEnd type="triangle"/>
          </a:ln>
        </p:spPr>
      </p:sp>
      <p:sp>
        <p:nvSpPr>
          <p:cNvPr id="18" name="Shape 16"/>
          <p:cNvSpPr/>
          <p:nvPr/>
        </p:nvSpPr>
        <p:spPr>
          <a:xfrm>
            <a:off x="6324448" y="1965960"/>
            <a:ext cx="2430704" cy="3108960"/>
          </a:xfrm>
          <a:prstGeom prst="roundRect">
            <a:avLst>
              <a:gd name="adj" fmla="val 3762"/>
            </a:avLst>
          </a:prstGeom>
          <a:solidFill>
            <a:srgbClr val="F3F5FC"/>
          </a:solidFill>
          <a:ln w="9525">
            <a:solidFill>
              <a:srgbClr val="F3F5FC"/>
            </a:solidFill>
            <a:prstDash val="solid"/>
          </a:ln>
        </p:spPr>
      </p:sp>
      <p:sp>
        <p:nvSpPr>
          <p:cNvPr id="19" name="Shape 17"/>
          <p:cNvSpPr/>
          <p:nvPr/>
        </p:nvSpPr>
        <p:spPr>
          <a:xfrm>
            <a:off x="6525616"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6525616"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6525616"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Corriger</a:t>
            </a:r>
            <a:endParaRPr lang="en-US" sz="1900" dirty="0"/>
          </a:p>
        </p:txBody>
      </p:sp>
      <p:sp>
        <p:nvSpPr>
          <p:cNvPr id="22" name="Text 20"/>
          <p:cNvSpPr/>
          <p:nvPr/>
        </p:nvSpPr>
        <p:spPr>
          <a:xfrm>
            <a:off x="6525616"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une demande par défaut</a:t>
            </a:r>
            <a:endParaRPr lang="en-US" sz="1700" dirty="0"/>
          </a:p>
        </p:txBody>
      </p:sp>
      <p:sp>
        <p:nvSpPr>
          <p:cNvPr id="23" name="Shape 21"/>
          <p:cNvSpPr/>
          <p:nvPr/>
        </p:nvSpPr>
        <p:spPr>
          <a:xfrm>
            <a:off x="8819159" y="3520440"/>
            <a:ext cx="329184" cy="0"/>
          </a:xfrm>
          <a:prstGeom prst="line">
            <a:avLst/>
          </a:prstGeom>
          <a:noFill/>
          <a:ln w="31750">
            <a:solidFill>
              <a:srgbClr val="FF9A3C"/>
            </a:solidFill>
            <a:prstDash val="solid"/>
            <a:tailEnd type="triangle"/>
          </a:ln>
        </p:spPr>
      </p:sp>
      <p:sp>
        <p:nvSpPr>
          <p:cNvPr id="24" name="Shape 22"/>
          <p:cNvSpPr/>
          <p:nvPr/>
        </p:nvSpPr>
        <p:spPr>
          <a:xfrm>
            <a:off x="9212351" y="1965960"/>
            <a:ext cx="2430704" cy="3108960"/>
          </a:xfrm>
          <a:prstGeom prst="roundRect">
            <a:avLst>
              <a:gd name="adj" fmla="val 3762"/>
            </a:avLst>
          </a:prstGeom>
          <a:solidFill>
            <a:srgbClr val="2B3180"/>
          </a:solidFill>
          <a:ln w="9525">
            <a:solidFill>
              <a:srgbClr val="2B3180"/>
            </a:solidFill>
            <a:prstDash val="solid"/>
          </a:ln>
        </p:spPr>
      </p:sp>
      <p:sp>
        <p:nvSpPr>
          <p:cNvPr id="25" name="Shape 23"/>
          <p:cNvSpPr/>
          <p:nvPr/>
        </p:nvSpPr>
        <p:spPr>
          <a:xfrm>
            <a:off x="9413519" y="2194560"/>
            <a:ext cx="420624" cy="420624"/>
          </a:xfrm>
          <a:prstGeom prst="ellipse">
            <a:avLst/>
          </a:prstGeom>
          <a:solidFill>
            <a:srgbClr val="FF9A3C"/>
          </a:solidFill>
          <a:ln w="12700">
            <a:solidFill>
              <a:srgbClr val="FF9A3C"/>
            </a:solidFill>
            <a:prstDash val="solid"/>
          </a:ln>
        </p:spPr>
      </p:sp>
      <p:sp>
        <p:nvSpPr>
          <p:cNvPr id="26" name="Text 24"/>
          <p:cNvSpPr/>
          <p:nvPr/>
        </p:nvSpPr>
        <p:spPr>
          <a:xfrm>
            <a:off x="9413519"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9413519" y="2770632"/>
            <a:ext cx="2028368"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Recontrôler</a:t>
            </a:r>
            <a:endParaRPr lang="en-US" sz="1900" dirty="0"/>
          </a:p>
        </p:txBody>
      </p:sp>
      <p:sp>
        <p:nvSpPr>
          <p:cNvPr id="28" name="Text 26"/>
          <p:cNvSpPr/>
          <p:nvPr/>
        </p:nvSpPr>
        <p:spPr>
          <a:xfrm>
            <a:off x="9413519" y="3611880"/>
            <a:ext cx="2028368" cy="13258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tous les contrôles + un cas limite</a:t>
            </a:r>
            <a:endParaRPr lang="en-US" sz="1700" dirty="0"/>
          </a:p>
        </p:txBody>
      </p:sp>
      <p:sp>
        <p:nvSpPr>
          <p:cNvPr id="29" name="Shape 27"/>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0" name="Shape 28"/>
          <p:cNvSpPr/>
          <p:nvPr/>
        </p:nvSpPr>
        <p:spPr>
          <a:xfrm>
            <a:off x="694944" y="5733288"/>
            <a:ext cx="292608" cy="292608"/>
          </a:xfrm>
          <a:prstGeom prst="ellipse">
            <a:avLst/>
          </a:prstGeom>
          <a:solidFill>
            <a:srgbClr val="FF9A3C"/>
          </a:solidFill>
          <a:ln w="12700">
            <a:solidFill>
              <a:srgbClr val="FF9A3C"/>
            </a:solidFill>
            <a:prstDash val="solid"/>
          </a:ln>
        </p:spPr>
      </p:sp>
      <p:sp>
        <p:nvSpPr>
          <p:cNvPr id="31" name="Text 29"/>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2" name="Text 30"/>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Cas limite : vente NBE du 2026-07-14 → Cap Bon ; du 2026-07-15 → Nord-Est.</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MÉTHODE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AGENTS.md et Skills : les règles du dépôt</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84133"/>
                <a:gridCol w="3220959"/>
                <a:gridCol w="5189323"/>
              </a:tblGrid>
              <a:tr h="713232">
                <a:tc>
                  <a:txBody>
                    <a:bodyPr/>
                    <a:lstStyle/>
                    <a:p>
                      <a:pPr indent="0" marL="0">
                        <a:buNone/>
                      </a:pPr>
                      <a:r>
                        <a:rPr lang="en-US" sz="1500" b="1" dirty="0">
                          <a:solidFill>
                            <a:srgbClr val="FFFFFF"/>
                          </a:solidFill>
                          <a:latin typeface="Arial" pitchFamily="34" charset="0"/>
                          <a:ea typeface="Arial" pitchFamily="34" charset="-122"/>
                          <a:cs typeface="Arial" pitchFamily="34" charset="-120"/>
                        </a:rPr>
                        <a:t>Fichier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Quand</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Ce qu'il garantit</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AGENTS.md</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lu avant tout travail</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code dans solen/ ; sources, référence, controles/ intacts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$expliquer-bi</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comprendre une notion</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exemple chiffré d'abord ; rien n'est modifié</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$revoir-bi</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avant votre revue</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lecture seule ; ≤ 3 défauts établis</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500" b="1" dirty="0">
                          <a:solidFill>
                            <a:srgbClr val="2B3180"/>
                          </a:solidFill>
                          <a:latin typeface="Arial" pitchFamily="34" charset="0"/>
                          <a:ea typeface="Arial" pitchFamily="34" charset="-122"/>
                          <a:cs typeface="Arial" pitchFamily="34" charset="-120"/>
                        </a:rPr>
                        <a:t>$preparer-pr</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avant commit / push</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500" dirty="0">
                          <a:solidFill>
                            <a:srgbClr val="1A1F4D"/>
                          </a:solidFill>
                          <a:latin typeface="Arial" pitchFamily="34" charset="0"/>
                          <a:ea typeface="Arial" pitchFamily="34" charset="-122"/>
                          <a:cs typeface="Arial" pitchFamily="34" charset="-120"/>
                        </a:rPr>
                        <a:t>OK · À corriger · Non vérifié</a:t>
                      </a:r>
                      <a:endParaRPr lang="en-US" sz="15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8" name="Shape 5"/>
          <p:cNvSpPr/>
          <p:nvPr/>
        </p:nvSpPr>
        <p:spPr>
          <a:xfrm>
            <a:off x="694944" y="5733288"/>
            <a:ext cx="292608" cy="292608"/>
          </a:xfrm>
          <a:prstGeom prst="ellipse">
            <a:avLst/>
          </a:prstGeom>
          <a:solidFill>
            <a:srgbClr val="FF9A3C"/>
          </a:solidFill>
          <a:ln w="12700">
            <a:solidFill>
              <a:srgbClr val="FF9A3C"/>
            </a:solidFill>
            <a:prstDash val="solid"/>
          </a:ln>
        </p:spPr>
      </p:sp>
      <p:sp>
        <p:nvSpPr>
          <p:cNvPr id="9" name="Text 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0" name="Text 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Codex écrit ces fichiers ; vous expliquez et améliorez les consignes.</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MÉTHODE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Habitude 8 : workers parallèles, facultatifs</a:t>
            </a:r>
            <a:endParaRPr lang="en-US" sz="3000" dirty="0"/>
          </a:p>
        </p:txBody>
      </p:sp>
      <p:sp>
        <p:nvSpPr>
          <p:cNvPr id="6" name="Shape 4"/>
          <p:cNvSpPr/>
          <p:nvPr/>
        </p:nvSpPr>
        <p:spPr>
          <a:xfrm>
            <a:off x="548640" y="1783080"/>
            <a:ext cx="5166360" cy="3520440"/>
          </a:xfrm>
          <a:prstGeom prst="roundRect">
            <a:avLst>
              <a:gd name="adj" fmla="val 2597"/>
            </a:avLst>
          </a:prstGeom>
          <a:solidFill>
            <a:srgbClr val="F3F5FC"/>
          </a:solidFill>
          <a:ln w="9525">
            <a:solidFill>
              <a:srgbClr val="F3F5FC"/>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2B3180"/>
                </a:solidFill>
                <a:latin typeface="Arial" pitchFamily="34" charset="0"/>
                <a:ea typeface="Arial" pitchFamily="34" charset="-122"/>
                <a:cs typeface="Arial" pitchFamily="34" charset="-120"/>
              </a:rPr>
              <a:t>AVEC SOUS-AGENTS (SI PROPOSÉS)</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Deux lectures indépendantes : données/rejets et modèle/historique.</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Plus de tokens consommés.</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SANS (MÉTHODE DE BASE)</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Deux chats successifs avec $revoir-bi, un par angle.</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Même résultat, moins d'usage.</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ou</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Ils ne démarrent que sur demande explicite ; disponibilité Free non garantie.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CODEX FREE  ·  SANS CODEX</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Quota atteint : le travail continue</a:t>
            </a:r>
            <a:endParaRPr lang="en-US" sz="3000" dirty="0"/>
          </a:p>
        </p:txBody>
      </p:sp>
      <p:sp>
        <p:nvSpPr>
          <p:cNvPr id="6" name="Shape 4"/>
          <p:cNvSpPr/>
          <p:nvPr/>
        </p:nvSpPr>
        <p:spPr>
          <a:xfrm>
            <a:off x="548640" y="1828800"/>
            <a:ext cx="3515258" cy="3429000"/>
          </a:xfrm>
          <a:prstGeom prst="roundRect">
            <a:avLst>
              <a:gd name="adj" fmla="val 2667"/>
            </a:avLst>
          </a:prstGeom>
          <a:solidFill>
            <a:srgbClr val="F3F5FC"/>
          </a:solidFill>
          <a:ln w="9525">
            <a:solidFill>
              <a:srgbClr val="F3F5FC"/>
            </a:solidFill>
            <a:prstDash val="solid"/>
          </a:ln>
        </p:spPr>
      </p:sp>
      <p:sp>
        <p:nvSpPr>
          <p:cNvPr id="7" name="Shape 5"/>
          <p:cNvSpPr/>
          <p:nvPr/>
        </p:nvSpPr>
        <p:spPr>
          <a:xfrm>
            <a:off x="777240" y="2084832"/>
            <a:ext cx="457200" cy="457200"/>
          </a:xfrm>
          <a:prstGeom prst="ellipse">
            <a:avLst/>
          </a:prstGeom>
          <a:solidFill>
            <a:srgbClr val="2B3180"/>
          </a:solidFill>
          <a:ln w="12700">
            <a:solidFill>
              <a:srgbClr val="2B3180"/>
            </a:solidFill>
            <a:prstDash val="solid"/>
          </a:ln>
        </p:spPr>
      </p:sp>
      <p:sp>
        <p:nvSpPr>
          <p:cNvPr id="8" name="Text 6"/>
          <p:cNvSpPr/>
          <p:nvPr/>
        </p:nvSpPr>
        <p:spPr>
          <a:xfrm>
            <a:off x="777240"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777240"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Git et revue</a:t>
            </a:r>
            <a:endParaRPr lang="en-US" sz="2200" dirty="0"/>
          </a:p>
        </p:txBody>
      </p:sp>
      <p:sp>
        <p:nvSpPr>
          <p:cNvPr id="10" name="Text 8"/>
          <p:cNvSpPr/>
          <p:nvPr/>
        </p:nvSpPr>
        <p:spPr>
          <a:xfrm>
            <a:off x="777240"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Commiter ce qui est contrôlé, PR, relire celle du binôme.</a:t>
            </a:r>
            <a:endParaRPr lang="en-US" sz="1800" dirty="0"/>
          </a:p>
        </p:txBody>
      </p:sp>
      <p:sp>
        <p:nvSpPr>
          <p:cNvPr id="11" name="Shape 9"/>
          <p:cNvSpPr/>
          <p:nvPr/>
        </p:nvSpPr>
        <p:spPr>
          <a:xfrm>
            <a:off x="4338218" y="1828800"/>
            <a:ext cx="3515258" cy="3429000"/>
          </a:xfrm>
          <a:prstGeom prst="roundRect">
            <a:avLst>
              <a:gd name="adj" fmla="val 2667"/>
            </a:avLst>
          </a:prstGeom>
          <a:solidFill>
            <a:srgbClr val="F3F5FC"/>
          </a:solidFill>
          <a:ln w="9525">
            <a:solidFill>
              <a:srgbClr val="F3F5FC"/>
            </a:solidFill>
            <a:prstDash val="solid"/>
          </a:ln>
        </p:spPr>
      </p:sp>
      <p:sp>
        <p:nvSpPr>
          <p:cNvPr id="12" name="Shape 10"/>
          <p:cNvSpPr/>
          <p:nvPr/>
        </p:nvSpPr>
        <p:spPr>
          <a:xfrm>
            <a:off x="4566818" y="2084832"/>
            <a:ext cx="457200" cy="457200"/>
          </a:xfrm>
          <a:prstGeom prst="ellipse">
            <a:avLst/>
          </a:prstGeom>
          <a:solidFill>
            <a:srgbClr val="2B3180"/>
          </a:solidFill>
          <a:ln w="12700">
            <a:solidFill>
              <a:srgbClr val="2B3180"/>
            </a:solidFill>
            <a:prstDash val="solid"/>
          </a:ln>
        </p:spPr>
      </p:sp>
      <p:sp>
        <p:nvSpPr>
          <p:cNvPr id="13" name="Text 11"/>
          <p:cNvSpPr/>
          <p:nvPr/>
        </p:nvSpPr>
        <p:spPr>
          <a:xfrm>
            <a:off x="4566818"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4566818"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Comprendre</a:t>
            </a:r>
            <a:endParaRPr lang="en-US" sz="2200" dirty="0"/>
          </a:p>
        </p:txBody>
      </p:sp>
      <p:sp>
        <p:nvSpPr>
          <p:cNvPr id="15" name="Text 13"/>
          <p:cNvSpPr/>
          <p:nvPr/>
        </p:nvSpPr>
        <p:spPr>
          <a:xfrm>
            <a:off x="4566818"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Lire le diff, calculer à la main, interpréter les visuels.</a:t>
            </a:r>
            <a:endParaRPr lang="en-US" sz="1800" dirty="0"/>
          </a:p>
        </p:txBody>
      </p:sp>
      <p:sp>
        <p:nvSpPr>
          <p:cNvPr id="16" name="Shape 14"/>
          <p:cNvSpPr/>
          <p:nvPr/>
        </p:nvSpPr>
        <p:spPr>
          <a:xfrm>
            <a:off x="8127797" y="1828800"/>
            <a:ext cx="3515258" cy="3429000"/>
          </a:xfrm>
          <a:prstGeom prst="roundRect">
            <a:avLst>
              <a:gd name="adj" fmla="val 2667"/>
            </a:avLst>
          </a:prstGeom>
          <a:solidFill>
            <a:srgbClr val="F3F5FC"/>
          </a:solidFill>
          <a:ln w="9525">
            <a:solidFill>
              <a:srgbClr val="F3F5FC"/>
            </a:solidFill>
            <a:prstDash val="solid"/>
          </a:ln>
        </p:spPr>
      </p:sp>
      <p:sp>
        <p:nvSpPr>
          <p:cNvPr id="17" name="Shape 15"/>
          <p:cNvSpPr/>
          <p:nvPr/>
        </p:nvSpPr>
        <p:spPr>
          <a:xfrm>
            <a:off x="8356397" y="2084832"/>
            <a:ext cx="457200" cy="457200"/>
          </a:xfrm>
          <a:prstGeom prst="ellipse">
            <a:avLst/>
          </a:prstGeom>
          <a:solidFill>
            <a:srgbClr val="2B3180"/>
          </a:solidFill>
          <a:ln w="12700">
            <a:solidFill>
              <a:srgbClr val="2B3180"/>
            </a:solidFill>
            <a:prstDash val="solid"/>
          </a:ln>
        </p:spPr>
      </p:sp>
      <p:sp>
        <p:nvSpPr>
          <p:cNvPr id="18" name="Text 16"/>
          <p:cNvSpPr/>
          <p:nvPr/>
        </p:nvSpPr>
        <p:spPr>
          <a:xfrm>
            <a:off x="8356397"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8356397"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Préparer</a:t>
            </a:r>
            <a:endParaRPr lang="en-US" sz="2200" dirty="0"/>
          </a:p>
        </p:txBody>
      </p:sp>
      <p:sp>
        <p:nvSpPr>
          <p:cNvPr id="20" name="Text 18"/>
          <p:cNvSpPr/>
          <p:nvPr/>
        </p:nvSpPr>
        <p:spPr>
          <a:xfrm>
            <a:off x="8356397"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Note d'état, prochaine demande avec votre prévision.</a:t>
            </a:r>
            <a:endParaRPr lang="en-US" sz="1800" dirty="0"/>
          </a:p>
        </p:txBody>
      </p:sp>
      <p:sp>
        <p:nvSpPr>
          <p:cNvPr id="21" name="Shape 19"/>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2" name="Shape 20"/>
          <p:cNvSpPr/>
          <p:nvPr/>
        </p:nvSpPr>
        <p:spPr>
          <a:xfrm>
            <a:off x="694944" y="5733288"/>
            <a:ext cx="292608" cy="292608"/>
          </a:xfrm>
          <a:prstGeom prst="ellipse">
            <a:avLst/>
          </a:prstGeom>
          <a:solidFill>
            <a:srgbClr val="FF9A3C"/>
          </a:solidFill>
          <a:ln w="12700">
            <a:solidFill>
              <a:srgbClr val="FF9A3C"/>
            </a:solidFill>
            <a:prstDash val="solid"/>
          </a:ln>
        </p:spPr>
      </p:sp>
      <p:sp>
        <p:nvSpPr>
          <p:cNvPr id="23" name="Text 21"/>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4" name="Text 22"/>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Jamais : coder à la main, payer, utiliser le compte d'un autre. Notez l'heure de reprise.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E</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E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Les notions BI</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Chaque notion avec son schéma et les chiffres de Maison Zitouna</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41 / 87</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ETL</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Des quatre sources au rapport</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418059"/>
          </a:xfrm>
          <a:prstGeom prst="roundRect">
            <a:avLst>
              <a:gd name="adj" fmla="val 1242"/>
            </a:avLst>
          </a:prstGeom>
          <a:solidFill>
            <a:srgbClr val="FFFFFF"/>
          </a:solidFill>
          <a:ln w="9525">
            <a:solidFill>
              <a:srgbClr val="DCE2F0"/>
            </a:solidFill>
            <a:prstDash val="solid"/>
          </a:ln>
        </p:spPr>
      </p:sp>
      <p:pic>
        <p:nvPicPr>
          <p:cNvPr id="9" name="Image 0" descr="Des quatre sources au rapport">    </p:cNvPr>
          <p:cNvPicPr>
            <a:picLocks noChangeAspect="1"/>
          </p:cNvPicPr>
          <p:nvPr/>
        </p:nvPicPr>
        <p:blipFill>
          <a:blip r:embed="rId1"/>
          <a:srcRect l="0" r="0" t="15686" b="23399"/>
          <a:stretch/>
        </p:blipFill>
        <p:spPr>
          <a:xfrm>
            <a:off x="548640" y="1371600"/>
            <a:ext cx="11094415" cy="4308331"/>
          </a:xfrm>
          <a:prstGeom prst="rect">
            <a:avLst/>
          </a:prstGeom>
        </p:spPr>
      </p:pic>
      <p:sp>
        <p:nvSpPr>
          <p:cNvPr id="10" name="Text 7"/>
          <p:cNvSpPr/>
          <p:nvPr/>
        </p:nvSpPr>
        <p:spPr>
          <a:xfrm>
            <a:off x="548640" y="5862811"/>
            <a:ext cx="11094415" cy="457200"/>
          </a:xfrm>
          <a:prstGeom prst="rect">
            <a:avLst/>
          </a:prstGeom>
          <a:noFill/>
          <a:ln/>
        </p:spPr>
        <p:txBody>
          <a:bodyPr wrap="square" lIns="0" tIns="0" rIns="0" bIns="0" rtlCol="0" anchor="ctr"/>
          <a:lstStyle/>
          <a:p>
            <a:pPr algn="ctr" indent="0" marL="0">
              <a:buNone/>
            </a:pPr>
            <a:r>
              <a:rPr lang="en-US" sz="1700" b="1" dirty="0">
                <a:solidFill>
                  <a:srgbClr val="2B3180"/>
                </a:solidFill>
                <a:latin typeface="Arial" pitchFamily="34" charset="0"/>
                <a:ea typeface="Arial" pitchFamily="34" charset="-122"/>
                <a:cs typeface="Arial" pitchFamily="34" charset="-120"/>
              </a:rPr>
              <a:t>Et à côté : outputs/rejets.csv, une ligne rejetée = un motif. Les sources ne sont jamais modifiées.</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GRAIN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 grain : une ligne de fait = une ligne de ticket</a:t>
            </a:r>
            <a:endParaRPr lang="en-US" sz="3000" dirty="0"/>
          </a:p>
        </p:txBody>
      </p:sp>
      <p:sp>
        <p:nvSpPr>
          <p:cNvPr id="6" name="Text 4"/>
          <p:cNvSpPr/>
          <p:nvPr/>
        </p:nvSpPr>
        <p:spPr>
          <a:xfrm>
            <a:off x="548640" y="1737360"/>
            <a:ext cx="11094415" cy="411480"/>
          </a:xfrm>
          <a:prstGeom prst="rect">
            <a:avLst/>
          </a:prstGeom>
          <a:noFill/>
          <a:ln/>
        </p:spPr>
        <p:txBody>
          <a:bodyPr wrap="square" lIns="0" tIns="0" rIns="0" bIns="0" rtlCol="0" anchor="ctr"/>
          <a:lstStyle/>
          <a:p>
            <a:pPr indent="0" marL="0">
              <a:buNone/>
            </a:pPr>
            <a:r>
              <a:rPr lang="en-US" sz="1800" b="1" spc="100" kern="0" dirty="0">
                <a:solidFill>
                  <a:srgbClr val="5A6478"/>
                </a:solidFill>
                <a:latin typeface="Arial" pitchFamily="34" charset="0"/>
                <a:ea typeface="Arial" pitchFamily="34" charset="-122"/>
                <a:cs typeface="Arial" pitchFamily="34" charset="-120"/>
              </a:rPr>
              <a:t>UNE LIGNE DE fact_vente</a:t>
            </a:r>
            <a:endParaRPr lang="en-US" sz="1800" dirty="0"/>
          </a:p>
        </p:txBody>
      </p:sp>
      <p:sp>
        <p:nvSpPr>
          <p:cNvPr id="7" name="Shape 5"/>
          <p:cNvSpPr/>
          <p:nvPr/>
        </p:nvSpPr>
        <p:spPr>
          <a:xfrm>
            <a:off x="548640" y="2286000"/>
            <a:ext cx="2567864" cy="1920240"/>
          </a:xfrm>
          <a:prstGeom prst="roundRect">
            <a:avLst>
              <a:gd name="adj" fmla="val 4762"/>
            </a:avLst>
          </a:prstGeom>
          <a:solidFill>
            <a:srgbClr val="F3F5FC"/>
          </a:solidFill>
          <a:ln w="9525">
            <a:solidFill>
              <a:srgbClr val="F3F5FC"/>
            </a:solidFill>
            <a:prstDash val="solid"/>
          </a:ln>
        </p:spPr>
      </p:sp>
      <p:sp>
        <p:nvSpPr>
          <p:cNvPr id="8" name="Text 6"/>
          <p:cNvSpPr/>
          <p:nvPr/>
        </p:nvSpPr>
        <p:spPr>
          <a:xfrm>
            <a:off x="777240" y="2468880"/>
            <a:ext cx="2110664" cy="365760"/>
          </a:xfrm>
          <a:prstGeom prst="rect">
            <a:avLst/>
          </a:prstGeom>
          <a:noFill/>
          <a:ln/>
        </p:spPr>
        <p:txBody>
          <a:bodyPr wrap="square" lIns="0" tIns="0" rIns="0" bIns="0" rtlCol="0" anchor="ctr"/>
          <a:lstStyle/>
          <a:p>
            <a:pPr indent="0" marL="0">
              <a:buNone/>
            </a:pPr>
            <a:r>
              <a:rPr lang="en-US" sz="1600" b="1" dirty="0">
                <a:solidFill>
                  <a:srgbClr val="5A6478"/>
                </a:solidFill>
                <a:latin typeface="Arial" pitchFamily="34" charset="0"/>
                <a:ea typeface="Arial" pitchFamily="34" charset="-122"/>
                <a:cs typeface="Arial" pitchFamily="34" charset="-120"/>
              </a:rPr>
              <a:t>QUOI ?</a:t>
            </a:r>
            <a:endParaRPr lang="en-US" sz="1600" dirty="0"/>
          </a:p>
        </p:txBody>
      </p:sp>
      <p:sp>
        <p:nvSpPr>
          <p:cNvPr id="9" name="Text 7"/>
          <p:cNvSpPr/>
          <p:nvPr/>
        </p:nvSpPr>
        <p:spPr>
          <a:xfrm>
            <a:off x="777240" y="3017520"/>
            <a:ext cx="2110664" cy="822960"/>
          </a:xfrm>
          <a:prstGeom prst="rect">
            <a:avLst/>
          </a:prstGeom>
          <a:noFill/>
          <a:ln/>
        </p:spPr>
        <p:txBody>
          <a:bodyPr wrap="square" lIns="0" tIns="0" rIns="0" bIns="0" rtlCol="0" anchor="ctr"/>
          <a:lstStyle/>
          <a:p>
            <a:pPr indent="0" marL="0">
              <a:buNone/>
            </a:pPr>
            <a:r>
              <a:rPr lang="en-US" sz="2800" b="1" dirty="0">
                <a:solidFill>
                  <a:srgbClr val="2B3180"/>
                </a:solidFill>
                <a:latin typeface="Arial" pitchFamily="34" charset="0"/>
                <a:ea typeface="Arial" pitchFamily="34" charset="-122"/>
                <a:cs typeface="Arial" pitchFamily="34" charset="-120"/>
              </a:rPr>
              <a:t>P01</a:t>
            </a:r>
            <a:endParaRPr lang="en-US" sz="2800" dirty="0"/>
          </a:p>
        </p:txBody>
      </p:sp>
      <p:sp>
        <p:nvSpPr>
          <p:cNvPr id="10" name="Shape 8"/>
          <p:cNvSpPr/>
          <p:nvPr/>
        </p:nvSpPr>
        <p:spPr>
          <a:xfrm>
            <a:off x="3390824" y="2286000"/>
            <a:ext cx="2567864" cy="1920240"/>
          </a:xfrm>
          <a:prstGeom prst="roundRect">
            <a:avLst>
              <a:gd name="adj" fmla="val 4762"/>
            </a:avLst>
          </a:prstGeom>
          <a:solidFill>
            <a:srgbClr val="F3F5FC"/>
          </a:solidFill>
          <a:ln w="9525">
            <a:solidFill>
              <a:srgbClr val="F3F5FC"/>
            </a:solidFill>
            <a:prstDash val="solid"/>
          </a:ln>
        </p:spPr>
      </p:sp>
      <p:sp>
        <p:nvSpPr>
          <p:cNvPr id="11" name="Text 9"/>
          <p:cNvSpPr/>
          <p:nvPr/>
        </p:nvSpPr>
        <p:spPr>
          <a:xfrm>
            <a:off x="3619424" y="2468880"/>
            <a:ext cx="2110664" cy="365760"/>
          </a:xfrm>
          <a:prstGeom prst="rect">
            <a:avLst/>
          </a:prstGeom>
          <a:noFill/>
          <a:ln/>
        </p:spPr>
        <p:txBody>
          <a:bodyPr wrap="square" lIns="0" tIns="0" rIns="0" bIns="0" rtlCol="0" anchor="ctr"/>
          <a:lstStyle/>
          <a:p>
            <a:pPr indent="0" marL="0">
              <a:buNone/>
            </a:pPr>
            <a:r>
              <a:rPr lang="en-US" sz="1600" b="1" dirty="0">
                <a:solidFill>
                  <a:srgbClr val="5A6478"/>
                </a:solidFill>
                <a:latin typeface="Arial" pitchFamily="34" charset="0"/>
                <a:ea typeface="Arial" pitchFamily="34" charset="-122"/>
                <a:cs typeface="Arial" pitchFamily="34" charset="-120"/>
              </a:rPr>
              <a:t>OÙ ?</a:t>
            </a:r>
            <a:endParaRPr lang="en-US" sz="1600" dirty="0"/>
          </a:p>
        </p:txBody>
      </p:sp>
      <p:sp>
        <p:nvSpPr>
          <p:cNvPr id="12" name="Text 10"/>
          <p:cNvSpPr/>
          <p:nvPr/>
        </p:nvSpPr>
        <p:spPr>
          <a:xfrm>
            <a:off x="3619424" y="3017520"/>
            <a:ext cx="2110664" cy="822960"/>
          </a:xfrm>
          <a:prstGeom prst="rect">
            <a:avLst/>
          </a:prstGeom>
          <a:noFill/>
          <a:ln/>
        </p:spPr>
        <p:txBody>
          <a:bodyPr wrap="square" lIns="0" tIns="0" rIns="0" bIns="0" rtlCol="0" anchor="ctr"/>
          <a:lstStyle/>
          <a:p>
            <a:pPr indent="0" marL="0">
              <a:buNone/>
            </a:pPr>
            <a:r>
              <a:rPr lang="en-US" sz="2800" b="1" dirty="0">
                <a:solidFill>
                  <a:srgbClr val="2B3180"/>
                </a:solidFill>
                <a:latin typeface="Arial" pitchFamily="34" charset="0"/>
                <a:ea typeface="Arial" pitchFamily="34" charset="-122"/>
                <a:cs typeface="Arial" pitchFamily="34" charset="-120"/>
              </a:rPr>
              <a:t>TUN</a:t>
            </a:r>
            <a:endParaRPr lang="en-US" sz="2800" dirty="0"/>
          </a:p>
        </p:txBody>
      </p:sp>
      <p:sp>
        <p:nvSpPr>
          <p:cNvPr id="13" name="Shape 11"/>
          <p:cNvSpPr/>
          <p:nvPr/>
        </p:nvSpPr>
        <p:spPr>
          <a:xfrm>
            <a:off x="6233008" y="2286000"/>
            <a:ext cx="2567864" cy="1920240"/>
          </a:xfrm>
          <a:prstGeom prst="roundRect">
            <a:avLst>
              <a:gd name="adj" fmla="val 4762"/>
            </a:avLst>
          </a:prstGeom>
          <a:solidFill>
            <a:srgbClr val="F3F5FC"/>
          </a:solidFill>
          <a:ln w="9525">
            <a:solidFill>
              <a:srgbClr val="F3F5FC"/>
            </a:solidFill>
            <a:prstDash val="solid"/>
          </a:ln>
        </p:spPr>
      </p:sp>
      <p:sp>
        <p:nvSpPr>
          <p:cNvPr id="14" name="Text 12"/>
          <p:cNvSpPr/>
          <p:nvPr/>
        </p:nvSpPr>
        <p:spPr>
          <a:xfrm>
            <a:off x="6461608" y="2468880"/>
            <a:ext cx="2110664" cy="365760"/>
          </a:xfrm>
          <a:prstGeom prst="rect">
            <a:avLst/>
          </a:prstGeom>
          <a:noFill/>
          <a:ln/>
        </p:spPr>
        <p:txBody>
          <a:bodyPr wrap="square" lIns="0" tIns="0" rIns="0" bIns="0" rtlCol="0" anchor="ctr"/>
          <a:lstStyle/>
          <a:p>
            <a:pPr indent="0" marL="0">
              <a:buNone/>
            </a:pPr>
            <a:r>
              <a:rPr lang="en-US" sz="1600" b="1" dirty="0">
                <a:solidFill>
                  <a:srgbClr val="5A6478"/>
                </a:solidFill>
                <a:latin typeface="Arial" pitchFamily="34" charset="0"/>
                <a:ea typeface="Arial" pitchFamily="34" charset="-122"/>
                <a:cs typeface="Arial" pitchFamily="34" charset="-120"/>
              </a:rPr>
              <a:t>QUAND ?</a:t>
            </a:r>
            <a:endParaRPr lang="en-US" sz="1600" dirty="0"/>
          </a:p>
        </p:txBody>
      </p:sp>
      <p:sp>
        <p:nvSpPr>
          <p:cNvPr id="15" name="Text 13"/>
          <p:cNvSpPr/>
          <p:nvPr/>
        </p:nvSpPr>
        <p:spPr>
          <a:xfrm>
            <a:off x="6461608" y="3017520"/>
            <a:ext cx="2110664" cy="822960"/>
          </a:xfrm>
          <a:prstGeom prst="rect">
            <a:avLst/>
          </a:prstGeom>
          <a:noFill/>
          <a:ln/>
        </p:spPr>
        <p:txBody>
          <a:bodyPr wrap="square" lIns="0" tIns="0" rIns="0" bIns="0" rtlCol="0" anchor="ctr"/>
          <a:lstStyle/>
          <a:p>
            <a:pPr indent="0" marL="0">
              <a:buNone/>
            </a:pPr>
            <a:r>
              <a:rPr lang="en-US" sz="2800" b="1" dirty="0">
                <a:solidFill>
                  <a:srgbClr val="2B3180"/>
                </a:solidFill>
                <a:latin typeface="Arial" pitchFamily="34" charset="0"/>
                <a:ea typeface="Arial" pitchFamily="34" charset="-122"/>
                <a:cs typeface="Arial" pitchFamily="34" charset="-120"/>
              </a:rPr>
              <a:t>2026-03-02</a:t>
            </a:r>
            <a:endParaRPr lang="en-US" sz="2800" dirty="0"/>
          </a:p>
        </p:txBody>
      </p:sp>
      <p:sp>
        <p:nvSpPr>
          <p:cNvPr id="16" name="Shape 14"/>
          <p:cNvSpPr/>
          <p:nvPr/>
        </p:nvSpPr>
        <p:spPr>
          <a:xfrm>
            <a:off x="9075191" y="2286000"/>
            <a:ext cx="2567864" cy="1920240"/>
          </a:xfrm>
          <a:prstGeom prst="roundRect">
            <a:avLst>
              <a:gd name="adj" fmla="val 4762"/>
            </a:avLst>
          </a:prstGeom>
          <a:solidFill>
            <a:srgbClr val="2B3180"/>
          </a:solidFill>
          <a:ln w="9525">
            <a:solidFill>
              <a:srgbClr val="2B3180"/>
            </a:solidFill>
            <a:prstDash val="solid"/>
          </a:ln>
        </p:spPr>
      </p:sp>
      <p:sp>
        <p:nvSpPr>
          <p:cNvPr id="17" name="Text 15"/>
          <p:cNvSpPr/>
          <p:nvPr/>
        </p:nvSpPr>
        <p:spPr>
          <a:xfrm>
            <a:off x="9303791" y="2468880"/>
            <a:ext cx="2110664" cy="365760"/>
          </a:xfrm>
          <a:prstGeom prst="rect">
            <a:avLst/>
          </a:prstGeom>
          <a:noFill/>
          <a:ln/>
        </p:spPr>
        <p:txBody>
          <a:bodyPr wrap="square" lIns="0" tIns="0" rIns="0" bIns="0" rtlCol="0" anchor="ctr"/>
          <a:lstStyle/>
          <a:p>
            <a:pPr indent="0" marL="0">
              <a:buNone/>
            </a:pPr>
            <a:r>
              <a:rPr lang="en-US" sz="1600" b="1" dirty="0">
                <a:solidFill>
                  <a:srgbClr val="FF9A3C"/>
                </a:solidFill>
                <a:latin typeface="Arial" pitchFamily="34" charset="0"/>
                <a:ea typeface="Arial" pitchFamily="34" charset="-122"/>
                <a:cs typeface="Arial" pitchFamily="34" charset="-120"/>
              </a:rPr>
              <a:t>COMBIEN ?</a:t>
            </a:r>
            <a:endParaRPr lang="en-US" sz="1600" dirty="0"/>
          </a:p>
        </p:txBody>
      </p:sp>
      <p:sp>
        <p:nvSpPr>
          <p:cNvPr id="18" name="Text 16"/>
          <p:cNvSpPr/>
          <p:nvPr/>
        </p:nvSpPr>
        <p:spPr>
          <a:xfrm>
            <a:off x="9303791" y="3017520"/>
            <a:ext cx="2110664" cy="8229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2 × 18,500 TND</a:t>
            </a:r>
            <a:endParaRPr lang="en-US" sz="2200" dirty="0"/>
          </a:p>
        </p:txBody>
      </p:sp>
      <p:sp>
        <p:nvSpPr>
          <p:cNvPr id="19" name="Shape 17"/>
          <p:cNvSpPr/>
          <p:nvPr/>
        </p:nvSpPr>
        <p:spPr>
          <a:xfrm>
            <a:off x="548640" y="4572000"/>
            <a:ext cx="548640" cy="548640"/>
          </a:xfrm>
          <a:prstGeom prst="ellipse">
            <a:avLst/>
          </a:prstGeom>
          <a:solidFill>
            <a:srgbClr val="FF9A3C"/>
          </a:solidFill>
          <a:ln w="12700">
            <a:solidFill>
              <a:srgbClr val="FF9A3C"/>
            </a:solidFill>
            <a:prstDash val="solid"/>
          </a:ln>
        </p:spPr>
      </p:sp>
      <p:sp>
        <p:nvSpPr>
          <p:cNvPr id="20" name="Text 18"/>
          <p:cNvSpPr/>
          <p:nvPr/>
        </p:nvSpPr>
        <p:spPr>
          <a:xfrm>
            <a:off x="548640" y="4572000"/>
            <a:ext cx="548640" cy="548640"/>
          </a:xfrm>
          <a:prstGeom prst="rect">
            <a:avLst/>
          </a:prstGeom>
          <a:noFill/>
          <a:ln/>
        </p:spPr>
        <p:txBody>
          <a:bodyPr wrap="square" lIns="0" tIns="0" rIns="0" bIns="0" rtlCol="0" anchor="ctr"/>
          <a:lstStyle/>
          <a:p>
            <a:pPr algn="ctr" indent="0" marL="0">
              <a:buNone/>
            </a:pPr>
            <a:r>
              <a:rPr lang="en-US" sz="1600" b="1" dirty="0">
                <a:solidFill>
                  <a:srgbClr val="07152F"/>
                </a:solidFill>
                <a:latin typeface="Arial" pitchFamily="34" charset="0"/>
                <a:ea typeface="Arial" pitchFamily="34" charset="-122"/>
                <a:cs typeface="Arial" pitchFamily="34" charset="-120"/>
              </a:rPr>
              <a:t>ID</a:t>
            </a:r>
            <a:endParaRPr lang="en-US" sz="1600" dirty="0"/>
          </a:p>
        </p:txBody>
      </p:sp>
      <p:sp>
        <p:nvSpPr>
          <p:cNvPr id="21" name="Text 19"/>
          <p:cNvSpPr/>
          <p:nvPr/>
        </p:nvSpPr>
        <p:spPr>
          <a:xfrm>
            <a:off x="1325880" y="4572000"/>
            <a:ext cx="10317175" cy="548640"/>
          </a:xfrm>
          <a:prstGeom prst="rect">
            <a:avLst/>
          </a:prstGeom>
          <a:noFill/>
          <a:ln/>
        </p:spPr>
        <p:txBody>
          <a:bodyPr wrap="square" lIns="0" tIns="0" rIns="0" bIns="0" rtlCol="0" anchor="ctr"/>
          <a:lstStyle/>
          <a:p>
            <a:pPr indent="0" marL="0">
              <a:buNone/>
            </a:pPr>
            <a:r>
              <a:rPr lang="en-US" sz="2100" b="1" dirty="0">
                <a:solidFill>
                  <a:srgbClr val="1A1F4D"/>
                </a:solidFill>
                <a:latin typeface="Arial" pitchFamily="34" charset="0"/>
                <a:ea typeface="Arial" pitchFamily="34" charset="-122"/>
                <a:cs typeface="Arial" pitchFamily="34" charset="-120"/>
              </a:rPr>
              <a:t>E-001-1 : identifiant stable, même si le fichier est rejoué.</a:t>
            </a:r>
            <a:endParaRPr lang="en-US" sz="21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MODÉLISATION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Fait ou dimension ?</a:t>
            </a:r>
            <a:endParaRPr lang="en-US" sz="3000" dirty="0"/>
          </a:p>
        </p:txBody>
      </p:sp>
      <p:sp>
        <p:nvSpPr>
          <p:cNvPr id="6" name="Shape 4"/>
          <p:cNvSpPr/>
          <p:nvPr/>
        </p:nvSpPr>
        <p:spPr>
          <a:xfrm>
            <a:off x="548640" y="1783080"/>
            <a:ext cx="5166360" cy="4206240"/>
          </a:xfrm>
          <a:prstGeom prst="roundRect">
            <a:avLst>
              <a:gd name="adj" fmla="val 2174"/>
            </a:avLst>
          </a:prstGeom>
          <a:solidFill>
            <a:srgbClr val="F3F5FC"/>
          </a:solidFill>
          <a:ln w="9525">
            <a:solidFill>
              <a:srgbClr val="F3F5FC"/>
            </a:solidFill>
            <a:prstDash val="solid"/>
          </a:ln>
        </p:spPr>
      </p:sp>
      <p:sp>
        <p:nvSpPr>
          <p:cNvPr id="7" name="Shape 5"/>
          <p:cNvSpPr/>
          <p:nvPr/>
        </p:nvSpPr>
        <p:spPr>
          <a:xfrm>
            <a:off x="6476695" y="1783080"/>
            <a:ext cx="5166360" cy="4206240"/>
          </a:xfrm>
          <a:prstGeom prst="roundRect">
            <a:avLst>
              <a:gd name="adj" fmla="val 2174"/>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2B3180"/>
                </a:solidFill>
                <a:latin typeface="Arial" pitchFamily="34" charset="0"/>
                <a:ea typeface="Arial" pitchFamily="34" charset="-122"/>
                <a:cs typeface="Arial" pitchFamily="34" charset="-120"/>
              </a:rPr>
              <a:t>FAIT · ce qu'on mesure</a:t>
            </a:r>
            <a:endParaRPr lang="en-US" sz="1400" dirty="0"/>
          </a:p>
        </p:txBody>
      </p:sp>
      <p:sp>
        <p:nvSpPr>
          <p:cNvPr id="9" name="Text 7"/>
          <p:cNvSpPr/>
          <p:nvPr/>
        </p:nvSpPr>
        <p:spPr>
          <a:xfrm>
            <a:off x="822960" y="2560320"/>
            <a:ext cx="4617720" cy="32004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fact_vente : quantité, montant brut</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fact_retour : montant remboursé</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beaucoup de lignes</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DIMENSION · ce qui décrit</a:t>
            </a:r>
            <a:endParaRPr lang="en-US" sz="1400" dirty="0"/>
          </a:p>
        </p:txBody>
      </p:sp>
      <p:sp>
        <p:nvSpPr>
          <p:cNvPr id="11" name="Text 9"/>
          <p:cNvSpPr/>
          <p:nvPr/>
        </p:nvSpPr>
        <p:spPr>
          <a:xfrm>
            <a:off x="6751015" y="2560320"/>
            <a:ext cx="4617720" cy="32004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dim_produit · dim_boutique · dim_date</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peu de lignes</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on filtre et on regroupe par elles</a:t>
            </a:r>
            <a:endParaRPr lang="en-US" sz="2000" dirty="0"/>
          </a:p>
        </p:txBody>
      </p:sp>
      <p:sp>
        <p:nvSpPr>
          <p:cNvPr id="12" name="Shape 10"/>
          <p:cNvSpPr/>
          <p:nvPr/>
        </p:nvSpPr>
        <p:spPr>
          <a:xfrm>
            <a:off x="5821528" y="36118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6118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MODÉLISATION</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L'étoile de la mission 00</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781374" y="1316736"/>
            <a:ext cx="10628947" cy="5093208"/>
          </a:xfrm>
          <a:prstGeom prst="roundRect">
            <a:avLst>
              <a:gd name="adj" fmla="val 1077"/>
            </a:avLst>
          </a:prstGeom>
          <a:solidFill>
            <a:srgbClr val="FFFFFF"/>
          </a:solidFill>
          <a:ln w="9525">
            <a:solidFill>
              <a:srgbClr val="DCE2F0"/>
            </a:solidFill>
            <a:prstDash val="solid"/>
          </a:ln>
        </p:spPr>
      </p:sp>
      <p:pic>
        <p:nvPicPr>
          <p:cNvPr id="9" name="Image 0" descr="L'étoile de la mission 00">    </p:cNvPr>
          <p:cNvPicPr>
            <a:picLocks noChangeAspect="1"/>
          </p:cNvPicPr>
          <p:nvPr/>
        </p:nvPicPr>
        <p:blipFill>
          <a:blip r:embed="rId1"/>
          <a:srcRect l="0" r="0" t="16257" b="17251"/>
          <a:stretch/>
        </p:blipFill>
        <p:spPr>
          <a:xfrm>
            <a:off x="836238" y="1371600"/>
            <a:ext cx="10519219" cy="4983480"/>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CLÉS</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Clé métier et clé technique</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270134"/>
          </a:xfrm>
          <a:prstGeom prst="roundRect">
            <a:avLst>
              <a:gd name="adj" fmla="val 1285"/>
            </a:avLst>
          </a:prstGeom>
          <a:solidFill>
            <a:srgbClr val="FFFFFF"/>
          </a:solidFill>
          <a:ln w="9525">
            <a:solidFill>
              <a:srgbClr val="DCE2F0"/>
            </a:solidFill>
            <a:prstDash val="solid"/>
          </a:ln>
        </p:spPr>
      </p:sp>
      <p:pic>
        <p:nvPicPr>
          <p:cNvPr id="9" name="Image 0" descr="Clé métier et clé technique">    </p:cNvPr>
          <p:cNvPicPr>
            <a:picLocks noChangeAspect="1"/>
          </p:cNvPicPr>
          <p:nvPr/>
        </p:nvPicPr>
        <p:blipFill>
          <a:blip r:embed="rId1"/>
          <a:srcRect l="0" r="0" t="17361" b="20139"/>
          <a:stretch/>
        </p:blipFill>
        <p:spPr>
          <a:xfrm>
            <a:off x="548640" y="1371600"/>
            <a:ext cx="11094415" cy="4160406"/>
          </a:xfrm>
          <a:prstGeom prst="rect">
            <a:avLst/>
          </a:prstGeom>
        </p:spPr>
      </p:pic>
      <p:sp>
        <p:nvSpPr>
          <p:cNvPr id="10" name="Text 7"/>
          <p:cNvSpPr/>
          <p:nvPr/>
        </p:nvSpPr>
        <p:spPr>
          <a:xfrm>
            <a:off x="548640" y="5714886"/>
            <a:ext cx="11094415" cy="457200"/>
          </a:xfrm>
          <a:prstGeom prst="rect">
            <a:avLst/>
          </a:prstGeom>
          <a:noFill/>
          <a:ln/>
        </p:spPr>
        <p:txBody>
          <a:bodyPr wrap="square" lIns="0" tIns="0" rIns="0" bIns="0" rtlCol="0" anchor="ctr"/>
          <a:lstStyle/>
          <a:p>
            <a:pPr algn="ctr" indent="0" marL="0">
              <a:buNone/>
            </a:pPr>
            <a:r>
              <a:rPr lang="en-US" sz="1700" b="1" dirty="0">
                <a:solidFill>
                  <a:srgbClr val="2B3180"/>
                </a:solidFill>
                <a:latin typeface="Arial" pitchFamily="34" charset="0"/>
                <a:ea typeface="Arial" pitchFamily="34" charset="-122"/>
                <a:cs typeface="Arial" pitchFamily="34" charset="-120"/>
              </a:rPr>
              <a:t>Vente du 2026-07-14 → boutique_key 2 ; du 2026-07-15 → 4. Filtrer sur boutique_id = NBE réunit les deux.</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QUALITÉ</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600" b="1" dirty="0">
                <a:solidFill>
                  <a:srgbClr val="1A1F4D"/>
                </a:solidFill>
                <a:latin typeface="Arial" pitchFamily="34" charset="0"/>
                <a:ea typeface="Arial" pitchFamily="34" charset="-122"/>
                <a:cs typeface="Arial" pitchFamily="34" charset="-120"/>
              </a:rPr>
              <a:t>Nettoyer 1/2 : ce que la source contient</a:t>
            </a:r>
            <a:endParaRPr lang="en-US" sz="26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3008144"/>
          </a:xfrm>
          <a:prstGeom prst="roundRect">
            <a:avLst>
              <a:gd name="adj" fmla="val 1824"/>
            </a:avLst>
          </a:prstGeom>
          <a:solidFill>
            <a:srgbClr val="FFFFFF"/>
          </a:solidFill>
          <a:ln w="9525">
            <a:solidFill>
              <a:srgbClr val="DCE2F0"/>
            </a:solidFill>
            <a:prstDash val="solid"/>
          </a:ln>
        </p:spPr>
      </p:sp>
      <p:pic>
        <p:nvPicPr>
          <p:cNvPr id="9" name="Image 0" descr="Nettoyer 1/2 : ce que la source contient">    </p:cNvPr>
          <p:cNvPicPr>
            <a:picLocks noChangeAspect="1"/>
          </p:cNvPicPr>
          <p:nvPr/>
        </p:nvPicPr>
        <p:blipFill>
          <a:blip r:embed="rId1"/>
          <a:srcRect l="0" r="0" t="13315" b="52609"/>
          <a:stretch/>
        </p:blipFill>
        <p:spPr>
          <a:xfrm>
            <a:off x="548640" y="1371600"/>
            <a:ext cx="11094415" cy="2898416"/>
          </a:xfrm>
          <a:prstGeom prst="rect">
            <a:avLst/>
          </a:prstGeom>
        </p:spPr>
      </p:pic>
      <p:sp>
        <p:nvSpPr>
          <p:cNvPr id="10" name="Shape 7"/>
          <p:cNvSpPr/>
          <p:nvPr/>
        </p:nvSpPr>
        <p:spPr>
          <a:xfrm>
            <a:off x="548640" y="4516904"/>
            <a:ext cx="365760" cy="365760"/>
          </a:xfrm>
          <a:prstGeom prst="ellipse">
            <a:avLst/>
          </a:prstGeom>
          <a:solidFill>
            <a:srgbClr val="FF9A3C"/>
          </a:solidFill>
          <a:ln w="12700">
            <a:solidFill>
              <a:srgbClr val="FF9A3C"/>
            </a:solidFill>
            <a:prstDash val="solid"/>
          </a:ln>
        </p:spPr>
      </p:sp>
      <p:sp>
        <p:nvSpPr>
          <p:cNvPr id="11" name="Text 8"/>
          <p:cNvSpPr/>
          <p:nvPr/>
        </p:nvSpPr>
        <p:spPr>
          <a:xfrm>
            <a:off x="548640" y="451690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449861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ventes.csv reste intact : on lit, on n’écrit pas.</a:t>
            </a:r>
            <a:endParaRPr lang="en-US" sz="1700" dirty="0"/>
          </a:p>
        </p:txBody>
      </p:sp>
      <p:sp>
        <p:nvSpPr>
          <p:cNvPr id="13" name="Shape 10"/>
          <p:cNvSpPr/>
          <p:nvPr/>
        </p:nvSpPr>
        <p:spPr>
          <a:xfrm>
            <a:off x="4353458" y="4516904"/>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451690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449861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Six lignes, cinq défauts différents.</a:t>
            </a:r>
            <a:endParaRPr lang="en-US" sz="1700" dirty="0"/>
          </a:p>
        </p:txBody>
      </p:sp>
      <p:sp>
        <p:nvSpPr>
          <p:cNvPr id="16" name="Shape 13"/>
          <p:cNvSpPr/>
          <p:nvPr/>
        </p:nvSpPr>
        <p:spPr>
          <a:xfrm>
            <a:off x="8158277" y="4516904"/>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451690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4498616"/>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Chaque défaut a son traitement.</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QUALITÉ</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200" b="1" dirty="0">
                <a:solidFill>
                  <a:srgbClr val="1A1F4D"/>
                </a:solidFill>
                <a:latin typeface="Arial" pitchFamily="34" charset="0"/>
                <a:ea typeface="Arial" pitchFamily="34" charset="-122"/>
                <a:cs typeface="Arial" pitchFamily="34" charset="-120"/>
              </a:rPr>
              <a:t>Nettoyer 2/2 : acceptées, ignorées, rejetées</a:t>
            </a:r>
            <a:endParaRPr lang="en-US" sz="22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4584475"/>
          </a:xfrm>
          <a:prstGeom prst="roundRect">
            <a:avLst>
              <a:gd name="adj" fmla="val 1197"/>
            </a:avLst>
          </a:prstGeom>
          <a:solidFill>
            <a:srgbClr val="FFFFFF"/>
          </a:solidFill>
          <a:ln w="9525">
            <a:solidFill>
              <a:srgbClr val="DCE2F0"/>
            </a:solidFill>
            <a:prstDash val="solid"/>
          </a:ln>
        </p:spPr>
      </p:sp>
      <p:pic>
        <p:nvPicPr>
          <p:cNvPr id="9" name="Image 0" descr="Nettoyer 2/2 : acceptées, ignorées, rejetées">    </p:cNvPr>
          <p:cNvPicPr>
            <a:picLocks noChangeAspect="1"/>
          </p:cNvPicPr>
          <p:nvPr/>
        </p:nvPicPr>
        <p:blipFill>
          <a:blip r:embed="rId1"/>
          <a:srcRect l="0" r="0" t="47391" b="0"/>
          <a:stretch/>
        </p:blipFill>
        <p:spPr>
          <a:xfrm>
            <a:off x="548640" y="1371600"/>
            <a:ext cx="11094415" cy="4474747"/>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QUALITÉ</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L'échantillon : 12 lignes → 6 gardées</a:t>
            </a:r>
            <a:endParaRPr lang="en-US" sz="3000" dirty="0"/>
          </a:p>
        </p:txBody>
      </p:sp>
      <p:sp>
        <p:nvSpPr>
          <p:cNvPr id="6" name="Shape 4"/>
          <p:cNvSpPr/>
          <p:nvPr/>
        </p:nvSpPr>
        <p:spPr>
          <a:xfrm>
            <a:off x="548640" y="1965960"/>
            <a:ext cx="2430704" cy="3108960"/>
          </a:xfrm>
          <a:prstGeom prst="roundRect">
            <a:avLst>
              <a:gd name="adj" fmla="val 3762"/>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12 lues</a:t>
            </a:r>
            <a:endParaRPr lang="en-US" sz="1900" dirty="0"/>
          </a:p>
        </p:txBody>
      </p:sp>
      <p:sp>
        <p:nvSpPr>
          <p:cNvPr id="10" name="Text 8"/>
          <p:cNvSpPr/>
          <p:nvPr/>
        </p:nvSpPr>
        <p:spPr>
          <a:xfrm>
            <a:off x="749808"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ventes.csv</a:t>
            </a:r>
            <a:endParaRPr lang="en-US" sz="1700" dirty="0"/>
          </a:p>
          <a:p>
            <a:pPr indent="0" marL="0">
              <a:buNone/>
            </a:pPr>
            <a:r>
              <a:rPr lang="en-US" sz="1700" dirty="0">
                <a:solidFill>
                  <a:srgbClr val="1A1F4D"/>
                </a:solidFill>
                <a:latin typeface="Arial" pitchFamily="34" charset="0"/>
                <a:ea typeface="Arial" pitchFamily="34" charset="-122"/>
                <a:cs typeface="Arial" pitchFamily="34" charset="-120"/>
              </a:rPr>
              <a:t>de l'échantillon</a:t>
            </a:r>
            <a:endParaRPr lang="en-US" sz="1700" dirty="0"/>
          </a:p>
        </p:txBody>
      </p:sp>
      <p:sp>
        <p:nvSpPr>
          <p:cNvPr id="11" name="Shape 9"/>
          <p:cNvSpPr/>
          <p:nvPr/>
        </p:nvSpPr>
        <p:spPr>
          <a:xfrm>
            <a:off x="3043352" y="3520440"/>
            <a:ext cx="329184" cy="0"/>
          </a:xfrm>
          <a:prstGeom prst="line">
            <a:avLst/>
          </a:prstGeom>
          <a:noFill/>
          <a:ln w="31750">
            <a:solidFill>
              <a:srgbClr val="FF9A3C"/>
            </a:solidFill>
            <a:prstDash val="solid"/>
            <a:tailEnd type="triangle"/>
          </a:ln>
        </p:spPr>
      </p:sp>
      <p:sp>
        <p:nvSpPr>
          <p:cNvPr id="12" name="Shape 10"/>
          <p:cNvSpPr/>
          <p:nvPr/>
        </p:nvSpPr>
        <p:spPr>
          <a:xfrm>
            <a:off x="3436544" y="1965960"/>
            <a:ext cx="2430704" cy="3108960"/>
          </a:xfrm>
          <a:prstGeom prst="roundRect">
            <a:avLst>
              <a:gd name="adj" fmla="val 3762"/>
            </a:avLst>
          </a:prstGeom>
          <a:solidFill>
            <a:srgbClr val="F3F5FC"/>
          </a:solidFill>
          <a:ln w="9525">
            <a:solidFill>
              <a:srgbClr val="F3F5FC"/>
            </a:solidFill>
            <a:prstDash val="solid"/>
          </a:ln>
        </p:spPr>
      </p:sp>
      <p:sp>
        <p:nvSpPr>
          <p:cNvPr id="13" name="Shape 11"/>
          <p:cNvSpPr/>
          <p:nvPr/>
        </p:nvSpPr>
        <p:spPr>
          <a:xfrm>
            <a:off x="3637712"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637712"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637712"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1 doublon</a:t>
            </a:r>
            <a:endParaRPr lang="en-US" sz="1900" dirty="0"/>
          </a:p>
        </p:txBody>
      </p:sp>
      <p:sp>
        <p:nvSpPr>
          <p:cNvPr id="16" name="Text 14"/>
          <p:cNvSpPr/>
          <p:nvPr/>
        </p:nvSpPr>
        <p:spPr>
          <a:xfrm>
            <a:off x="3637712"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E-003-1 répété :</a:t>
            </a:r>
            <a:endParaRPr lang="en-US" sz="1700" dirty="0"/>
          </a:p>
          <a:p>
            <a:pPr indent="0" marL="0">
              <a:buNone/>
            </a:pPr>
            <a:r>
              <a:rPr lang="en-US" sz="1700" dirty="0">
                <a:solidFill>
                  <a:srgbClr val="1A1F4D"/>
                </a:solidFill>
                <a:latin typeface="Arial" pitchFamily="34" charset="0"/>
                <a:ea typeface="Arial" pitchFamily="34" charset="-122"/>
                <a:cs typeface="Arial" pitchFamily="34" charset="-120"/>
              </a:rPr>
              <a:t>ignoré</a:t>
            </a:r>
            <a:endParaRPr lang="en-US" sz="1700" dirty="0"/>
          </a:p>
        </p:txBody>
      </p:sp>
      <p:sp>
        <p:nvSpPr>
          <p:cNvPr id="17" name="Shape 15"/>
          <p:cNvSpPr/>
          <p:nvPr/>
        </p:nvSpPr>
        <p:spPr>
          <a:xfrm>
            <a:off x="5931256" y="3520440"/>
            <a:ext cx="329184" cy="0"/>
          </a:xfrm>
          <a:prstGeom prst="line">
            <a:avLst/>
          </a:prstGeom>
          <a:noFill/>
          <a:ln w="31750">
            <a:solidFill>
              <a:srgbClr val="FF9A3C"/>
            </a:solidFill>
            <a:prstDash val="solid"/>
            <a:tailEnd type="triangle"/>
          </a:ln>
        </p:spPr>
      </p:sp>
      <p:sp>
        <p:nvSpPr>
          <p:cNvPr id="18" name="Shape 16"/>
          <p:cNvSpPr/>
          <p:nvPr/>
        </p:nvSpPr>
        <p:spPr>
          <a:xfrm>
            <a:off x="6324448" y="1965960"/>
            <a:ext cx="2430704" cy="3108960"/>
          </a:xfrm>
          <a:prstGeom prst="roundRect">
            <a:avLst>
              <a:gd name="adj" fmla="val 3762"/>
            </a:avLst>
          </a:prstGeom>
          <a:solidFill>
            <a:srgbClr val="F3F5FC"/>
          </a:solidFill>
          <a:ln w="9525">
            <a:solidFill>
              <a:srgbClr val="F3F5FC"/>
            </a:solidFill>
            <a:prstDash val="solid"/>
          </a:ln>
        </p:spPr>
      </p:sp>
      <p:sp>
        <p:nvSpPr>
          <p:cNvPr id="19" name="Shape 17"/>
          <p:cNvSpPr/>
          <p:nvPr/>
        </p:nvSpPr>
        <p:spPr>
          <a:xfrm>
            <a:off x="6525616"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6525616"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6525616"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5 rejets</a:t>
            </a:r>
            <a:endParaRPr lang="en-US" sz="1900" dirty="0"/>
          </a:p>
        </p:txBody>
      </p:sp>
      <p:sp>
        <p:nvSpPr>
          <p:cNvPr id="22" name="Text 20"/>
          <p:cNvSpPr/>
          <p:nvPr/>
        </p:nvSpPr>
        <p:spPr>
          <a:xfrm>
            <a:off x="6525616"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2 id_conflit</a:t>
            </a:r>
            <a:endParaRPr lang="en-US" sz="1700" dirty="0"/>
          </a:p>
          <a:p>
            <a:pPr indent="0" marL="0">
              <a:buNone/>
            </a:pPr>
            <a:r>
              <a:rPr lang="en-US" sz="1700" dirty="0">
                <a:solidFill>
                  <a:srgbClr val="1A1F4D"/>
                </a:solidFill>
                <a:latin typeface="Arial" pitchFamily="34" charset="0"/>
                <a:ea typeface="Arial" pitchFamily="34" charset="-122"/>
                <a:cs typeface="Arial" pitchFamily="34" charset="-120"/>
              </a:rPr>
              <a:t>1 id_manquant</a:t>
            </a:r>
            <a:endParaRPr lang="en-US" sz="1700" dirty="0"/>
          </a:p>
          <a:p>
            <a:pPr indent="0" marL="0">
              <a:buNone/>
            </a:pPr>
            <a:r>
              <a:rPr lang="en-US" sz="1700" dirty="0">
                <a:solidFill>
                  <a:srgbClr val="1A1F4D"/>
                </a:solidFill>
                <a:latin typeface="Arial" pitchFamily="34" charset="0"/>
                <a:ea typeface="Arial" pitchFamily="34" charset="-122"/>
                <a:cs typeface="Arial" pitchFamily="34" charset="-120"/>
              </a:rPr>
              <a:t>1 cle_inconnue</a:t>
            </a:r>
            <a:endParaRPr lang="en-US" sz="1700" dirty="0"/>
          </a:p>
          <a:p>
            <a:pPr indent="0" marL="0">
              <a:buNone/>
            </a:pPr>
            <a:r>
              <a:rPr lang="en-US" sz="1700" dirty="0">
                <a:solidFill>
                  <a:srgbClr val="1A1F4D"/>
                </a:solidFill>
                <a:latin typeface="Arial" pitchFamily="34" charset="0"/>
                <a:ea typeface="Arial" pitchFamily="34" charset="-122"/>
                <a:cs typeface="Arial" pitchFamily="34" charset="-120"/>
              </a:rPr>
              <a:t>1 quantite_invalide</a:t>
            </a:r>
            <a:endParaRPr lang="en-US" sz="1700" dirty="0"/>
          </a:p>
        </p:txBody>
      </p:sp>
      <p:sp>
        <p:nvSpPr>
          <p:cNvPr id="23" name="Shape 21"/>
          <p:cNvSpPr/>
          <p:nvPr/>
        </p:nvSpPr>
        <p:spPr>
          <a:xfrm>
            <a:off x="8819159" y="3520440"/>
            <a:ext cx="329184" cy="0"/>
          </a:xfrm>
          <a:prstGeom prst="line">
            <a:avLst/>
          </a:prstGeom>
          <a:noFill/>
          <a:ln w="31750">
            <a:solidFill>
              <a:srgbClr val="FF9A3C"/>
            </a:solidFill>
            <a:prstDash val="solid"/>
            <a:tailEnd type="triangle"/>
          </a:ln>
        </p:spPr>
      </p:sp>
      <p:sp>
        <p:nvSpPr>
          <p:cNvPr id="24" name="Shape 22"/>
          <p:cNvSpPr/>
          <p:nvPr/>
        </p:nvSpPr>
        <p:spPr>
          <a:xfrm>
            <a:off x="9212351" y="1965960"/>
            <a:ext cx="2430704" cy="3108960"/>
          </a:xfrm>
          <a:prstGeom prst="roundRect">
            <a:avLst>
              <a:gd name="adj" fmla="val 3762"/>
            </a:avLst>
          </a:prstGeom>
          <a:solidFill>
            <a:srgbClr val="2B3180"/>
          </a:solidFill>
          <a:ln w="9525">
            <a:solidFill>
              <a:srgbClr val="2B3180"/>
            </a:solidFill>
            <a:prstDash val="solid"/>
          </a:ln>
        </p:spPr>
      </p:sp>
      <p:sp>
        <p:nvSpPr>
          <p:cNvPr id="25" name="Shape 23"/>
          <p:cNvSpPr/>
          <p:nvPr/>
        </p:nvSpPr>
        <p:spPr>
          <a:xfrm>
            <a:off x="9413519" y="2194560"/>
            <a:ext cx="420624" cy="420624"/>
          </a:xfrm>
          <a:prstGeom prst="ellipse">
            <a:avLst/>
          </a:prstGeom>
          <a:solidFill>
            <a:srgbClr val="FF9A3C"/>
          </a:solidFill>
          <a:ln w="12700">
            <a:solidFill>
              <a:srgbClr val="FF9A3C"/>
            </a:solidFill>
            <a:prstDash val="solid"/>
          </a:ln>
        </p:spPr>
      </p:sp>
      <p:sp>
        <p:nvSpPr>
          <p:cNvPr id="26" name="Text 24"/>
          <p:cNvSpPr/>
          <p:nvPr/>
        </p:nvSpPr>
        <p:spPr>
          <a:xfrm>
            <a:off x="9413519"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9413519" y="2770632"/>
            <a:ext cx="2028368"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6 gardées</a:t>
            </a:r>
            <a:endParaRPr lang="en-US" sz="1900" dirty="0"/>
          </a:p>
        </p:txBody>
      </p:sp>
      <p:sp>
        <p:nvSpPr>
          <p:cNvPr id="28" name="Text 26"/>
          <p:cNvSpPr/>
          <p:nvPr/>
        </p:nvSpPr>
        <p:spPr>
          <a:xfrm>
            <a:off x="9413519" y="3611880"/>
            <a:ext cx="2028368" cy="13258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à calculer</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à la main</a:t>
            </a:r>
            <a:endParaRPr lang="en-US" sz="1700" dirty="0"/>
          </a:p>
        </p:txBody>
      </p:sp>
      <p:sp>
        <p:nvSpPr>
          <p:cNvPr id="29" name="Shape 27"/>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0" name="Shape 28"/>
          <p:cNvSpPr/>
          <p:nvPr/>
        </p:nvSpPr>
        <p:spPr>
          <a:xfrm>
            <a:off x="694944" y="5733288"/>
            <a:ext cx="292608" cy="292608"/>
          </a:xfrm>
          <a:prstGeom prst="ellipse">
            <a:avLst/>
          </a:prstGeom>
          <a:solidFill>
            <a:srgbClr val="FF9A3C"/>
          </a:solidFill>
          <a:ln w="12700">
            <a:solidFill>
              <a:srgbClr val="FF9A3C"/>
            </a:solidFill>
            <a:prstDash val="solid"/>
          </a:ln>
        </p:spPr>
      </p:sp>
      <p:sp>
        <p:nvSpPr>
          <p:cNvPr id="31" name="Text 29"/>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2" name="Text 30"/>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Un doublon exact n'est pas un rejet : on garde une occurrence.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INDICATEURS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L'échantillon, calculé à la main</a:t>
            </a:r>
            <a:endParaRPr lang="en-US" sz="3000" dirty="0"/>
          </a:p>
        </p:txBody>
      </p:sp>
      <p:sp>
        <p:nvSpPr>
          <p:cNvPr id="6" name="Shape 4"/>
          <p:cNvSpPr/>
          <p:nvPr/>
        </p:nvSpPr>
        <p:spPr>
          <a:xfrm>
            <a:off x="548640" y="1874520"/>
            <a:ext cx="2567864" cy="3383280"/>
          </a:xfrm>
          <a:prstGeom prst="roundRect">
            <a:avLst>
              <a:gd name="adj" fmla="val 3561"/>
            </a:avLst>
          </a:prstGeom>
          <a:solidFill>
            <a:srgbClr val="F3F5FC"/>
          </a:solidFill>
          <a:ln w="9525">
            <a:solidFill>
              <a:srgbClr val="F3F5FC"/>
            </a:solidFill>
            <a:prstDash val="solid"/>
          </a:ln>
        </p:spPr>
      </p:sp>
      <p:sp>
        <p:nvSpPr>
          <p:cNvPr id="7" name="Text 5"/>
          <p:cNvSpPr/>
          <p:nvPr/>
        </p:nvSpPr>
        <p:spPr>
          <a:xfrm>
            <a:off x="731520" y="2286000"/>
            <a:ext cx="2202104" cy="1005840"/>
          </a:xfrm>
          <a:prstGeom prst="rect">
            <a:avLst/>
          </a:prstGeom>
          <a:noFill/>
          <a:ln/>
        </p:spPr>
        <p:txBody>
          <a:bodyPr wrap="square" lIns="0" tIns="0" rIns="0" bIns="0" rtlCol="0" anchor="ctr"/>
          <a:lstStyle/>
          <a:p>
            <a:pPr algn="ctr" indent="0" marL="0">
              <a:buNone/>
            </a:pPr>
            <a:r>
              <a:rPr lang="en-US" sz="3600" b="1" dirty="0">
                <a:solidFill>
                  <a:srgbClr val="2B3180"/>
                </a:solidFill>
                <a:latin typeface="Arial" pitchFamily="34" charset="0"/>
                <a:ea typeface="Arial" pitchFamily="34" charset="-122"/>
                <a:cs typeface="Arial" pitchFamily="34" charset="-120"/>
              </a:rPr>
              <a:t>127,350</a:t>
            </a:r>
            <a:endParaRPr lang="en-US" sz="3600" dirty="0"/>
          </a:p>
        </p:txBody>
      </p:sp>
      <p:sp>
        <p:nvSpPr>
          <p:cNvPr id="8" name="Text 6"/>
          <p:cNvSpPr/>
          <p:nvPr/>
        </p:nvSpPr>
        <p:spPr>
          <a:xfrm>
            <a:off x="731520"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TND ventes brutes</a:t>
            </a:r>
            <a:endParaRPr lang="en-US" sz="1700" dirty="0"/>
          </a:p>
        </p:txBody>
      </p:sp>
      <p:sp>
        <p:nvSpPr>
          <p:cNvPr id="9" name="Shape 7"/>
          <p:cNvSpPr/>
          <p:nvPr/>
        </p:nvSpPr>
        <p:spPr>
          <a:xfrm>
            <a:off x="3390824" y="1874520"/>
            <a:ext cx="2567864" cy="3383280"/>
          </a:xfrm>
          <a:prstGeom prst="roundRect">
            <a:avLst>
              <a:gd name="adj" fmla="val 3561"/>
            </a:avLst>
          </a:prstGeom>
          <a:solidFill>
            <a:srgbClr val="2B3180"/>
          </a:solidFill>
          <a:ln w="9525">
            <a:solidFill>
              <a:srgbClr val="2B3180"/>
            </a:solidFill>
            <a:prstDash val="solid"/>
          </a:ln>
        </p:spPr>
      </p:sp>
      <p:sp>
        <p:nvSpPr>
          <p:cNvPr id="10" name="Text 8"/>
          <p:cNvSpPr/>
          <p:nvPr/>
        </p:nvSpPr>
        <p:spPr>
          <a:xfrm>
            <a:off x="3573704" y="2286000"/>
            <a:ext cx="2202104" cy="10058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112,850</a:t>
            </a:r>
            <a:endParaRPr lang="en-US" sz="3600" dirty="0"/>
          </a:p>
        </p:txBody>
      </p:sp>
      <p:sp>
        <p:nvSpPr>
          <p:cNvPr id="11" name="Text 9"/>
          <p:cNvSpPr/>
          <p:nvPr/>
        </p:nvSpPr>
        <p:spPr>
          <a:xfrm>
            <a:off x="3573704" y="3520440"/>
            <a:ext cx="2202104" cy="1554480"/>
          </a:xfrm>
          <a:prstGeom prst="rect">
            <a:avLst/>
          </a:prstGeom>
          <a:noFill/>
          <a:ln/>
        </p:spPr>
        <p:txBody>
          <a:bodyPr wrap="square" lIns="0" tIns="0" rIns="0" bIns="0" rtlCol="0" anchor="t"/>
          <a:lstStyle/>
          <a:p>
            <a:pPr algn="ctr" indent="0" marL="0">
              <a:buNone/>
            </a:pPr>
            <a:r>
              <a:rPr lang="en-US" sz="1700" dirty="0">
                <a:solidFill>
                  <a:srgbClr val="FFFFFF"/>
                </a:solidFill>
                <a:latin typeface="Arial" pitchFamily="34" charset="0"/>
                <a:ea typeface="Arial" pitchFamily="34" charset="-122"/>
                <a:cs typeface="Arial" pitchFamily="34" charset="-120"/>
              </a:rPr>
              <a:t>TND ventes nettes</a:t>
            </a:r>
            <a:endParaRPr lang="en-US" sz="1700" dirty="0"/>
          </a:p>
          <a:p>
            <a:pPr algn="ctr" indent="0" marL="0">
              <a:buNone/>
            </a:pPr>
            <a:r>
              <a:rPr lang="en-US" sz="1700" dirty="0">
                <a:solidFill>
                  <a:srgbClr val="FFFFFF"/>
                </a:solidFill>
                <a:latin typeface="Arial" pitchFamily="34" charset="0"/>
                <a:ea typeface="Arial" pitchFamily="34" charset="-122"/>
                <a:cs typeface="Arial" pitchFamily="34" charset="-120"/>
              </a:rPr>
              <a:t>(− 14,500 de retours)</a:t>
            </a:r>
            <a:endParaRPr lang="en-US" sz="1700" dirty="0"/>
          </a:p>
        </p:txBody>
      </p:sp>
      <p:sp>
        <p:nvSpPr>
          <p:cNvPr id="12" name="Shape 10"/>
          <p:cNvSpPr/>
          <p:nvPr/>
        </p:nvSpPr>
        <p:spPr>
          <a:xfrm>
            <a:off x="6233008" y="1874520"/>
            <a:ext cx="2567864" cy="3383280"/>
          </a:xfrm>
          <a:prstGeom prst="roundRect">
            <a:avLst>
              <a:gd name="adj" fmla="val 3561"/>
            </a:avLst>
          </a:prstGeom>
          <a:solidFill>
            <a:srgbClr val="F3F5FC"/>
          </a:solidFill>
          <a:ln w="9525">
            <a:solidFill>
              <a:srgbClr val="F3F5FC"/>
            </a:solidFill>
            <a:prstDash val="solid"/>
          </a:ln>
        </p:spPr>
      </p:sp>
      <p:sp>
        <p:nvSpPr>
          <p:cNvPr id="13" name="Text 11"/>
          <p:cNvSpPr/>
          <p:nvPr/>
        </p:nvSpPr>
        <p:spPr>
          <a:xfrm>
            <a:off x="6415888"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45,600</a:t>
            </a:r>
            <a:endParaRPr lang="en-US" sz="4400" dirty="0"/>
          </a:p>
        </p:txBody>
      </p:sp>
      <p:sp>
        <p:nvSpPr>
          <p:cNvPr id="14" name="Text 12"/>
          <p:cNvSpPr/>
          <p:nvPr/>
        </p:nvSpPr>
        <p:spPr>
          <a:xfrm>
            <a:off x="6415888"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TND marge sur coût d'achat</a:t>
            </a:r>
            <a:endParaRPr lang="en-US" sz="1700" dirty="0"/>
          </a:p>
        </p:txBody>
      </p:sp>
      <p:sp>
        <p:nvSpPr>
          <p:cNvPr id="15" name="Shape 13"/>
          <p:cNvSpPr/>
          <p:nvPr/>
        </p:nvSpPr>
        <p:spPr>
          <a:xfrm>
            <a:off x="9075191" y="1874520"/>
            <a:ext cx="2567864" cy="3383280"/>
          </a:xfrm>
          <a:prstGeom prst="roundRect">
            <a:avLst>
              <a:gd name="adj" fmla="val 3561"/>
            </a:avLst>
          </a:prstGeom>
          <a:solidFill>
            <a:srgbClr val="F3F5FC"/>
          </a:solidFill>
          <a:ln w="9525">
            <a:solidFill>
              <a:srgbClr val="F3F5FC"/>
            </a:solidFill>
            <a:prstDash val="solid"/>
          </a:ln>
        </p:spPr>
      </p:sp>
      <p:sp>
        <p:nvSpPr>
          <p:cNvPr id="16" name="Text 14"/>
          <p:cNvSpPr/>
          <p:nvPr/>
        </p:nvSpPr>
        <p:spPr>
          <a:xfrm>
            <a:off x="9258071" y="2286000"/>
            <a:ext cx="2202104" cy="1005840"/>
          </a:xfrm>
          <a:prstGeom prst="rect">
            <a:avLst/>
          </a:prstGeom>
          <a:noFill/>
          <a:ln/>
        </p:spPr>
        <p:txBody>
          <a:bodyPr wrap="square" lIns="0" tIns="0" rIns="0" bIns="0" rtlCol="0" anchor="ctr"/>
          <a:lstStyle/>
          <a:p>
            <a:pPr algn="ctr" indent="0" marL="0">
              <a:buNone/>
            </a:pPr>
            <a:r>
              <a:rPr lang="en-US" sz="3600" b="1" dirty="0">
                <a:solidFill>
                  <a:srgbClr val="2B3180"/>
                </a:solidFill>
                <a:latin typeface="Arial" pitchFamily="34" charset="0"/>
                <a:ea typeface="Arial" pitchFamily="34" charset="-122"/>
                <a:cs typeface="Arial" pitchFamily="34" charset="-120"/>
              </a:rPr>
              <a:t>11,39 %</a:t>
            </a:r>
            <a:endParaRPr lang="en-US" sz="3600" dirty="0"/>
          </a:p>
        </p:txBody>
      </p:sp>
      <p:sp>
        <p:nvSpPr>
          <p:cNvPr id="17" name="Text 15"/>
          <p:cNvSpPr/>
          <p:nvPr/>
        </p:nvSpPr>
        <p:spPr>
          <a:xfrm>
            <a:off x="9258071"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taux de retour</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14 500 / 127 350</a:t>
            </a:r>
            <a:endParaRPr lang="en-US" sz="1700" dirty="0"/>
          </a:p>
        </p:txBody>
      </p:sp>
      <p:sp>
        <p:nvSpPr>
          <p:cNvPr id="18" name="Shape 16"/>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9" name="Shape 17"/>
          <p:cNvSpPr/>
          <p:nvPr/>
        </p:nvSpPr>
        <p:spPr>
          <a:xfrm>
            <a:off x="694944" y="5733288"/>
            <a:ext cx="292608" cy="292608"/>
          </a:xfrm>
          <a:prstGeom prst="ellipse">
            <a:avLst/>
          </a:prstGeom>
          <a:solidFill>
            <a:srgbClr val="FF9A3C"/>
          </a:solidFill>
          <a:ln w="12700">
            <a:solidFill>
              <a:srgbClr val="FF9A3C"/>
            </a:solidFill>
            <a:prstDash val="solid"/>
          </a:ln>
        </p:spPr>
      </p:sp>
      <p:sp>
        <p:nvSpPr>
          <p:cNvPr id="20" name="Text 18"/>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1" name="Text 19"/>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Calculez AVANT de demander quoi que ce soit à Codex : ces nombres vérifient son code.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INDICATEURS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Cinq indicateurs, cinq définitions exactes</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10011"/>
                <a:gridCol w="6547524"/>
                <a:gridCol w="1636881"/>
              </a:tblGrid>
              <a:tr h="624840">
                <a:tc>
                  <a:txBody>
                    <a:bodyPr/>
                    <a:lstStyle/>
                    <a:p>
                      <a:pPr indent="0" marL="0">
                        <a:buNone/>
                      </a:pPr>
                      <a:r>
                        <a:rPr lang="en-US" sz="1600" b="1" dirty="0">
                          <a:solidFill>
                            <a:srgbClr val="FFFFFF"/>
                          </a:solidFill>
                          <a:latin typeface="Arial" pitchFamily="34" charset="0"/>
                          <a:ea typeface="Arial" pitchFamily="34" charset="-122"/>
                          <a:cs typeface="Arial" pitchFamily="34" charset="-120"/>
                        </a:rPr>
                        <a:t>Indicateur</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Définition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Unité</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624840">
                <a:tc>
                  <a:txBody>
                    <a:bodyPr/>
                    <a:lstStyle/>
                    <a:p>
                      <a:pPr indent="0" marL="0">
                        <a:buNone/>
                      </a:pPr>
                      <a:r>
                        <a:rPr lang="en-US" sz="1600" b="1" dirty="0">
                          <a:solidFill>
                            <a:srgbClr val="2B3180"/>
                          </a:solidFill>
                          <a:latin typeface="Arial" pitchFamily="34" charset="0"/>
                          <a:ea typeface="Arial" pitchFamily="34" charset="-122"/>
                          <a:cs typeface="Arial" pitchFamily="34" charset="-120"/>
                        </a:rPr>
                        <a:t>Ventes brutes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Σ quantité × prix du ticket, lignes acceptées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TND</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624840">
                <a:tc>
                  <a:txBody>
                    <a:bodyPr/>
                    <a:lstStyle/>
                    <a:p>
                      <a:pPr indent="0" marL="0">
                        <a:buNone/>
                      </a:pPr>
                      <a:r>
                        <a:rPr lang="en-US" sz="1600" b="1" dirty="0">
                          <a:solidFill>
                            <a:srgbClr val="2B3180"/>
                          </a:solidFill>
                          <a:latin typeface="Arial" pitchFamily="34" charset="0"/>
                          <a:ea typeface="Arial" pitchFamily="34" charset="-122"/>
                          <a:cs typeface="Arial" pitchFamily="34" charset="-120"/>
                        </a:rPr>
                        <a:t>Retours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Σ remboursements des retours VALIDE acceptés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TND</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624840">
                <a:tc>
                  <a:txBody>
                    <a:bodyPr/>
                    <a:lstStyle/>
                    <a:p>
                      <a:pPr indent="0" marL="0">
                        <a:buNone/>
                      </a:pPr>
                      <a:r>
                        <a:rPr lang="en-US" sz="1600" b="1" dirty="0">
                          <a:solidFill>
                            <a:srgbClr val="2B3180"/>
                          </a:solidFill>
                          <a:latin typeface="Arial" pitchFamily="34" charset="0"/>
                          <a:ea typeface="Arial" pitchFamily="34" charset="-122"/>
                          <a:cs typeface="Arial" pitchFamily="34" charset="-120"/>
                        </a:rPr>
                        <a:t>Ventes nettes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ventes brutes − retours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TND</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624840">
                <a:tc>
                  <a:txBody>
                    <a:bodyPr/>
                    <a:lstStyle/>
                    <a:p>
                      <a:pPr indent="0" marL="0">
                        <a:buNone/>
                      </a:pPr>
                      <a:r>
                        <a:rPr lang="en-US" sz="1600" b="1" dirty="0">
                          <a:solidFill>
                            <a:srgbClr val="2B3180"/>
                          </a:solidFill>
                          <a:latin typeface="Arial" pitchFamily="34" charset="0"/>
                          <a:ea typeface="Arial" pitchFamily="34" charset="-122"/>
                          <a:cs typeface="Arial" pitchFamily="34" charset="-120"/>
                        </a:rPr>
                        <a:t>Marge sur coût d'achat</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ventes nettes − coût d'achat des unités nettes</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TND</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624840">
                <a:tc>
                  <a:txBody>
                    <a:bodyPr/>
                    <a:lstStyle/>
                    <a:p>
                      <a:pPr indent="0" marL="0">
                        <a:buNone/>
                      </a:pPr>
                      <a:r>
                        <a:rPr lang="en-US" sz="1600" b="1" dirty="0">
                          <a:solidFill>
                            <a:srgbClr val="2B3180"/>
                          </a:solidFill>
                          <a:latin typeface="Arial" pitchFamily="34" charset="0"/>
                          <a:ea typeface="Arial" pitchFamily="34" charset="-122"/>
                          <a:cs typeface="Arial" pitchFamily="34" charset="-120"/>
                        </a:rPr>
                        <a:t>Taux de retour</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retours / ventes brutes (en montant)</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7" name="Shape 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8" name="Shape 5"/>
          <p:cNvSpPr/>
          <p:nvPr/>
        </p:nvSpPr>
        <p:spPr>
          <a:xfrm>
            <a:off x="694944" y="5733288"/>
            <a:ext cx="292608" cy="292608"/>
          </a:xfrm>
          <a:prstGeom prst="ellipse">
            <a:avLst/>
          </a:prstGeom>
          <a:solidFill>
            <a:srgbClr val="FF9A3C"/>
          </a:solidFill>
          <a:ln w="12700">
            <a:solidFill>
              <a:srgbClr val="FF9A3C"/>
            </a:solidFill>
            <a:prstDash val="solid"/>
          </a:ln>
        </p:spPr>
      </p:sp>
      <p:sp>
        <p:nvSpPr>
          <p:cNvPr id="9" name="Text 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0" name="Text 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 Marge » veut toujours dire marge sur coût d'achat, jamais « bénéfice ».</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SQL</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SQL paramétré : le « ? » est une case</a:t>
            </a:r>
            <a:endParaRPr lang="en-US" sz="3000" dirty="0"/>
          </a:p>
        </p:txBody>
      </p:sp>
      <p:sp>
        <p:nvSpPr>
          <p:cNvPr id="6" name="Text 4"/>
          <p:cNvSpPr/>
          <p:nvPr/>
        </p:nvSpPr>
        <p:spPr>
          <a:xfrm>
            <a:off x="548640" y="1600200"/>
            <a:ext cx="6949440" cy="310896"/>
          </a:xfrm>
          <a:prstGeom prst="rect">
            <a:avLst/>
          </a:prstGeom>
          <a:noFill/>
          <a:ln/>
        </p:spPr>
        <p:txBody>
          <a:bodyPr wrap="square" lIns="0" tIns="0" rIns="0" bIns="0" rtlCol="0" anchor="ctr"/>
          <a:lstStyle/>
          <a:p>
            <a:pPr indent="0" marL="0">
              <a:buNone/>
            </a:pPr>
            <a:r>
              <a:rPr lang="en-US" sz="1400" b="1" dirty="0">
                <a:solidFill>
                  <a:srgbClr val="5A6478"/>
                </a:solidFill>
                <a:latin typeface="Arial" pitchFamily="34" charset="0"/>
                <a:ea typeface="Arial" pitchFamily="34" charset="-122"/>
                <a:cs typeface="Arial" pitchFamily="34" charset="-120"/>
              </a:rPr>
              <a:t>Code produit par Codex · à lire, pas à taper</a:t>
            </a:r>
            <a:endParaRPr lang="en-US" sz="1400" dirty="0"/>
          </a:p>
        </p:txBody>
      </p:sp>
      <p:sp>
        <p:nvSpPr>
          <p:cNvPr id="7" name="Shape 5"/>
          <p:cNvSpPr/>
          <p:nvPr/>
        </p:nvSpPr>
        <p:spPr>
          <a:xfrm>
            <a:off x="548640" y="1965960"/>
            <a:ext cx="6949440" cy="3429000"/>
          </a:xfrm>
          <a:prstGeom prst="roundRect">
            <a:avLst>
              <a:gd name="adj" fmla="val 2133"/>
            </a:avLst>
          </a:prstGeom>
          <a:solidFill>
            <a:srgbClr val="07152F"/>
          </a:solidFill>
          <a:ln w="9525">
            <a:solidFill>
              <a:srgbClr val="07152F"/>
            </a:solidFill>
            <a:prstDash val="solid"/>
          </a:ln>
        </p:spPr>
      </p:sp>
      <p:sp>
        <p:nvSpPr>
          <p:cNvPr id="8" name="Text 6"/>
          <p:cNvSpPr/>
          <p:nvPr/>
        </p:nvSpPr>
        <p:spPr>
          <a:xfrm>
            <a:off x="822960" y="2148840"/>
            <a:ext cx="6400800" cy="3063240"/>
          </a:xfrm>
          <a:prstGeom prst="rect">
            <a:avLst/>
          </a:prstGeom>
          <a:noFill/>
          <a:ln/>
        </p:spPr>
        <p:txBody>
          <a:bodyPr wrap="square" lIns="0" tIns="0" rIns="0" bIns="0" rtlCol="0" anchor="t"/>
          <a:lstStyle/>
          <a:p>
            <a:pPr indent="0" marL="0">
              <a:buNone/>
            </a:pPr>
            <a:r>
              <a:rPr lang="en-US" sz="1900" dirty="0">
                <a:solidFill>
                  <a:srgbClr val="FFFFFF"/>
                </a:solidFill>
                <a:latin typeface="Courier New" pitchFamily="34" charset="0"/>
                <a:ea typeface="Courier New" pitchFamily="34" charset="-122"/>
                <a:cs typeface="Courier New" pitchFamily="34" charset="-120"/>
              </a:rPr>
              <a:t>sql = "SELECT * FROM retour"</a:t>
            </a:r>
            <a:endParaRPr lang="en-US" sz="1900" dirty="0"/>
          </a:p>
          <a:p>
            <a:pPr indent="0" marL="0">
              <a:buNone/>
            </a:pPr>
            <a:r>
              <a:rPr lang="en-US" sz="1900" dirty="0">
                <a:solidFill>
                  <a:srgbClr val="FFFFFF"/>
                </a:solidFill>
                <a:latin typeface="Courier New" pitchFamily="34" charset="0"/>
                <a:ea typeface="Courier New" pitchFamily="34" charset="-122"/>
                <a:cs typeface="Courier New" pitchFamily="34" charset="-120"/>
              </a:rPr>
              <a:t>      " WHERE statut = ?"</a:t>
            </a:r>
            <a:endParaRPr lang="en-US" sz="1900" dirty="0"/>
          </a:p>
          <a:p>
            <a:pPr indent="0" marL="0">
              <a:buNone/>
            </a:pPr>
            <a:r>
              <a:rPr lang="en-US" sz="1900" dirty="0">
                <a:solidFill>
                  <a:srgbClr val="FFFFFF"/>
                </a:solidFill>
                <a:latin typeface="Courier New" pitchFamily="34" charset="0"/>
                <a:ea typeface="Courier New" pitchFamily="34" charset="-122"/>
                <a:cs typeface="Courier New" pitchFamily="34" charset="-120"/>
              </a:rPr>
              <a:t>      " AND date_retour &gt;= ?"</a:t>
            </a:r>
            <a:endParaRPr lang="en-US" sz="1900" dirty="0"/>
          </a:p>
          <a:p>
            <a:pPr indent="0" marL="0">
              <a:buNone/>
            </a:pPr>
            <a:r>
              <a:rPr lang="en-US" sz="1900" dirty="0">
                <a:solidFill>
                  <a:srgbClr val="FFFFFF"/>
                </a:solidFill>
                <a:latin typeface="Courier New" pitchFamily="34" charset="0"/>
                <a:ea typeface="Courier New" pitchFamily="34" charset="-122"/>
                <a:cs typeface="Courier New" pitchFamily="34" charset="-120"/>
              </a:rPr>
              <a:t>      " AND date_retour &lt; ?"</a:t>
            </a:r>
            <a:endParaRPr lang="en-US" sz="1900" dirty="0"/>
          </a:p>
          <a:p>
            <a:pPr indent="0" marL="0">
              <a:buNone/>
            </a:pPr>
            <a:r>
              <a:rPr lang="en-US" sz="1900" dirty="0">
                <a:solidFill>
                  <a:srgbClr val="FFFFFF"/>
                </a:solidFill>
                <a:latin typeface="Courier New" pitchFamily="34" charset="0"/>
                <a:ea typeface="Courier New" pitchFamily="34" charset="-122"/>
                <a:cs typeface="Courier New" pitchFamily="34" charset="-120"/>
              </a:rPr>
              <a:t>mars = requete_sqlite(base, sql,</a:t>
            </a:r>
            <a:endParaRPr lang="en-US" sz="1900" dirty="0"/>
          </a:p>
          <a:p>
            <a:pPr indent="0" marL="0">
              <a:buNone/>
            </a:pPr>
            <a:r>
              <a:rPr lang="en-US" sz="1900" dirty="0">
                <a:solidFill>
                  <a:srgbClr val="FFFFFF"/>
                </a:solidFill>
                <a:latin typeface="Courier New" pitchFamily="34" charset="0"/>
                <a:ea typeface="Courier New" pitchFamily="34" charset="-122"/>
                <a:cs typeface="Courier New" pitchFamily="34" charset="-120"/>
              </a:rPr>
              <a:t>  ("VALIDE", "2026-03-01", "2026-04-01"))</a:t>
            </a:r>
            <a:endParaRPr lang="en-US" sz="1900" dirty="0"/>
          </a:p>
        </p:txBody>
      </p:sp>
      <p:sp>
        <p:nvSpPr>
          <p:cNvPr id="9" name="Shape 7"/>
          <p:cNvSpPr/>
          <p:nvPr/>
        </p:nvSpPr>
        <p:spPr>
          <a:xfrm>
            <a:off x="7955280" y="2075688"/>
            <a:ext cx="365760" cy="365760"/>
          </a:xfrm>
          <a:prstGeom prst="ellipse">
            <a:avLst/>
          </a:prstGeom>
          <a:solidFill>
            <a:srgbClr val="FF9A3C"/>
          </a:solidFill>
          <a:ln w="12700">
            <a:solidFill>
              <a:srgbClr val="FF9A3C"/>
            </a:solidFill>
            <a:prstDash val="solid"/>
          </a:ln>
        </p:spPr>
      </p:sp>
      <p:sp>
        <p:nvSpPr>
          <p:cNvPr id="10" name="Text 8"/>
          <p:cNvSpPr/>
          <p:nvPr/>
        </p:nvSpPr>
        <p:spPr>
          <a:xfrm>
            <a:off x="7955280" y="2075688"/>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1" name="Text 9"/>
          <p:cNvSpPr/>
          <p:nvPr/>
        </p:nvSpPr>
        <p:spPr>
          <a:xfrm>
            <a:off x="8458200" y="2057400"/>
            <a:ext cx="3184855" cy="8686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Base opérationnelle ouverte en lecture seule.</a:t>
            </a:r>
            <a:endParaRPr lang="en-US" sz="1700" dirty="0"/>
          </a:p>
        </p:txBody>
      </p:sp>
      <p:sp>
        <p:nvSpPr>
          <p:cNvPr id="12" name="Shape 10"/>
          <p:cNvSpPr/>
          <p:nvPr/>
        </p:nvSpPr>
        <p:spPr>
          <a:xfrm>
            <a:off x="7955280" y="3099816"/>
            <a:ext cx="365760" cy="365760"/>
          </a:xfrm>
          <a:prstGeom prst="ellipse">
            <a:avLst/>
          </a:prstGeom>
          <a:solidFill>
            <a:srgbClr val="FF9A3C"/>
          </a:solidFill>
          <a:ln w="12700">
            <a:solidFill>
              <a:srgbClr val="FF9A3C"/>
            </a:solidFill>
            <a:prstDash val="solid"/>
          </a:ln>
        </p:spPr>
      </p:sp>
      <p:sp>
        <p:nvSpPr>
          <p:cNvPr id="13" name="Text 11"/>
          <p:cNvSpPr/>
          <p:nvPr/>
        </p:nvSpPr>
        <p:spPr>
          <a:xfrm>
            <a:off x="7955280" y="3099816"/>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8458200" y="3081528"/>
            <a:ext cx="3184855" cy="8686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La valeur part à part : jamais lue comme du SQL.</a:t>
            </a:r>
            <a:endParaRPr lang="en-US" sz="1700" dirty="0"/>
          </a:p>
        </p:txBody>
      </p:sp>
      <p:sp>
        <p:nvSpPr>
          <p:cNvPr id="15" name="Shape 13"/>
          <p:cNvSpPr/>
          <p:nvPr/>
        </p:nvSpPr>
        <p:spPr>
          <a:xfrm>
            <a:off x="7955280" y="4123944"/>
            <a:ext cx="365760" cy="365760"/>
          </a:xfrm>
          <a:prstGeom prst="ellipse">
            <a:avLst/>
          </a:prstGeom>
          <a:solidFill>
            <a:srgbClr val="FF9A3C"/>
          </a:solidFill>
          <a:ln w="12700">
            <a:solidFill>
              <a:srgbClr val="FF9A3C"/>
            </a:solidFill>
            <a:prstDash val="solid"/>
          </a:ln>
        </p:spPr>
      </p:sp>
      <p:sp>
        <p:nvSpPr>
          <p:cNvPr id="16" name="Text 14"/>
          <p:cNvSpPr/>
          <p:nvPr/>
        </p:nvSpPr>
        <p:spPr>
          <a:xfrm>
            <a:off x="7955280" y="412394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458200" y="4105656"/>
            <a:ext cx="3184855" cy="8686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Résultat : 25 retours VALIDE en mars 2026.</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CHARGEMENT</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Lot 1 : le chargement initial</a:t>
            </a:r>
            <a:endParaRPr lang="en-US" sz="3000" dirty="0"/>
          </a:p>
        </p:txBody>
      </p:sp>
      <p:sp>
        <p:nvSpPr>
          <p:cNvPr id="6" name="Shape 4"/>
          <p:cNvSpPr/>
          <p:nvPr/>
        </p:nvSpPr>
        <p:spPr>
          <a:xfrm>
            <a:off x="548640" y="1874520"/>
            <a:ext cx="2567864" cy="3383280"/>
          </a:xfrm>
          <a:prstGeom prst="roundRect">
            <a:avLst>
              <a:gd name="adj" fmla="val 3561"/>
            </a:avLst>
          </a:prstGeom>
          <a:solidFill>
            <a:srgbClr val="F3F5FC"/>
          </a:solidFill>
          <a:ln w="9525">
            <a:solidFill>
              <a:srgbClr val="F3F5FC"/>
            </a:solidFill>
            <a:prstDash val="solid"/>
          </a:ln>
        </p:spPr>
      </p:sp>
      <p:sp>
        <p:nvSpPr>
          <p:cNvPr id="7" name="Text 5"/>
          <p:cNvSpPr/>
          <p:nvPr/>
        </p:nvSpPr>
        <p:spPr>
          <a:xfrm>
            <a:off x="731520"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1998</a:t>
            </a:r>
            <a:endParaRPr lang="en-US" sz="4400" dirty="0"/>
          </a:p>
        </p:txBody>
      </p:sp>
      <p:sp>
        <p:nvSpPr>
          <p:cNvPr id="8" name="Text 6"/>
          <p:cNvSpPr/>
          <p:nvPr/>
        </p:nvSpPr>
        <p:spPr>
          <a:xfrm>
            <a:off x="731520"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lignes lues</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dans ventes.csv</a:t>
            </a:r>
            <a:endParaRPr lang="en-US" sz="1700" dirty="0"/>
          </a:p>
        </p:txBody>
      </p:sp>
      <p:sp>
        <p:nvSpPr>
          <p:cNvPr id="9" name="Shape 7"/>
          <p:cNvSpPr/>
          <p:nvPr/>
        </p:nvSpPr>
        <p:spPr>
          <a:xfrm>
            <a:off x="3390824" y="1874520"/>
            <a:ext cx="2567864" cy="3383280"/>
          </a:xfrm>
          <a:prstGeom prst="roundRect">
            <a:avLst>
              <a:gd name="adj" fmla="val 3561"/>
            </a:avLst>
          </a:prstGeom>
          <a:solidFill>
            <a:srgbClr val="2B3180"/>
          </a:solidFill>
          <a:ln w="9525">
            <a:solidFill>
              <a:srgbClr val="2B3180"/>
            </a:solidFill>
            <a:prstDash val="solid"/>
          </a:ln>
        </p:spPr>
      </p:sp>
      <p:sp>
        <p:nvSpPr>
          <p:cNvPr id="10" name="Text 8"/>
          <p:cNvSpPr/>
          <p:nvPr/>
        </p:nvSpPr>
        <p:spPr>
          <a:xfrm>
            <a:off x="3573704" y="2286000"/>
            <a:ext cx="2202104" cy="100584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26</a:t>
            </a:r>
            <a:endParaRPr lang="en-US" sz="4400" dirty="0"/>
          </a:p>
        </p:txBody>
      </p:sp>
      <p:sp>
        <p:nvSpPr>
          <p:cNvPr id="11" name="Text 9"/>
          <p:cNvSpPr/>
          <p:nvPr/>
        </p:nvSpPr>
        <p:spPr>
          <a:xfrm>
            <a:off x="3573704" y="3520440"/>
            <a:ext cx="2202104" cy="1554480"/>
          </a:xfrm>
          <a:prstGeom prst="rect">
            <a:avLst/>
          </a:prstGeom>
          <a:noFill/>
          <a:ln/>
        </p:spPr>
        <p:txBody>
          <a:bodyPr wrap="square" lIns="0" tIns="0" rIns="0" bIns="0" rtlCol="0" anchor="t"/>
          <a:lstStyle/>
          <a:p>
            <a:pPr algn="ctr" indent="0" marL="0">
              <a:buNone/>
            </a:pPr>
            <a:r>
              <a:rPr lang="en-US" sz="1700" dirty="0">
                <a:solidFill>
                  <a:srgbClr val="FFFFFF"/>
                </a:solidFill>
                <a:latin typeface="Arial" pitchFamily="34" charset="0"/>
                <a:ea typeface="Arial" pitchFamily="34" charset="-122"/>
                <a:cs typeface="Arial" pitchFamily="34" charset="-120"/>
              </a:rPr>
              <a:t>rejets motivés</a:t>
            </a:r>
            <a:endParaRPr lang="en-US" sz="1700" dirty="0"/>
          </a:p>
          <a:p>
            <a:pPr algn="ctr" indent="0" marL="0">
              <a:buNone/>
            </a:pPr>
            <a:r>
              <a:rPr lang="en-US" sz="1700" dirty="0">
                <a:solidFill>
                  <a:srgbClr val="FFFFFF"/>
                </a:solidFill>
                <a:latin typeface="Arial" pitchFamily="34" charset="0"/>
                <a:ea typeface="Arial" pitchFamily="34" charset="-122"/>
                <a:cs typeface="Arial" pitchFamily="34" charset="-120"/>
              </a:rPr>
              <a:t>(dont 2 retours)</a:t>
            </a:r>
            <a:endParaRPr lang="en-US" sz="1700" dirty="0"/>
          </a:p>
        </p:txBody>
      </p:sp>
      <p:sp>
        <p:nvSpPr>
          <p:cNvPr id="12" name="Shape 10"/>
          <p:cNvSpPr/>
          <p:nvPr/>
        </p:nvSpPr>
        <p:spPr>
          <a:xfrm>
            <a:off x="6233008" y="1874520"/>
            <a:ext cx="2567864" cy="3383280"/>
          </a:xfrm>
          <a:prstGeom prst="roundRect">
            <a:avLst>
              <a:gd name="adj" fmla="val 3561"/>
            </a:avLst>
          </a:prstGeom>
          <a:solidFill>
            <a:srgbClr val="F3F5FC"/>
          </a:solidFill>
          <a:ln w="9525">
            <a:solidFill>
              <a:srgbClr val="F3F5FC"/>
            </a:solidFill>
            <a:prstDash val="solid"/>
          </a:ln>
        </p:spPr>
      </p:sp>
      <p:sp>
        <p:nvSpPr>
          <p:cNvPr id="13" name="Text 11"/>
          <p:cNvSpPr/>
          <p:nvPr/>
        </p:nvSpPr>
        <p:spPr>
          <a:xfrm>
            <a:off x="6415888"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1960</a:t>
            </a:r>
            <a:endParaRPr lang="en-US" sz="4400" dirty="0"/>
          </a:p>
        </p:txBody>
      </p:sp>
      <p:sp>
        <p:nvSpPr>
          <p:cNvPr id="14" name="Text 12"/>
          <p:cNvSpPr/>
          <p:nvPr/>
        </p:nvSpPr>
        <p:spPr>
          <a:xfrm>
            <a:off x="6415888"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faits dans</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fact_vente</a:t>
            </a:r>
            <a:endParaRPr lang="en-US" sz="1700" dirty="0"/>
          </a:p>
        </p:txBody>
      </p:sp>
      <p:sp>
        <p:nvSpPr>
          <p:cNvPr id="15" name="Shape 13"/>
          <p:cNvSpPr/>
          <p:nvPr/>
        </p:nvSpPr>
        <p:spPr>
          <a:xfrm>
            <a:off x="9075191" y="1874520"/>
            <a:ext cx="2567864" cy="3383280"/>
          </a:xfrm>
          <a:prstGeom prst="roundRect">
            <a:avLst>
              <a:gd name="adj" fmla="val 3561"/>
            </a:avLst>
          </a:prstGeom>
          <a:solidFill>
            <a:srgbClr val="F3F5FC"/>
          </a:solidFill>
          <a:ln w="9525">
            <a:solidFill>
              <a:srgbClr val="F3F5FC"/>
            </a:solidFill>
            <a:prstDash val="solid"/>
          </a:ln>
        </p:spPr>
      </p:sp>
      <p:sp>
        <p:nvSpPr>
          <p:cNvPr id="16" name="Text 14"/>
          <p:cNvSpPr/>
          <p:nvPr/>
        </p:nvSpPr>
        <p:spPr>
          <a:xfrm>
            <a:off x="9258071" y="2286000"/>
            <a:ext cx="2202104" cy="1005840"/>
          </a:xfrm>
          <a:prstGeom prst="rect">
            <a:avLst/>
          </a:prstGeom>
          <a:noFill/>
          <a:ln/>
        </p:spPr>
        <p:txBody>
          <a:bodyPr wrap="square" lIns="0" tIns="0" rIns="0" bIns="0" rtlCol="0" anchor="ctr"/>
          <a:lstStyle/>
          <a:p>
            <a:pPr algn="ctr" indent="0" marL="0">
              <a:buNone/>
            </a:pPr>
            <a:r>
              <a:rPr lang="en-US" sz="3000" b="1" dirty="0">
                <a:solidFill>
                  <a:srgbClr val="2B3180"/>
                </a:solidFill>
                <a:latin typeface="Arial" pitchFamily="34" charset="0"/>
                <a:ea typeface="Arial" pitchFamily="34" charset="-122"/>
                <a:cs typeface="Arial" pitchFamily="34" charset="-120"/>
              </a:rPr>
              <a:t>74 309,500</a:t>
            </a:r>
            <a:endParaRPr lang="en-US" sz="3000" dirty="0"/>
          </a:p>
        </p:txBody>
      </p:sp>
      <p:sp>
        <p:nvSpPr>
          <p:cNvPr id="17" name="Text 15"/>
          <p:cNvSpPr/>
          <p:nvPr/>
        </p:nvSpPr>
        <p:spPr>
          <a:xfrm>
            <a:off x="9258071"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TND de ventes nettes</a:t>
            </a:r>
            <a:endParaRPr lang="en-US" sz="1700" dirty="0"/>
          </a:p>
        </p:txBody>
      </p:sp>
      <p:sp>
        <p:nvSpPr>
          <p:cNvPr id="18" name="Shape 16"/>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9" name="Shape 17"/>
          <p:cNvSpPr/>
          <p:nvPr/>
        </p:nvSpPr>
        <p:spPr>
          <a:xfrm>
            <a:off x="694944" y="5733288"/>
            <a:ext cx="292608" cy="292608"/>
          </a:xfrm>
          <a:prstGeom prst="ellipse">
            <a:avLst/>
          </a:prstGeom>
          <a:solidFill>
            <a:srgbClr val="FF9A3C"/>
          </a:solidFill>
          <a:ln w="12700">
            <a:solidFill>
              <a:srgbClr val="FF9A3C"/>
            </a:solidFill>
            <a:prstDash val="solid"/>
          </a:ln>
        </p:spPr>
      </p:sp>
      <p:sp>
        <p:nvSpPr>
          <p:cNvPr id="20" name="Text 18"/>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1" name="Text 19"/>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14 doublons exacts ignorés · rejets : 8 cle_inconnue, 6 id_conflit, 5 id_manquant, 7 quantite_invalide.</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INDICATEUR</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Épisode 3 : un total plausible… et faux</a:t>
            </a:r>
            <a:endParaRPr lang="en-US" sz="3000" dirty="0"/>
          </a:p>
        </p:txBody>
      </p:sp>
      <p:sp>
        <p:nvSpPr>
          <p:cNvPr id="6" name="Shape 4"/>
          <p:cNvSpPr/>
          <p:nvPr/>
        </p:nvSpPr>
        <p:spPr>
          <a:xfrm>
            <a:off x="548640" y="1783080"/>
            <a:ext cx="5166360" cy="3520440"/>
          </a:xfrm>
          <a:prstGeom prst="roundRect">
            <a:avLst>
              <a:gd name="adj" fmla="val 2597"/>
            </a:avLst>
          </a:prstGeom>
          <a:solidFill>
            <a:srgbClr val="FBEDEE"/>
          </a:solidFill>
          <a:ln w="9525">
            <a:solidFill>
              <a:srgbClr val="FBEDEE"/>
            </a:solidFill>
            <a:prstDash val="solid"/>
          </a:ln>
        </p:spPr>
      </p:sp>
      <p:sp>
        <p:nvSpPr>
          <p:cNvPr id="7" name="Shape 5"/>
          <p:cNvSpPr/>
          <p:nvPr/>
        </p:nvSpPr>
        <p:spPr>
          <a:xfrm>
            <a:off x="6476695" y="1783080"/>
            <a:ext cx="5166360" cy="3520440"/>
          </a:xfrm>
          <a:prstGeom prst="roundRect">
            <a:avLst>
              <a:gd name="adj" fmla="val 2597"/>
            </a:avLst>
          </a:prstGeom>
          <a:solidFill>
            <a:srgbClr val="2B3180"/>
          </a:solidFill>
          <a:ln w="9525">
            <a:solidFill>
              <a:srgbClr val="2B3180"/>
            </a:solidFill>
            <a:prstDash val="solid"/>
          </a:ln>
        </p:spPr>
      </p:sp>
      <p:sp>
        <p:nvSpPr>
          <p:cNvPr id="8" name="Text 6"/>
          <p:cNvSpPr/>
          <p:nvPr/>
        </p:nvSpPr>
        <p:spPr>
          <a:xfrm>
            <a:off x="822960" y="2011680"/>
            <a:ext cx="4617720" cy="365760"/>
          </a:xfrm>
          <a:prstGeom prst="rect">
            <a:avLst/>
          </a:prstGeom>
          <a:noFill/>
          <a:ln/>
        </p:spPr>
        <p:txBody>
          <a:bodyPr wrap="square" lIns="0" tIns="0" rIns="0" bIns="0" rtlCol="0" anchor="ctr"/>
          <a:lstStyle/>
          <a:p>
            <a:pPr indent="0" marL="0">
              <a:buNone/>
            </a:pPr>
            <a:r>
              <a:rPr lang="en-US" sz="1400" b="1" spc="100" kern="0" dirty="0">
                <a:solidFill>
                  <a:srgbClr val="A12E39"/>
                </a:solidFill>
                <a:latin typeface="Arial" pitchFamily="34" charset="0"/>
                <a:ea typeface="Arial" pitchFamily="34" charset="-122"/>
                <a:cs typeface="Arial" pitchFamily="34" charset="-120"/>
              </a:rPr>
              <a:t>LE TABLEUR DE KARIM</a:t>
            </a:r>
            <a:endParaRPr lang="en-US" sz="1400" dirty="0"/>
          </a:p>
        </p:txBody>
      </p:sp>
      <p:sp>
        <p:nvSpPr>
          <p:cNvPr id="9" name="Text 7"/>
          <p:cNvSpPr/>
          <p:nvPr/>
        </p:nvSpPr>
        <p:spPr>
          <a:xfrm>
            <a:off x="822960"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1A1F4D"/>
                </a:solidFill>
                <a:latin typeface="Arial" pitchFamily="34" charset="0"/>
                <a:ea typeface="Arial" pitchFamily="34" charset="-122"/>
                <a:cs typeface="Arial" pitchFamily="34" charset="-120"/>
              </a:rPr>
              <a:t>Toutes les lignes, sans règle</a:t>
            </a:r>
            <a:endParaRPr lang="en-US" sz="2000" dirty="0"/>
          </a:p>
          <a:p>
            <a:pPr indent="0" marL="0">
              <a:spcAft>
                <a:spcPts val="600"/>
              </a:spcAft>
              <a:buNone/>
            </a:pPr>
            <a:r>
              <a:rPr lang="en-US" sz="2000" dirty="0">
                <a:solidFill>
                  <a:srgbClr val="1A1F4D"/>
                </a:solidFill>
                <a:latin typeface="Arial" pitchFamily="34" charset="0"/>
                <a:ea typeface="Arial" pitchFamily="34" charset="-122"/>
                <a:cs typeface="Arial" pitchFamily="34" charset="-120"/>
              </a:rPr>
              <a:t>78 839,780 TND</a:t>
            </a:r>
            <a:endParaRPr lang="en-US" sz="2000" dirty="0"/>
          </a:p>
        </p:txBody>
      </p:sp>
      <p:sp>
        <p:nvSpPr>
          <p:cNvPr id="10" name="Text 8"/>
          <p:cNvSpPr/>
          <p:nvPr/>
        </p:nvSpPr>
        <p:spPr>
          <a:xfrm>
            <a:off x="6751015" y="2011680"/>
            <a:ext cx="4617720" cy="36576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APRÈS NETTOYAGE</a:t>
            </a:r>
            <a:endParaRPr lang="en-US" sz="1400" dirty="0"/>
          </a:p>
        </p:txBody>
      </p:sp>
      <p:sp>
        <p:nvSpPr>
          <p:cNvPr id="11" name="Text 9"/>
          <p:cNvSpPr/>
          <p:nvPr/>
        </p:nvSpPr>
        <p:spPr>
          <a:xfrm>
            <a:off x="6751015" y="2560320"/>
            <a:ext cx="4617720" cy="251460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Arial" pitchFamily="34" charset="0"/>
                <a:ea typeface="Arial" pitchFamily="34" charset="-122"/>
                <a:cs typeface="Arial" pitchFamily="34" charset="-120"/>
              </a:rPr>
              <a:t>Doublons, conflits, rejets écartés</a:t>
            </a:r>
            <a:endParaRPr lang="en-US" sz="2000" dirty="0"/>
          </a:p>
          <a:p>
            <a:pPr indent="0" marL="0">
              <a:spcAft>
                <a:spcPts val="600"/>
              </a:spcAft>
              <a:buNone/>
            </a:pPr>
            <a:r>
              <a:rPr lang="en-US" sz="2000" dirty="0">
                <a:solidFill>
                  <a:srgbClr val="FFFFFF"/>
                </a:solidFill>
                <a:latin typeface="Arial" pitchFamily="34" charset="0"/>
                <a:ea typeface="Arial" pitchFamily="34" charset="-122"/>
                <a:cs typeface="Arial" pitchFamily="34" charset="-120"/>
              </a:rPr>
              <a:t>78 067,830 TND</a:t>
            </a:r>
            <a:endParaRPr lang="en-US" sz="2000" dirty="0"/>
          </a:p>
        </p:txBody>
      </p:sp>
      <p:sp>
        <p:nvSpPr>
          <p:cNvPr id="12" name="Shape 10"/>
          <p:cNvSpPr/>
          <p:nvPr/>
        </p:nvSpPr>
        <p:spPr>
          <a:xfrm>
            <a:off x="5821528" y="3268980"/>
            <a:ext cx="548640" cy="548640"/>
          </a:xfrm>
          <a:prstGeom prst="ellipse">
            <a:avLst/>
          </a:prstGeom>
          <a:solidFill>
            <a:srgbClr val="FF9A3C"/>
          </a:solidFill>
          <a:ln w="12700">
            <a:solidFill>
              <a:srgbClr val="FF9A3C"/>
            </a:solidFill>
            <a:prstDash val="solid"/>
          </a:ln>
        </p:spPr>
      </p:sp>
      <p:sp>
        <p:nvSpPr>
          <p:cNvPr id="13" name="Text 11"/>
          <p:cNvSpPr/>
          <p:nvPr/>
        </p:nvSpPr>
        <p:spPr>
          <a:xfrm>
            <a:off x="5821528" y="3268980"/>
            <a:ext cx="548640" cy="548640"/>
          </a:xfrm>
          <a:prstGeom prst="rect">
            <a:avLst/>
          </a:prstGeom>
          <a:noFill/>
          <a:ln/>
        </p:spPr>
        <p:txBody>
          <a:bodyPr wrap="square" lIns="0" tIns="0" rIns="0" bIns="0" rtlCol="0" anchor="ctr"/>
          <a:lstStyle/>
          <a:p>
            <a:pPr algn="ctr" indent="0" marL="0">
              <a:buNone/>
            </a:pPr>
            <a:r>
              <a:rPr lang="en-US" sz="2000" b="1" dirty="0">
                <a:solidFill>
                  <a:srgbClr val="07152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5" name="Shape 13"/>
          <p:cNvSpPr/>
          <p:nvPr/>
        </p:nvSpPr>
        <p:spPr>
          <a:xfrm>
            <a:off x="694944" y="5733288"/>
            <a:ext cx="292608" cy="292608"/>
          </a:xfrm>
          <a:prstGeom prst="ellipse">
            <a:avLst/>
          </a:prstGeom>
          <a:solidFill>
            <a:srgbClr val="FF9A3C"/>
          </a:solidFill>
          <a:ln w="12700">
            <a:solidFill>
              <a:srgbClr val="FF9A3C"/>
            </a:solidFill>
            <a:prstDash val="solid"/>
          </a:ln>
        </p:spPr>
      </p:sp>
      <p:sp>
        <p:nvSpPr>
          <p:cNvPr id="16" name="Text 14"/>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7" name="Text 15"/>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771,950 TND d'écart : assez petit pour passer, assez grand pour tromper.</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INDICATEUR</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200" b="1" dirty="0">
                <a:solidFill>
                  <a:srgbClr val="1A1F4D"/>
                </a:solidFill>
                <a:latin typeface="Arial" pitchFamily="34" charset="0"/>
                <a:ea typeface="Arial" pitchFamily="34" charset="-122"/>
                <a:cs typeface="Arial" pitchFamily="34" charset="-120"/>
              </a:rPr>
              <a:t>Un chiffre plausible n'est pas un chiffre juste</a:t>
            </a:r>
            <a:endParaRPr lang="en-US" sz="22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5069856"/>
          </a:xfrm>
          <a:prstGeom prst="roundRect">
            <a:avLst>
              <a:gd name="adj" fmla="val 1082"/>
            </a:avLst>
          </a:prstGeom>
          <a:solidFill>
            <a:srgbClr val="FFFFFF"/>
          </a:solidFill>
          <a:ln w="9525">
            <a:solidFill>
              <a:srgbClr val="DCE2F0"/>
            </a:solidFill>
            <a:prstDash val="solid"/>
          </a:ln>
        </p:spPr>
      </p:sp>
      <p:pic>
        <p:nvPicPr>
          <p:cNvPr id="9" name="Image 0" descr="Un chiffre plausible n'est pas un chiffre juste">    </p:cNvPr>
          <p:cNvPicPr>
            <a:picLocks noChangeAspect="1"/>
          </p:cNvPicPr>
          <p:nvPr/>
        </p:nvPicPr>
        <p:blipFill>
          <a:blip r:embed="rId1"/>
          <a:srcRect l="0" r="0" t="17376" b="6525"/>
          <a:stretch/>
        </p:blipFill>
        <p:spPr>
          <a:xfrm>
            <a:off x="548640" y="1371600"/>
            <a:ext cx="11094415" cy="4960128"/>
          </a:xfrm>
          <a:prstGeom prst="rect">
            <a:avLst/>
          </a:prstGeom>
        </p:spPr>
      </p:pic>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MISES À JOUR</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Charger · compléter · rejouer</a:t>
            </a:r>
            <a:endParaRPr lang="en-US" sz="3000" dirty="0"/>
          </a:p>
        </p:txBody>
      </p:sp>
      <p:sp>
        <p:nvSpPr>
          <p:cNvPr id="6" name="Shape 4"/>
          <p:cNvSpPr/>
          <p:nvPr/>
        </p:nvSpPr>
        <p:spPr>
          <a:xfrm>
            <a:off x="548640" y="1783080"/>
            <a:ext cx="3362858" cy="3337560"/>
          </a:xfrm>
          <a:prstGeom prst="roundRect">
            <a:avLst>
              <a:gd name="adj" fmla="val 2740"/>
            </a:avLst>
          </a:prstGeom>
          <a:solidFill>
            <a:srgbClr val="F3F5FC"/>
          </a:solidFill>
          <a:ln w="9525">
            <a:solidFill>
              <a:srgbClr val="F3F5FC"/>
            </a:solidFill>
            <a:prstDash val="solid"/>
          </a:ln>
        </p:spPr>
      </p:sp>
      <p:sp>
        <p:nvSpPr>
          <p:cNvPr id="7" name="Text 5"/>
          <p:cNvSpPr/>
          <p:nvPr/>
        </p:nvSpPr>
        <p:spPr>
          <a:xfrm>
            <a:off x="822960" y="1965960"/>
            <a:ext cx="2814218" cy="457200"/>
          </a:xfrm>
          <a:prstGeom prst="rect">
            <a:avLst/>
          </a:prstGeom>
          <a:noFill/>
          <a:ln/>
        </p:spPr>
        <p:txBody>
          <a:bodyPr wrap="square" lIns="0" tIns="0" rIns="0" bIns="0" rtlCol="0" anchor="ctr"/>
          <a:lstStyle/>
          <a:p>
            <a:pPr indent="0" marL="0">
              <a:buNone/>
            </a:pPr>
            <a:r>
              <a:rPr lang="en-US" sz="2000" b="1" dirty="0">
                <a:solidFill>
                  <a:srgbClr val="2B3180"/>
                </a:solidFill>
                <a:latin typeface="Arial" pitchFamily="34" charset="0"/>
                <a:ea typeface="Arial" pitchFamily="34" charset="-122"/>
                <a:cs typeface="Arial" pitchFamily="34" charset="-120"/>
              </a:rPr>
              <a:t>1 · Chargement initial</a:t>
            </a:r>
            <a:endParaRPr lang="en-US" sz="2000" dirty="0"/>
          </a:p>
        </p:txBody>
      </p:sp>
      <p:sp>
        <p:nvSpPr>
          <p:cNvPr id="8" name="Shape 6"/>
          <p:cNvSpPr/>
          <p:nvPr/>
        </p:nvSpPr>
        <p:spPr>
          <a:xfrm>
            <a:off x="822960" y="2514600"/>
            <a:ext cx="1097280" cy="365760"/>
          </a:xfrm>
          <a:prstGeom prst="roundRect">
            <a:avLst>
              <a:gd name="adj" fmla="val 50000"/>
            </a:avLst>
          </a:prstGeom>
          <a:solidFill>
            <a:srgbClr val="FF9A3C"/>
          </a:solidFill>
          <a:ln w="12700">
            <a:solidFill>
              <a:srgbClr val="FF9A3C"/>
            </a:solidFill>
            <a:prstDash val="solid"/>
          </a:ln>
        </p:spPr>
      </p:sp>
      <p:sp>
        <p:nvSpPr>
          <p:cNvPr id="9" name="Text 7"/>
          <p:cNvSpPr/>
          <p:nvPr/>
        </p:nvSpPr>
        <p:spPr>
          <a:xfrm>
            <a:off x="822960" y="2514600"/>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lot1</a:t>
            </a:r>
            <a:endParaRPr lang="en-US" sz="1400" dirty="0"/>
          </a:p>
        </p:txBody>
      </p:sp>
      <p:sp>
        <p:nvSpPr>
          <p:cNvPr id="10" name="Text 8"/>
          <p:cNvSpPr/>
          <p:nvPr/>
        </p:nvSpPr>
        <p:spPr>
          <a:xfrm>
            <a:off x="822960" y="3017520"/>
            <a:ext cx="2814218" cy="384048"/>
          </a:xfrm>
          <a:prstGeom prst="rect">
            <a:avLst/>
          </a:prstGeom>
          <a:noFill/>
          <a:ln/>
        </p:spPr>
        <p:txBody>
          <a:bodyPr wrap="square" lIns="0" tIns="0" rIns="0" bIns="0" rtlCol="0" anchor="ctr"/>
          <a:lstStyle/>
          <a:p>
            <a:pPr indent="0" marL="0">
              <a:buNone/>
            </a:pPr>
            <a:r>
              <a:rPr lang="en-US" sz="1700" dirty="0">
                <a:solidFill>
                  <a:srgbClr val="1A1F4D"/>
                </a:solidFill>
                <a:latin typeface="Arial" pitchFamily="34" charset="0"/>
                <a:ea typeface="Arial" pitchFamily="34" charset="-122"/>
                <a:cs typeface="Arial" pitchFamily="34" charset="-120"/>
              </a:rPr>
              <a:t>1998 lignes lues</a:t>
            </a:r>
            <a:endParaRPr lang="en-US" sz="1700" dirty="0"/>
          </a:p>
        </p:txBody>
      </p:sp>
      <p:sp>
        <p:nvSpPr>
          <p:cNvPr id="11" name="Text 9"/>
          <p:cNvSpPr/>
          <p:nvPr/>
        </p:nvSpPr>
        <p:spPr>
          <a:xfrm>
            <a:off x="822960" y="3456432"/>
            <a:ext cx="2814218" cy="384048"/>
          </a:xfrm>
          <a:prstGeom prst="rect">
            <a:avLst/>
          </a:prstGeom>
          <a:noFill/>
          <a:ln/>
        </p:spPr>
        <p:txBody>
          <a:bodyPr wrap="square" lIns="0" tIns="0" rIns="0" bIns="0" rtlCol="0" anchor="ctr"/>
          <a:lstStyle/>
          <a:p>
            <a:pPr indent="0" marL="0">
              <a:buNone/>
            </a:pPr>
            <a:r>
              <a:rPr lang="en-US" sz="1700" dirty="0">
                <a:solidFill>
                  <a:srgbClr val="1A1F4D"/>
                </a:solidFill>
                <a:latin typeface="Arial" pitchFamily="34" charset="0"/>
                <a:ea typeface="Arial" pitchFamily="34" charset="-122"/>
                <a:cs typeface="Arial" pitchFamily="34" charset="-120"/>
              </a:rPr>
              <a:t>26 rejets</a:t>
            </a:r>
            <a:endParaRPr lang="en-US" sz="1700" dirty="0"/>
          </a:p>
        </p:txBody>
      </p:sp>
      <p:sp>
        <p:nvSpPr>
          <p:cNvPr id="12" name="Text 10"/>
          <p:cNvSpPr/>
          <p:nvPr/>
        </p:nvSpPr>
        <p:spPr>
          <a:xfrm>
            <a:off x="822960" y="3895344"/>
            <a:ext cx="2814218" cy="384048"/>
          </a:xfrm>
          <a:prstGeom prst="rect">
            <a:avLst/>
          </a:prstGeom>
          <a:noFill/>
          <a:ln/>
        </p:spPr>
        <p:txBody>
          <a:bodyPr wrap="square" lIns="0" tIns="0" rIns="0" bIns="0" rtlCol="0" anchor="ctr"/>
          <a:lstStyle/>
          <a:p>
            <a:pPr indent="0" marL="0">
              <a:buNone/>
            </a:pPr>
            <a:r>
              <a:rPr lang="en-US" sz="1700" dirty="0">
                <a:solidFill>
                  <a:srgbClr val="1A1F4D"/>
                </a:solidFill>
                <a:latin typeface="Arial" pitchFamily="34" charset="0"/>
                <a:ea typeface="Arial" pitchFamily="34" charset="-122"/>
                <a:cs typeface="Arial" pitchFamily="34" charset="-120"/>
              </a:rPr>
              <a:t>1960 faits insérés</a:t>
            </a:r>
            <a:endParaRPr lang="en-US" sz="1700" dirty="0"/>
          </a:p>
        </p:txBody>
      </p:sp>
      <p:sp>
        <p:nvSpPr>
          <p:cNvPr id="13" name="Shape 11"/>
          <p:cNvSpPr/>
          <p:nvPr/>
        </p:nvSpPr>
        <p:spPr>
          <a:xfrm>
            <a:off x="822960" y="4389120"/>
            <a:ext cx="2814218" cy="0"/>
          </a:xfrm>
          <a:prstGeom prst="line">
            <a:avLst/>
          </a:prstGeom>
          <a:noFill/>
          <a:ln w="19050">
            <a:solidFill>
              <a:srgbClr val="FF9A3C"/>
            </a:solidFill>
            <a:prstDash val="solid"/>
          </a:ln>
        </p:spPr>
      </p:sp>
      <p:sp>
        <p:nvSpPr>
          <p:cNvPr id="14" name="Text 12"/>
          <p:cNvSpPr/>
          <p:nvPr/>
        </p:nvSpPr>
        <p:spPr>
          <a:xfrm>
            <a:off x="822960" y="4498848"/>
            <a:ext cx="2814218" cy="457200"/>
          </a:xfrm>
          <a:prstGeom prst="rect">
            <a:avLst/>
          </a:prstGeom>
          <a:noFill/>
          <a:ln/>
        </p:spPr>
        <p:txBody>
          <a:bodyPr wrap="square" lIns="0" tIns="0" rIns="0" bIns="0" rtlCol="0" anchor="ctr"/>
          <a:lstStyle/>
          <a:p>
            <a:pPr indent="0" marL="0">
              <a:buNone/>
            </a:pPr>
            <a:r>
              <a:rPr lang="en-US" sz="2000" b="1" dirty="0">
                <a:solidFill>
                  <a:srgbClr val="2B3180"/>
                </a:solidFill>
                <a:latin typeface="Arial" pitchFamily="34" charset="0"/>
                <a:ea typeface="Arial" pitchFamily="34" charset="-122"/>
                <a:cs typeface="Arial" pitchFamily="34" charset="-120"/>
              </a:rPr>
              <a:t>fact_vente : 1960</a:t>
            </a:r>
            <a:endParaRPr lang="en-US" sz="2000" dirty="0"/>
          </a:p>
        </p:txBody>
      </p:sp>
      <p:sp>
        <p:nvSpPr>
          <p:cNvPr id="15" name="Shape 13"/>
          <p:cNvSpPr/>
          <p:nvPr/>
        </p:nvSpPr>
        <p:spPr>
          <a:xfrm>
            <a:off x="3984650" y="3451860"/>
            <a:ext cx="356616" cy="0"/>
          </a:xfrm>
          <a:prstGeom prst="line">
            <a:avLst/>
          </a:prstGeom>
          <a:noFill/>
          <a:ln w="31750">
            <a:solidFill>
              <a:srgbClr val="2B3180"/>
            </a:solidFill>
            <a:prstDash val="solid"/>
            <a:tailEnd type="triangle"/>
          </a:ln>
        </p:spPr>
      </p:sp>
      <p:sp>
        <p:nvSpPr>
          <p:cNvPr id="16" name="Shape 14"/>
          <p:cNvSpPr/>
          <p:nvPr/>
        </p:nvSpPr>
        <p:spPr>
          <a:xfrm>
            <a:off x="4414418" y="1783080"/>
            <a:ext cx="3362858" cy="3337560"/>
          </a:xfrm>
          <a:prstGeom prst="roundRect">
            <a:avLst>
              <a:gd name="adj" fmla="val 2740"/>
            </a:avLst>
          </a:prstGeom>
          <a:solidFill>
            <a:srgbClr val="07152F"/>
          </a:solidFill>
          <a:ln w="9525">
            <a:solidFill>
              <a:srgbClr val="07152F"/>
            </a:solidFill>
            <a:prstDash val="solid"/>
          </a:ln>
        </p:spPr>
      </p:sp>
      <p:sp>
        <p:nvSpPr>
          <p:cNvPr id="17" name="Text 15"/>
          <p:cNvSpPr/>
          <p:nvPr/>
        </p:nvSpPr>
        <p:spPr>
          <a:xfrm>
            <a:off x="4688738" y="1965960"/>
            <a:ext cx="2814218"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2 · Incrément</a:t>
            </a:r>
            <a:endParaRPr lang="en-US" sz="2000" dirty="0"/>
          </a:p>
        </p:txBody>
      </p:sp>
      <p:sp>
        <p:nvSpPr>
          <p:cNvPr id="18" name="Shape 16"/>
          <p:cNvSpPr/>
          <p:nvPr/>
        </p:nvSpPr>
        <p:spPr>
          <a:xfrm>
            <a:off x="4688738" y="2514600"/>
            <a:ext cx="1097280" cy="365760"/>
          </a:xfrm>
          <a:prstGeom prst="roundRect">
            <a:avLst>
              <a:gd name="adj" fmla="val 50000"/>
            </a:avLst>
          </a:prstGeom>
          <a:solidFill>
            <a:srgbClr val="FF9A3C"/>
          </a:solidFill>
          <a:ln w="12700">
            <a:solidFill>
              <a:srgbClr val="FF9A3C"/>
            </a:solidFill>
            <a:prstDash val="solid"/>
          </a:ln>
        </p:spPr>
      </p:sp>
      <p:sp>
        <p:nvSpPr>
          <p:cNvPr id="19" name="Text 17"/>
          <p:cNvSpPr/>
          <p:nvPr/>
        </p:nvSpPr>
        <p:spPr>
          <a:xfrm>
            <a:off x="4688738" y="2514600"/>
            <a:ext cx="10972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lot2</a:t>
            </a:r>
            <a:endParaRPr lang="en-US" sz="1400" dirty="0"/>
          </a:p>
        </p:txBody>
      </p:sp>
      <p:sp>
        <p:nvSpPr>
          <p:cNvPr id="20" name="Text 18"/>
          <p:cNvSpPr/>
          <p:nvPr/>
        </p:nvSpPr>
        <p:spPr>
          <a:xfrm>
            <a:off x="4688738" y="3017520"/>
            <a:ext cx="2814218"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413 lignes lues</a:t>
            </a:r>
            <a:endParaRPr lang="en-US" sz="1700" dirty="0"/>
          </a:p>
        </p:txBody>
      </p:sp>
      <p:sp>
        <p:nvSpPr>
          <p:cNvPr id="21" name="Text 19"/>
          <p:cNvSpPr/>
          <p:nvPr/>
        </p:nvSpPr>
        <p:spPr>
          <a:xfrm>
            <a:off x="4688738" y="3456432"/>
            <a:ext cx="2814218"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15 déjà chargées : ignorées</a:t>
            </a:r>
            <a:endParaRPr lang="en-US" sz="1700" dirty="0"/>
          </a:p>
        </p:txBody>
      </p:sp>
      <p:sp>
        <p:nvSpPr>
          <p:cNvPr id="22" name="Text 20"/>
          <p:cNvSpPr/>
          <p:nvPr/>
        </p:nvSpPr>
        <p:spPr>
          <a:xfrm>
            <a:off x="4688738" y="3895344"/>
            <a:ext cx="2814218"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385 nouvelles insérées</a:t>
            </a:r>
            <a:endParaRPr lang="en-US" sz="1700" dirty="0"/>
          </a:p>
        </p:txBody>
      </p:sp>
      <p:sp>
        <p:nvSpPr>
          <p:cNvPr id="23" name="Shape 21"/>
          <p:cNvSpPr/>
          <p:nvPr/>
        </p:nvSpPr>
        <p:spPr>
          <a:xfrm>
            <a:off x="4688738" y="4389120"/>
            <a:ext cx="2814218" cy="0"/>
          </a:xfrm>
          <a:prstGeom prst="line">
            <a:avLst/>
          </a:prstGeom>
          <a:noFill/>
          <a:ln w="19050">
            <a:solidFill>
              <a:srgbClr val="FF9A3C"/>
            </a:solidFill>
            <a:prstDash val="solid"/>
          </a:ln>
        </p:spPr>
      </p:sp>
      <p:sp>
        <p:nvSpPr>
          <p:cNvPr id="24" name="Text 22"/>
          <p:cNvSpPr/>
          <p:nvPr/>
        </p:nvSpPr>
        <p:spPr>
          <a:xfrm>
            <a:off x="4688738" y="4498848"/>
            <a:ext cx="2814218"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fact_vente : 2345</a:t>
            </a:r>
            <a:endParaRPr lang="en-US" sz="2000" dirty="0"/>
          </a:p>
        </p:txBody>
      </p:sp>
      <p:sp>
        <p:nvSpPr>
          <p:cNvPr id="25" name="Shape 23"/>
          <p:cNvSpPr/>
          <p:nvPr/>
        </p:nvSpPr>
        <p:spPr>
          <a:xfrm>
            <a:off x="7850429" y="3451860"/>
            <a:ext cx="356616" cy="0"/>
          </a:xfrm>
          <a:prstGeom prst="line">
            <a:avLst/>
          </a:prstGeom>
          <a:noFill/>
          <a:ln w="31750">
            <a:solidFill>
              <a:srgbClr val="2B3180"/>
            </a:solidFill>
            <a:prstDash val="solid"/>
            <a:tailEnd type="triangle"/>
          </a:ln>
        </p:spPr>
      </p:sp>
      <p:sp>
        <p:nvSpPr>
          <p:cNvPr id="26" name="Shape 24"/>
          <p:cNvSpPr/>
          <p:nvPr/>
        </p:nvSpPr>
        <p:spPr>
          <a:xfrm>
            <a:off x="8280197" y="1783080"/>
            <a:ext cx="3362858" cy="3337560"/>
          </a:xfrm>
          <a:prstGeom prst="roundRect">
            <a:avLst>
              <a:gd name="adj" fmla="val 2740"/>
            </a:avLst>
          </a:prstGeom>
          <a:solidFill>
            <a:srgbClr val="FFFFFF"/>
          </a:solidFill>
          <a:ln w="9525">
            <a:solidFill>
              <a:srgbClr val="2B3180"/>
            </a:solidFill>
            <a:prstDash val="solid"/>
          </a:ln>
        </p:spPr>
      </p:sp>
      <p:sp>
        <p:nvSpPr>
          <p:cNvPr id="27" name="Text 25"/>
          <p:cNvSpPr/>
          <p:nvPr/>
        </p:nvSpPr>
        <p:spPr>
          <a:xfrm>
            <a:off x="8554517" y="1965960"/>
            <a:ext cx="2814218" cy="457200"/>
          </a:xfrm>
          <a:prstGeom prst="rect">
            <a:avLst/>
          </a:prstGeom>
          <a:noFill/>
          <a:ln/>
        </p:spPr>
        <p:txBody>
          <a:bodyPr wrap="square" lIns="0" tIns="0" rIns="0" bIns="0" rtlCol="0" anchor="ctr"/>
          <a:lstStyle/>
          <a:p>
            <a:pPr indent="0" marL="0">
              <a:buNone/>
            </a:pPr>
            <a:r>
              <a:rPr lang="en-US" sz="2000" b="1" dirty="0">
                <a:solidFill>
                  <a:srgbClr val="2B3180"/>
                </a:solidFill>
                <a:latin typeface="Arial" pitchFamily="34" charset="0"/>
                <a:ea typeface="Arial" pitchFamily="34" charset="-122"/>
                <a:cs typeface="Arial" pitchFamily="34" charset="-120"/>
              </a:rPr>
              <a:t>3 · Rejeu</a:t>
            </a:r>
            <a:endParaRPr lang="en-US" sz="2000" dirty="0"/>
          </a:p>
        </p:txBody>
      </p:sp>
      <p:sp>
        <p:nvSpPr>
          <p:cNvPr id="28" name="Shape 26"/>
          <p:cNvSpPr/>
          <p:nvPr/>
        </p:nvSpPr>
        <p:spPr>
          <a:xfrm>
            <a:off x="8554517" y="2514600"/>
            <a:ext cx="1783080" cy="365760"/>
          </a:xfrm>
          <a:prstGeom prst="roundRect">
            <a:avLst>
              <a:gd name="adj" fmla="val 50000"/>
            </a:avLst>
          </a:prstGeom>
          <a:solidFill>
            <a:srgbClr val="FF9A3C"/>
          </a:solidFill>
          <a:ln w="12700">
            <a:solidFill>
              <a:srgbClr val="FF9A3C"/>
            </a:solidFill>
            <a:prstDash val="solid"/>
          </a:ln>
        </p:spPr>
      </p:sp>
      <p:sp>
        <p:nvSpPr>
          <p:cNvPr id="29" name="Text 27"/>
          <p:cNvSpPr/>
          <p:nvPr/>
        </p:nvSpPr>
        <p:spPr>
          <a:xfrm>
            <a:off x="8554517" y="2514600"/>
            <a:ext cx="17830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lot2 relancé</a:t>
            </a:r>
            <a:endParaRPr lang="en-US" sz="1400" dirty="0"/>
          </a:p>
        </p:txBody>
      </p:sp>
      <p:sp>
        <p:nvSpPr>
          <p:cNvPr id="30" name="Text 28"/>
          <p:cNvSpPr/>
          <p:nvPr/>
        </p:nvSpPr>
        <p:spPr>
          <a:xfrm>
            <a:off x="8554517" y="3017520"/>
            <a:ext cx="2814218" cy="384048"/>
          </a:xfrm>
          <a:prstGeom prst="rect">
            <a:avLst/>
          </a:prstGeom>
          <a:noFill/>
          <a:ln/>
        </p:spPr>
        <p:txBody>
          <a:bodyPr wrap="square" lIns="0" tIns="0" rIns="0" bIns="0" rtlCol="0" anchor="ctr"/>
          <a:lstStyle/>
          <a:p>
            <a:pPr indent="0" marL="0">
              <a:buNone/>
            </a:pPr>
            <a:r>
              <a:rPr lang="en-US" sz="1700" dirty="0">
                <a:solidFill>
                  <a:srgbClr val="1A1F4D"/>
                </a:solidFill>
                <a:latin typeface="Arial" pitchFamily="34" charset="0"/>
                <a:ea typeface="Arial" pitchFamily="34" charset="-122"/>
                <a:cs typeface="Arial" pitchFamily="34" charset="-120"/>
              </a:rPr>
              <a:t>413 lignes lues</a:t>
            </a:r>
            <a:endParaRPr lang="en-US" sz="1700" dirty="0"/>
          </a:p>
        </p:txBody>
      </p:sp>
      <p:sp>
        <p:nvSpPr>
          <p:cNvPr id="31" name="Text 29"/>
          <p:cNvSpPr/>
          <p:nvPr/>
        </p:nvSpPr>
        <p:spPr>
          <a:xfrm>
            <a:off x="8554517" y="3456432"/>
            <a:ext cx="2814218" cy="384048"/>
          </a:xfrm>
          <a:prstGeom prst="rect">
            <a:avLst/>
          </a:prstGeom>
          <a:noFill/>
          <a:ln/>
        </p:spPr>
        <p:txBody>
          <a:bodyPr wrap="square" lIns="0" tIns="0" rIns="0" bIns="0" rtlCol="0" anchor="ctr"/>
          <a:lstStyle/>
          <a:p>
            <a:pPr indent="0" marL="0">
              <a:buNone/>
            </a:pPr>
            <a:r>
              <a:rPr lang="en-US" sz="1700" dirty="0">
                <a:solidFill>
                  <a:srgbClr val="1A1F4D"/>
                </a:solidFill>
                <a:latin typeface="Arial" pitchFamily="34" charset="0"/>
                <a:ea typeface="Arial" pitchFamily="34" charset="-122"/>
                <a:cs typeface="Arial" pitchFamily="34" charset="-120"/>
              </a:rPr>
              <a:t>0 insertion</a:t>
            </a:r>
            <a:endParaRPr lang="en-US" sz="1700" dirty="0"/>
          </a:p>
        </p:txBody>
      </p:sp>
      <p:sp>
        <p:nvSpPr>
          <p:cNvPr id="32" name="Text 30"/>
          <p:cNvSpPr/>
          <p:nvPr/>
        </p:nvSpPr>
        <p:spPr>
          <a:xfrm>
            <a:off x="8554517" y="3895344"/>
            <a:ext cx="2814218" cy="384048"/>
          </a:xfrm>
          <a:prstGeom prst="rect">
            <a:avLst/>
          </a:prstGeom>
          <a:noFill/>
          <a:ln/>
        </p:spPr>
        <p:txBody>
          <a:bodyPr wrap="square" lIns="0" tIns="0" rIns="0" bIns="0" rtlCol="0" anchor="ctr"/>
          <a:lstStyle/>
          <a:p>
            <a:pPr indent="0" marL="0">
              <a:buNone/>
            </a:pPr>
            <a:r>
              <a:rPr lang="en-US" sz="1700" dirty="0">
                <a:solidFill>
                  <a:srgbClr val="1A1F4D"/>
                </a:solidFill>
                <a:latin typeface="Arial" pitchFamily="34" charset="0"/>
                <a:ea typeface="Arial" pitchFamily="34" charset="-122"/>
                <a:cs typeface="Arial" pitchFamily="34" charset="-120"/>
              </a:rPr>
              <a:t>totaux identiques</a:t>
            </a:r>
            <a:endParaRPr lang="en-US" sz="1700" dirty="0"/>
          </a:p>
        </p:txBody>
      </p:sp>
      <p:sp>
        <p:nvSpPr>
          <p:cNvPr id="33" name="Shape 31"/>
          <p:cNvSpPr/>
          <p:nvPr/>
        </p:nvSpPr>
        <p:spPr>
          <a:xfrm>
            <a:off x="8554517" y="4389120"/>
            <a:ext cx="2814218" cy="0"/>
          </a:xfrm>
          <a:prstGeom prst="line">
            <a:avLst/>
          </a:prstGeom>
          <a:noFill/>
          <a:ln w="19050">
            <a:solidFill>
              <a:srgbClr val="FF9A3C"/>
            </a:solidFill>
            <a:prstDash val="solid"/>
          </a:ln>
        </p:spPr>
      </p:sp>
      <p:sp>
        <p:nvSpPr>
          <p:cNvPr id="34" name="Text 32"/>
          <p:cNvSpPr/>
          <p:nvPr/>
        </p:nvSpPr>
        <p:spPr>
          <a:xfrm>
            <a:off x="8554517" y="4498848"/>
            <a:ext cx="2814218" cy="457200"/>
          </a:xfrm>
          <a:prstGeom prst="rect">
            <a:avLst/>
          </a:prstGeom>
          <a:noFill/>
          <a:ln/>
        </p:spPr>
        <p:txBody>
          <a:bodyPr wrap="square" lIns="0" tIns="0" rIns="0" bIns="0" rtlCol="0" anchor="ctr"/>
          <a:lstStyle/>
          <a:p>
            <a:pPr indent="0" marL="0">
              <a:buNone/>
            </a:pPr>
            <a:r>
              <a:rPr lang="en-US" sz="2000" b="1" dirty="0">
                <a:solidFill>
                  <a:srgbClr val="2B3180"/>
                </a:solidFill>
                <a:latin typeface="Arial" pitchFamily="34" charset="0"/>
                <a:ea typeface="Arial" pitchFamily="34" charset="-122"/>
                <a:cs typeface="Arial" pitchFamily="34" charset="-120"/>
              </a:rPr>
              <a:t>fact_vente : 2345</a:t>
            </a:r>
            <a:endParaRPr lang="en-US" sz="2000" dirty="0"/>
          </a:p>
        </p:txBody>
      </p:sp>
      <p:sp>
        <p:nvSpPr>
          <p:cNvPr id="35" name="Text 33"/>
          <p:cNvSpPr/>
          <p:nvPr/>
        </p:nvSpPr>
        <p:spPr>
          <a:xfrm>
            <a:off x="548640" y="5303520"/>
            <a:ext cx="11094415" cy="457200"/>
          </a:xfrm>
          <a:prstGeom prst="rect">
            <a:avLst/>
          </a:prstGeom>
          <a:noFill/>
          <a:ln/>
        </p:spPr>
        <p:txBody>
          <a:bodyPr wrap="square" lIns="0" tIns="0" rIns="0" bIns="0" rtlCol="0" anchor="ctr"/>
          <a:lstStyle/>
          <a:p>
            <a:pPr algn="ctr" indent="0" marL="0">
              <a:buNone/>
            </a:pPr>
            <a:r>
              <a:rPr lang="en-US" sz="2000" b="1" dirty="0">
                <a:solidFill>
                  <a:srgbClr val="2B3180"/>
                </a:solidFill>
                <a:latin typeface="Arial" pitchFamily="34" charset="0"/>
                <a:ea typeface="Arial" pitchFamily="34" charset="-122"/>
                <a:cs typeface="Arial" pitchFamily="34" charset="-120"/>
              </a:rPr>
              <a:t>1960 + 385 = 2345 · rejeu : 0 ajout (clé métier ligne_id)</a:t>
            </a:r>
            <a:endParaRPr lang="en-US" sz="2000" dirty="0"/>
          </a:p>
        </p:txBody>
      </p:sp>
      <p:sp>
        <p:nvSpPr>
          <p:cNvPr id="36" name="Text 34"/>
          <p:cNvSpPr/>
          <p:nvPr/>
        </p:nvSpPr>
        <p:spPr>
          <a:xfrm>
            <a:off x="548640" y="5806440"/>
            <a:ext cx="11094415" cy="365760"/>
          </a:xfrm>
          <a:prstGeom prst="rect">
            <a:avLst/>
          </a:prstGeom>
          <a:noFill/>
          <a:ln/>
        </p:spPr>
        <p:txBody>
          <a:bodyPr wrap="square" lIns="0" tIns="0" rIns="0" bIns="0" rtlCol="0" anchor="ctr"/>
          <a:lstStyle/>
          <a:p>
            <a:pPr algn="ctr" indent="0" marL="0">
              <a:buNone/>
            </a:pPr>
            <a:r>
              <a:rPr lang="en-US" sz="1400" dirty="0">
                <a:solidFill>
                  <a:srgbClr val="5A6478"/>
                </a:solidFill>
                <a:latin typeface="Arial" pitchFamily="34" charset="0"/>
                <a:ea typeface="Arial" pitchFamily="34" charset="-122"/>
                <a:cs typeface="Arial" pitchFamily="34" charset="-120"/>
              </a:rPr>
              <a:t>Compteurs = référence du générateur, pas des valeurs inventées.</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HISTORIQUE</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600" b="1" dirty="0">
                <a:solidFill>
                  <a:srgbClr val="1A1F4D"/>
                </a:solidFill>
                <a:latin typeface="Arial" pitchFamily="34" charset="0"/>
                <a:ea typeface="Arial" pitchFamily="34" charset="-122"/>
                <a:cs typeface="Arial" pitchFamily="34" charset="-120"/>
              </a:rPr>
              <a:t>SCD2 : NBE change de zone le 2026-07-15</a:t>
            </a:r>
            <a:endParaRPr lang="en-US" sz="26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736911" y="1316736"/>
            <a:ext cx="10717873" cy="4498848"/>
          </a:xfrm>
          <a:prstGeom prst="roundRect">
            <a:avLst>
              <a:gd name="adj" fmla="val 1220"/>
            </a:avLst>
          </a:prstGeom>
          <a:solidFill>
            <a:srgbClr val="FFFFFF"/>
          </a:solidFill>
          <a:ln w="9525">
            <a:solidFill>
              <a:srgbClr val="DCE2F0"/>
            </a:solidFill>
            <a:prstDash val="solid"/>
          </a:ln>
        </p:spPr>
      </p:sp>
      <p:pic>
        <p:nvPicPr>
          <p:cNvPr id="9" name="Image 0" descr="SCD2 : NBE change de zone le 2026-07-15">    </p:cNvPr>
          <p:cNvPicPr>
            <a:picLocks noChangeAspect="1"/>
          </p:cNvPicPr>
          <p:nvPr/>
        </p:nvPicPr>
        <p:blipFill>
          <a:blip r:embed="rId1"/>
          <a:srcRect l="0" r="0" t="17460" b="19492"/>
          <a:stretch/>
        </p:blipFill>
        <p:spPr>
          <a:xfrm>
            <a:off x="791775" y="1371600"/>
            <a:ext cx="10608145" cy="4389120"/>
          </a:xfrm>
          <a:prstGeom prst="rect">
            <a:avLst/>
          </a:prstGeom>
        </p:spPr>
      </p:pic>
      <p:sp>
        <p:nvSpPr>
          <p:cNvPr id="10" name="Text 7"/>
          <p:cNvSpPr/>
          <p:nvPr/>
        </p:nvSpPr>
        <p:spPr>
          <a:xfrm>
            <a:off x="548640" y="5943600"/>
            <a:ext cx="11094415" cy="457200"/>
          </a:xfrm>
          <a:prstGeom prst="rect">
            <a:avLst/>
          </a:prstGeom>
          <a:noFill/>
          <a:ln/>
        </p:spPr>
        <p:txBody>
          <a:bodyPr wrap="square" lIns="0" tIns="0" rIns="0" bIns="0" rtlCol="0" anchor="ctr"/>
          <a:lstStyle/>
          <a:p>
            <a:pPr algn="ctr" indent="0" marL="0">
              <a:buNone/>
            </a:pPr>
            <a:r>
              <a:rPr lang="en-US" sz="1700" b="1" dirty="0">
                <a:solidFill>
                  <a:srgbClr val="2B3180"/>
                </a:solidFill>
                <a:latin typeface="Arial" pitchFamily="34" charset="0"/>
                <a:ea typeface="Arial" pitchFamily="34" charset="-122"/>
                <a:cs typeface="Arial" pitchFamily="34" charset="-120"/>
              </a:rPr>
              <a:t>Version valable si : valid_from ≤ date de la vente &lt; valid_to (ou valid_to = NULL). Frise non proportionnelle.</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INDICATEURS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Après le lot 2</a:t>
            </a:r>
            <a:endParaRPr lang="en-US" sz="3000" dirty="0"/>
          </a:p>
        </p:txBody>
      </p:sp>
      <p:sp>
        <p:nvSpPr>
          <p:cNvPr id="6" name="Shape 4"/>
          <p:cNvSpPr/>
          <p:nvPr/>
        </p:nvSpPr>
        <p:spPr>
          <a:xfrm>
            <a:off x="548640" y="1874520"/>
            <a:ext cx="2567864" cy="3383280"/>
          </a:xfrm>
          <a:prstGeom prst="roundRect">
            <a:avLst>
              <a:gd name="adj" fmla="val 3561"/>
            </a:avLst>
          </a:prstGeom>
          <a:solidFill>
            <a:srgbClr val="F3F5FC"/>
          </a:solidFill>
          <a:ln w="9525">
            <a:solidFill>
              <a:srgbClr val="F3F5FC"/>
            </a:solidFill>
            <a:prstDash val="solid"/>
          </a:ln>
        </p:spPr>
      </p:sp>
      <p:sp>
        <p:nvSpPr>
          <p:cNvPr id="7" name="Text 5"/>
          <p:cNvSpPr/>
          <p:nvPr/>
        </p:nvSpPr>
        <p:spPr>
          <a:xfrm>
            <a:off x="731520"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2345</a:t>
            </a:r>
            <a:endParaRPr lang="en-US" sz="4400" dirty="0"/>
          </a:p>
        </p:txBody>
      </p:sp>
      <p:sp>
        <p:nvSpPr>
          <p:cNvPr id="8" name="Text 6"/>
          <p:cNvSpPr/>
          <p:nvPr/>
        </p:nvSpPr>
        <p:spPr>
          <a:xfrm>
            <a:off x="731520"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faits dans</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fact_vente</a:t>
            </a:r>
            <a:endParaRPr lang="en-US" sz="1700" dirty="0"/>
          </a:p>
        </p:txBody>
      </p:sp>
      <p:sp>
        <p:nvSpPr>
          <p:cNvPr id="9" name="Shape 7"/>
          <p:cNvSpPr/>
          <p:nvPr/>
        </p:nvSpPr>
        <p:spPr>
          <a:xfrm>
            <a:off x="3390824" y="1874520"/>
            <a:ext cx="2567864" cy="3383280"/>
          </a:xfrm>
          <a:prstGeom prst="roundRect">
            <a:avLst>
              <a:gd name="adj" fmla="val 3561"/>
            </a:avLst>
          </a:prstGeom>
          <a:solidFill>
            <a:srgbClr val="2B3180"/>
          </a:solidFill>
          <a:ln w="9525">
            <a:solidFill>
              <a:srgbClr val="2B3180"/>
            </a:solidFill>
            <a:prstDash val="solid"/>
          </a:ln>
        </p:spPr>
      </p:sp>
      <p:sp>
        <p:nvSpPr>
          <p:cNvPr id="10" name="Text 8"/>
          <p:cNvSpPr/>
          <p:nvPr/>
        </p:nvSpPr>
        <p:spPr>
          <a:xfrm>
            <a:off x="3573704" y="2286000"/>
            <a:ext cx="2202104"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91 444,460</a:t>
            </a:r>
            <a:endParaRPr lang="en-US" sz="3000" dirty="0"/>
          </a:p>
        </p:txBody>
      </p:sp>
      <p:sp>
        <p:nvSpPr>
          <p:cNvPr id="11" name="Text 9"/>
          <p:cNvSpPr/>
          <p:nvPr/>
        </p:nvSpPr>
        <p:spPr>
          <a:xfrm>
            <a:off x="3573704" y="3520440"/>
            <a:ext cx="2202104" cy="1554480"/>
          </a:xfrm>
          <a:prstGeom prst="rect">
            <a:avLst/>
          </a:prstGeom>
          <a:noFill/>
          <a:ln/>
        </p:spPr>
        <p:txBody>
          <a:bodyPr wrap="square" lIns="0" tIns="0" rIns="0" bIns="0" rtlCol="0" anchor="t"/>
          <a:lstStyle/>
          <a:p>
            <a:pPr algn="ctr" indent="0" marL="0">
              <a:buNone/>
            </a:pPr>
            <a:r>
              <a:rPr lang="en-US" sz="1700" dirty="0">
                <a:solidFill>
                  <a:srgbClr val="FFFFFF"/>
                </a:solidFill>
                <a:latin typeface="Arial" pitchFamily="34" charset="0"/>
                <a:ea typeface="Arial" pitchFamily="34" charset="-122"/>
                <a:cs typeface="Arial" pitchFamily="34" charset="-120"/>
              </a:rPr>
              <a:t>TND de ventes nettes</a:t>
            </a:r>
            <a:endParaRPr lang="en-US" sz="1700" dirty="0"/>
          </a:p>
        </p:txBody>
      </p:sp>
      <p:sp>
        <p:nvSpPr>
          <p:cNvPr id="12" name="Shape 10"/>
          <p:cNvSpPr/>
          <p:nvPr/>
        </p:nvSpPr>
        <p:spPr>
          <a:xfrm>
            <a:off x="6233008" y="1874520"/>
            <a:ext cx="2567864" cy="3383280"/>
          </a:xfrm>
          <a:prstGeom prst="roundRect">
            <a:avLst>
              <a:gd name="adj" fmla="val 3561"/>
            </a:avLst>
          </a:prstGeom>
          <a:solidFill>
            <a:srgbClr val="F3F5FC"/>
          </a:solidFill>
          <a:ln w="9525">
            <a:solidFill>
              <a:srgbClr val="F3F5FC"/>
            </a:solidFill>
            <a:prstDash val="solid"/>
          </a:ln>
        </p:spPr>
      </p:sp>
      <p:sp>
        <p:nvSpPr>
          <p:cNvPr id="13" name="Text 11"/>
          <p:cNvSpPr/>
          <p:nvPr/>
        </p:nvSpPr>
        <p:spPr>
          <a:xfrm>
            <a:off x="6415888" y="2286000"/>
            <a:ext cx="2202104" cy="1005840"/>
          </a:xfrm>
          <a:prstGeom prst="rect">
            <a:avLst/>
          </a:prstGeom>
          <a:noFill/>
          <a:ln/>
        </p:spPr>
        <p:txBody>
          <a:bodyPr wrap="square" lIns="0" tIns="0" rIns="0" bIns="0" rtlCol="0" anchor="ctr"/>
          <a:lstStyle/>
          <a:p>
            <a:pPr algn="ctr" indent="0" marL="0">
              <a:buNone/>
            </a:pPr>
            <a:r>
              <a:rPr lang="en-US" sz="3000" b="1" dirty="0">
                <a:solidFill>
                  <a:srgbClr val="2B3180"/>
                </a:solidFill>
                <a:latin typeface="Arial" pitchFamily="34" charset="0"/>
                <a:ea typeface="Arial" pitchFamily="34" charset="-122"/>
                <a:cs typeface="Arial" pitchFamily="34" charset="-120"/>
              </a:rPr>
              <a:t>35 606,860</a:t>
            </a:r>
            <a:endParaRPr lang="en-US" sz="3000" dirty="0"/>
          </a:p>
        </p:txBody>
      </p:sp>
      <p:sp>
        <p:nvSpPr>
          <p:cNvPr id="14" name="Text 12"/>
          <p:cNvSpPr/>
          <p:nvPr/>
        </p:nvSpPr>
        <p:spPr>
          <a:xfrm>
            <a:off x="6415888"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TND de marge</a:t>
            </a:r>
            <a:endParaRPr lang="en-US" sz="1700" dirty="0"/>
          </a:p>
          <a:p>
            <a:pPr algn="ctr" indent="0" marL="0">
              <a:buNone/>
            </a:pPr>
            <a:r>
              <a:rPr lang="en-US" sz="1700" dirty="0">
                <a:solidFill>
                  <a:srgbClr val="1A1F4D"/>
                </a:solidFill>
                <a:latin typeface="Arial" pitchFamily="34" charset="0"/>
                <a:ea typeface="Arial" pitchFamily="34" charset="-122"/>
                <a:cs typeface="Arial" pitchFamily="34" charset="-120"/>
              </a:rPr>
              <a:t>sur coût d'achat</a:t>
            </a:r>
            <a:endParaRPr lang="en-US" sz="1700" dirty="0"/>
          </a:p>
        </p:txBody>
      </p:sp>
      <p:sp>
        <p:nvSpPr>
          <p:cNvPr id="15" name="Shape 13"/>
          <p:cNvSpPr/>
          <p:nvPr/>
        </p:nvSpPr>
        <p:spPr>
          <a:xfrm>
            <a:off x="9075191" y="1874520"/>
            <a:ext cx="2567864" cy="3383280"/>
          </a:xfrm>
          <a:prstGeom prst="roundRect">
            <a:avLst>
              <a:gd name="adj" fmla="val 3561"/>
            </a:avLst>
          </a:prstGeom>
          <a:solidFill>
            <a:srgbClr val="F3F5FC"/>
          </a:solidFill>
          <a:ln w="9525">
            <a:solidFill>
              <a:srgbClr val="F3F5FC"/>
            </a:solidFill>
            <a:prstDash val="solid"/>
          </a:ln>
        </p:spPr>
      </p:sp>
      <p:sp>
        <p:nvSpPr>
          <p:cNvPr id="16" name="Text 14"/>
          <p:cNvSpPr/>
          <p:nvPr/>
        </p:nvSpPr>
        <p:spPr>
          <a:xfrm>
            <a:off x="9258071" y="2286000"/>
            <a:ext cx="2202104" cy="1005840"/>
          </a:xfrm>
          <a:prstGeom prst="rect">
            <a:avLst/>
          </a:prstGeom>
          <a:noFill/>
          <a:ln/>
        </p:spPr>
        <p:txBody>
          <a:bodyPr wrap="square" lIns="0" tIns="0" rIns="0" bIns="0" rtlCol="0" anchor="ctr"/>
          <a:lstStyle/>
          <a:p>
            <a:pPr algn="ctr" indent="0" marL="0">
              <a:buNone/>
            </a:pPr>
            <a:r>
              <a:rPr lang="en-US" sz="4400" b="1" dirty="0">
                <a:solidFill>
                  <a:srgbClr val="2B3180"/>
                </a:solidFill>
                <a:latin typeface="Arial" pitchFamily="34" charset="0"/>
                <a:ea typeface="Arial" pitchFamily="34" charset="-122"/>
                <a:cs typeface="Arial" pitchFamily="34" charset="-120"/>
              </a:rPr>
              <a:t>4,60 %</a:t>
            </a:r>
            <a:endParaRPr lang="en-US" sz="4400" dirty="0"/>
          </a:p>
        </p:txBody>
      </p:sp>
      <p:sp>
        <p:nvSpPr>
          <p:cNvPr id="17" name="Text 15"/>
          <p:cNvSpPr/>
          <p:nvPr/>
        </p:nvSpPr>
        <p:spPr>
          <a:xfrm>
            <a:off x="9258071" y="3520440"/>
            <a:ext cx="2202104" cy="1554480"/>
          </a:xfrm>
          <a:prstGeom prst="rect">
            <a:avLst/>
          </a:prstGeom>
          <a:noFill/>
          <a:ln/>
        </p:spPr>
        <p:txBody>
          <a:bodyPr wrap="square" lIns="0" tIns="0" rIns="0" bIns="0" rtlCol="0" anchor="t"/>
          <a:lstStyle/>
          <a:p>
            <a:pPr algn="ctr" indent="0" marL="0">
              <a:buNone/>
            </a:pPr>
            <a:r>
              <a:rPr lang="en-US" sz="1700" dirty="0">
                <a:solidFill>
                  <a:srgbClr val="1A1F4D"/>
                </a:solidFill>
                <a:latin typeface="Arial" pitchFamily="34" charset="0"/>
                <a:ea typeface="Arial" pitchFamily="34" charset="-122"/>
                <a:cs typeface="Arial" pitchFamily="34" charset="-120"/>
              </a:rPr>
              <a:t>taux de retour</a:t>
            </a:r>
            <a:endParaRPr lang="en-US" sz="1700" dirty="0"/>
          </a:p>
        </p:txBody>
      </p:sp>
      <p:sp>
        <p:nvSpPr>
          <p:cNvPr id="18" name="Shape 16"/>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19" name="Shape 17"/>
          <p:cNvSpPr/>
          <p:nvPr/>
        </p:nvSpPr>
        <p:spPr>
          <a:xfrm>
            <a:off x="694944" y="5733288"/>
            <a:ext cx="292608" cy="292608"/>
          </a:xfrm>
          <a:prstGeom prst="ellipse">
            <a:avLst/>
          </a:prstGeom>
          <a:solidFill>
            <a:srgbClr val="FF9A3C"/>
          </a:solidFill>
          <a:ln w="12700">
            <a:solidFill>
              <a:srgbClr val="FF9A3C"/>
            </a:solidFill>
            <a:prstDash val="solid"/>
          </a:ln>
        </p:spPr>
      </p:sp>
      <p:sp>
        <p:nvSpPr>
          <p:cNvPr id="20" name="Text 18"/>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1" name="Text 19"/>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Le premier semestre n'a pas bougé : Nabeul reste en Cap Bon jusqu'au 14 juillet.</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NOTIONS BI  ·  VISUALISATION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Ventes nettes par zone, après le lot 2</a:t>
            </a:r>
            <a:endParaRPr lang="en-US" sz="3000" dirty="0"/>
          </a:p>
        </p:txBody>
      </p:sp>
      <p:sp>
        <p:nvSpPr>
          <p:cNvPr id="6" name="Text 4"/>
          <p:cNvSpPr/>
          <p:nvPr/>
        </p:nvSpPr>
        <p:spPr>
          <a:xfrm>
            <a:off x="548640" y="1600200"/>
            <a:ext cx="7863840" cy="365760"/>
          </a:xfrm>
          <a:prstGeom prst="rect">
            <a:avLst/>
          </a:prstGeom>
          <a:noFill/>
          <a:ln/>
        </p:spPr>
        <p:txBody>
          <a:bodyPr wrap="square" lIns="0" tIns="0" rIns="0" bIns="0" rtlCol="0" anchor="ctr"/>
          <a:lstStyle/>
          <a:p>
            <a:pPr indent="0" marL="0">
              <a:buNone/>
            </a:pPr>
            <a:r>
              <a:rPr lang="en-US" sz="1500" dirty="0">
                <a:solidFill>
                  <a:srgbClr val="5A6478"/>
                </a:solidFill>
                <a:latin typeface="Arial" pitchFamily="34" charset="0"/>
                <a:ea typeface="Arial" pitchFamily="34" charset="-122"/>
                <a:cs typeface="Arial" pitchFamily="34" charset="-120"/>
              </a:rPr>
              <a:t>Janvier → août 2026 · TND · zone valable à la date de chaque vente</a:t>
            </a:r>
            <a:endParaRPr lang="en-US" sz="1500" dirty="0"/>
          </a:p>
        </p:txBody>
      </p:sp>
      <p:graphicFrame>
        <p:nvGraphicFramePr>
          <p:cNvPr id="7" name="Chart 0" descr=""/>
          <p:cNvGraphicFramePr/>
          <p:nvPr/>
        </p:nvGraphicFramePr>
        <p:xfrm>
          <a:off x="548640" y="2011680"/>
          <a:ext cx="7680960" cy="4114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549640" y="2011680"/>
            <a:ext cx="3093415" cy="4114800"/>
          </a:xfrm>
          <a:prstGeom prst="roundRect">
            <a:avLst>
              <a:gd name="adj" fmla="val 2956"/>
            </a:avLst>
          </a:prstGeom>
          <a:solidFill>
            <a:srgbClr val="F3F5FC"/>
          </a:solidFill>
          <a:ln w="9525">
            <a:solidFill>
              <a:srgbClr val="F3F5FC"/>
            </a:solidFill>
            <a:prstDash val="solid"/>
          </a:ln>
        </p:spPr>
      </p:sp>
      <p:sp>
        <p:nvSpPr>
          <p:cNvPr id="9" name="Text 6"/>
          <p:cNvSpPr/>
          <p:nvPr/>
        </p:nvSpPr>
        <p:spPr>
          <a:xfrm>
            <a:off x="8778240" y="2194560"/>
            <a:ext cx="274320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À RETENIR</a:t>
            </a:r>
            <a:endParaRPr lang="en-US" sz="1400" dirty="0"/>
          </a:p>
        </p:txBody>
      </p:sp>
      <p:sp>
        <p:nvSpPr>
          <p:cNvPr id="10" name="Text 7"/>
          <p:cNvSpPr/>
          <p:nvPr/>
        </p:nvSpPr>
        <p:spPr>
          <a:xfrm>
            <a:off x="8778240" y="2606040"/>
            <a:ext cx="2636215" cy="822960"/>
          </a:xfrm>
          <a:prstGeom prst="rect">
            <a:avLst/>
          </a:prstGeom>
          <a:noFill/>
          <a:ln/>
        </p:spPr>
        <p:txBody>
          <a:bodyPr wrap="square" lIns="0" tIns="0" rIns="0" bIns="0" rtlCol="0" anchor="t"/>
          <a:lstStyle/>
          <a:p>
            <a:pPr indent="0" marL="0">
              <a:buNone/>
            </a:pPr>
            <a:r>
              <a:rPr lang="en-US" sz="2000" b="1" dirty="0">
                <a:solidFill>
                  <a:srgbClr val="2B3180"/>
                </a:solidFill>
                <a:latin typeface="Arial" pitchFamily="34" charset="0"/>
                <a:ea typeface="Arial" pitchFamily="34" charset="-122"/>
                <a:cs typeface="Arial" pitchFamily="34" charset="-120"/>
              </a:rPr>
              <a:t>Nord-Est : 4 323,400 TND</a:t>
            </a:r>
            <a:endParaRPr lang="en-US" sz="2000" dirty="0"/>
          </a:p>
        </p:txBody>
      </p:sp>
      <p:sp>
        <p:nvSpPr>
          <p:cNvPr id="11" name="Text 8"/>
          <p:cNvSpPr/>
          <p:nvPr/>
        </p:nvSpPr>
        <p:spPr>
          <a:xfrm>
            <a:off x="8778240" y="3520440"/>
            <a:ext cx="2636215" cy="137160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Uniquement les ventes de Nabeul depuis le 15 juillet. Cap Bon garde tout le reste.</a:t>
            </a:r>
            <a:endParaRPr lang="en-US" sz="1600" dirty="0"/>
          </a:p>
        </p:txBody>
      </p:sp>
      <p:sp>
        <p:nvSpPr>
          <p:cNvPr id="12" name="Text 9"/>
          <p:cNvSpPr/>
          <p:nvPr/>
        </p:nvSpPr>
        <p:spPr>
          <a:xfrm>
            <a:off x="8778240" y="5120640"/>
            <a:ext cx="2636215" cy="731520"/>
          </a:xfrm>
          <a:prstGeom prst="rect">
            <a:avLst/>
          </a:prstGeom>
          <a:noFill/>
          <a:ln/>
        </p:spPr>
        <p:txBody>
          <a:bodyPr wrap="square" lIns="0" tIns="0" rIns="0" bIns="0" rtlCol="0" anchor="t"/>
          <a:lstStyle/>
          <a:p>
            <a:pPr indent="0" marL="0">
              <a:buNone/>
            </a:pPr>
            <a:r>
              <a:rPr lang="en-US" sz="1500" b="1" dirty="0">
                <a:solidFill>
                  <a:srgbClr val="2B3180"/>
                </a:solidFill>
                <a:latin typeface="Arial" pitchFamily="34" charset="0"/>
                <a:ea typeface="Arial" pitchFamily="34" charset="-122"/>
                <a:cs typeface="Arial" pitchFamily="34" charset="-120"/>
              </a:rPr>
              <a:t>Total : 91 444,460 TND</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F</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F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Les cinq séances</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Séance 0 chez vous · 5 × 240 min · 2 pauses · ≥ 70 % de pratique</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60 / 87</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S1 · 240 MIN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Séance 1 · Postes, GitHub à deux, cadrage</a:t>
            </a:r>
            <a:endParaRPr lang="en-US" sz="3000" dirty="0"/>
          </a:p>
        </p:txBody>
      </p:sp>
      <p:sp>
        <p:nvSpPr>
          <p:cNvPr id="6" name="Shape 4"/>
          <p:cNvSpPr/>
          <p:nvPr/>
        </p:nvSpPr>
        <p:spPr>
          <a:xfrm>
            <a:off x="548640" y="1691640"/>
            <a:ext cx="1386802" cy="502920"/>
          </a:xfrm>
          <a:prstGeom prst="rect">
            <a:avLst/>
          </a:prstGeom>
          <a:solidFill>
            <a:srgbClr val="FF9A3C"/>
          </a:solidFill>
          <a:ln w="19050">
            <a:solidFill>
              <a:srgbClr val="FFFFFF"/>
            </a:solidFill>
            <a:prstDash val="solid"/>
          </a:ln>
        </p:spPr>
      </p:sp>
      <p:sp>
        <p:nvSpPr>
          <p:cNvPr id="7" name="Text 5"/>
          <p:cNvSpPr/>
          <p:nvPr/>
        </p:nvSpPr>
        <p:spPr>
          <a:xfrm>
            <a:off x="548640" y="1691640"/>
            <a:ext cx="1386802"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30</a:t>
            </a:r>
            <a:endParaRPr lang="en-US" sz="1400" dirty="0"/>
          </a:p>
        </p:txBody>
      </p:sp>
      <p:sp>
        <p:nvSpPr>
          <p:cNvPr id="8" name="Shape 6"/>
          <p:cNvSpPr/>
          <p:nvPr/>
        </p:nvSpPr>
        <p:spPr>
          <a:xfrm>
            <a:off x="1935442" y="1691640"/>
            <a:ext cx="2311337" cy="502920"/>
          </a:xfrm>
          <a:prstGeom prst="rect">
            <a:avLst/>
          </a:prstGeom>
          <a:solidFill>
            <a:srgbClr val="7A80C2"/>
          </a:solidFill>
          <a:ln w="19050">
            <a:solidFill>
              <a:srgbClr val="FFFFFF"/>
            </a:solidFill>
            <a:prstDash val="solid"/>
          </a:ln>
        </p:spPr>
      </p:sp>
      <p:sp>
        <p:nvSpPr>
          <p:cNvPr id="9" name="Text 7"/>
          <p:cNvSpPr/>
          <p:nvPr/>
        </p:nvSpPr>
        <p:spPr>
          <a:xfrm>
            <a:off x="1935442" y="1691640"/>
            <a:ext cx="2311337"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50</a:t>
            </a:r>
            <a:endParaRPr lang="en-US" sz="1400" dirty="0"/>
          </a:p>
        </p:txBody>
      </p:sp>
      <p:sp>
        <p:nvSpPr>
          <p:cNvPr id="10" name="Shape 8"/>
          <p:cNvSpPr/>
          <p:nvPr/>
        </p:nvSpPr>
        <p:spPr>
          <a:xfrm>
            <a:off x="4246778" y="1691640"/>
            <a:ext cx="462267" cy="502920"/>
          </a:xfrm>
          <a:prstGeom prst="rect">
            <a:avLst/>
          </a:prstGeom>
          <a:solidFill>
            <a:srgbClr val="C9CDD8"/>
          </a:solidFill>
          <a:ln w="19050">
            <a:solidFill>
              <a:srgbClr val="FFFFFF"/>
            </a:solidFill>
            <a:prstDash val="solid"/>
          </a:ln>
        </p:spPr>
      </p:sp>
      <p:sp>
        <p:nvSpPr>
          <p:cNvPr id="11" name="Text 9"/>
          <p:cNvSpPr/>
          <p:nvPr/>
        </p:nvSpPr>
        <p:spPr>
          <a:xfrm>
            <a:off x="4246778"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2" name="Shape 10"/>
          <p:cNvSpPr/>
          <p:nvPr/>
        </p:nvSpPr>
        <p:spPr>
          <a:xfrm>
            <a:off x="4709046" y="1691640"/>
            <a:ext cx="693401" cy="502920"/>
          </a:xfrm>
          <a:prstGeom prst="rect">
            <a:avLst/>
          </a:prstGeom>
          <a:solidFill>
            <a:srgbClr val="2B3180"/>
          </a:solidFill>
          <a:ln w="19050">
            <a:solidFill>
              <a:srgbClr val="FFFFFF"/>
            </a:solidFill>
            <a:prstDash val="solid"/>
          </a:ln>
        </p:spPr>
      </p:sp>
      <p:sp>
        <p:nvSpPr>
          <p:cNvPr id="13" name="Text 11"/>
          <p:cNvSpPr/>
          <p:nvPr/>
        </p:nvSpPr>
        <p:spPr>
          <a:xfrm>
            <a:off x="4709046" y="1691640"/>
            <a:ext cx="693401"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14" name="Shape 12"/>
          <p:cNvSpPr/>
          <p:nvPr/>
        </p:nvSpPr>
        <p:spPr>
          <a:xfrm>
            <a:off x="5402447" y="1691640"/>
            <a:ext cx="1155668" cy="502920"/>
          </a:xfrm>
          <a:prstGeom prst="rect">
            <a:avLst/>
          </a:prstGeom>
          <a:solidFill>
            <a:srgbClr val="7A80C2"/>
          </a:solidFill>
          <a:ln w="19050">
            <a:solidFill>
              <a:srgbClr val="FFFFFF"/>
            </a:solidFill>
            <a:prstDash val="solid"/>
          </a:ln>
        </p:spPr>
      </p:sp>
      <p:sp>
        <p:nvSpPr>
          <p:cNvPr id="15" name="Text 13"/>
          <p:cNvSpPr/>
          <p:nvPr/>
        </p:nvSpPr>
        <p:spPr>
          <a:xfrm>
            <a:off x="5402447" y="1691640"/>
            <a:ext cx="1155668"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16" name="Shape 14"/>
          <p:cNvSpPr/>
          <p:nvPr/>
        </p:nvSpPr>
        <p:spPr>
          <a:xfrm>
            <a:off x="6558115" y="1691640"/>
            <a:ext cx="1155668" cy="502920"/>
          </a:xfrm>
          <a:prstGeom prst="rect">
            <a:avLst/>
          </a:prstGeom>
          <a:solidFill>
            <a:srgbClr val="FF9A3C"/>
          </a:solidFill>
          <a:ln w="19050">
            <a:solidFill>
              <a:srgbClr val="FFFFFF"/>
            </a:solidFill>
            <a:prstDash val="solid"/>
          </a:ln>
        </p:spPr>
      </p:sp>
      <p:sp>
        <p:nvSpPr>
          <p:cNvPr id="17" name="Text 15"/>
          <p:cNvSpPr/>
          <p:nvPr/>
        </p:nvSpPr>
        <p:spPr>
          <a:xfrm>
            <a:off x="6558115" y="1691640"/>
            <a:ext cx="1155668"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25</a:t>
            </a:r>
            <a:endParaRPr lang="en-US" sz="1400" dirty="0"/>
          </a:p>
        </p:txBody>
      </p:sp>
      <p:sp>
        <p:nvSpPr>
          <p:cNvPr id="18" name="Shape 16"/>
          <p:cNvSpPr/>
          <p:nvPr/>
        </p:nvSpPr>
        <p:spPr>
          <a:xfrm>
            <a:off x="7713783" y="1691640"/>
            <a:ext cx="462267" cy="502920"/>
          </a:xfrm>
          <a:prstGeom prst="rect">
            <a:avLst/>
          </a:prstGeom>
          <a:solidFill>
            <a:srgbClr val="C9CDD8"/>
          </a:solidFill>
          <a:ln w="19050">
            <a:solidFill>
              <a:srgbClr val="FFFFFF"/>
            </a:solidFill>
            <a:prstDash val="solid"/>
          </a:ln>
        </p:spPr>
      </p:sp>
      <p:sp>
        <p:nvSpPr>
          <p:cNvPr id="19" name="Text 17"/>
          <p:cNvSpPr/>
          <p:nvPr/>
        </p:nvSpPr>
        <p:spPr>
          <a:xfrm>
            <a:off x="7713783"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20" name="Shape 18"/>
          <p:cNvSpPr/>
          <p:nvPr/>
        </p:nvSpPr>
        <p:spPr>
          <a:xfrm>
            <a:off x="8176050" y="1691640"/>
            <a:ext cx="924535" cy="502920"/>
          </a:xfrm>
          <a:prstGeom prst="rect">
            <a:avLst/>
          </a:prstGeom>
          <a:solidFill>
            <a:srgbClr val="7A80C2"/>
          </a:solidFill>
          <a:ln w="19050">
            <a:solidFill>
              <a:srgbClr val="FFFFFF"/>
            </a:solidFill>
            <a:prstDash val="solid"/>
          </a:ln>
        </p:spPr>
      </p:sp>
      <p:sp>
        <p:nvSpPr>
          <p:cNvPr id="21" name="Text 19"/>
          <p:cNvSpPr/>
          <p:nvPr/>
        </p:nvSpPr>
        <p:spPr>
          <a:xfrm>
            <a:off x="8176050" y="1691640"/>
            <a:ext cx="924535"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20</a:t>
            </a:r>
            <a:endParaRPr lang="en-US" sz="1400" dirty="0"/>
          </a:p>
        </p:txBody>
      </p:sp>
      <p:sp>
        <p:nvSpPr>
          <p:cNvPr id="22" name="Shape 20"/>
          <p:cNvSpPr/>
          <p:nvPr/>
        </p:nvSpPr>
        <p:spPr>
          <a:xfrm>
            <a:off x="9100585" y="1691640"/>
            <a:ext cx="693401" cy="502920"/>
          </a:xfrm>
          <a:prstGeom prst="rect">
            <a:avLst/>
          </a:prstGeom>
          <a:solidFill>
            <a:srgbClr val="FF9A3C"/>
          </a:solidFill>
          <a:ln w="19050">
            <a:solidFill>
              <a:srgbClr val="FFFFFF"/>
            </a:solidFill>
            <a:prstDash val="solid"/>
          </a:ln>
        </p:spPr>
      </p:sp>
      <p:sp>
        <p:nvSpPr>
          <p:cNvPr id="23" name="Text 21"/>
          <p:cNvSpPr/>
          <p:nvPr/>
        </p:nvSpPr>
        <p:spPr>
          <a:xfrm>
            <a:off x="9100585" y="1691640"/>
            <a:ext cx="693401"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15</a:t>
            </a:r>
            <a:endParaRPr lang="en-US" sz="1400" dirty="0"/>
          </a:p>
        </p:txBody>
      </p:sp>
      <p:sp>
        <p:nvSpPr>
          <p:cNvPr id="24" name="Shape 22"/>
          <p:cNvSpPr/>
          <p:nvPr/>
        </p:nvSpPr>
        <p:spPr>
          <a:xfrm>
            <a:off x="9793986" y="1691640"/>
            <a:ext cx="1386802" cy="502920"/>
          </a:xfrm>
          <a:prstGeom prst="rect">
            <a:avLst/>
          </a:prstGeom>
          <a:solidFill>
            <a:srgbClr val="7A80C2"/>
          </a:solidFill>
          <a:ln w="19050">
            <a:solidFill>
              <a:srgbClr val="FFFFFF"/>
            </a:solidFill>
            <a:prstDash val="solid"/>
          </a:ln>
        </p:spPr>
      </p:sp>
      <p:sp>
        <p:nvSpPr>
          <p:cNvPr id="25" name="Text 23"/>
          <p:cNvSpPr/>
          <p:nvPr/>
        </p:nvSpPr>
        <p:spPr>
          <a:xfrm>
            <a:off x="9793986" y="1691640"/>
            <a:ext cx="1386802"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26" name="Shape 24"/>
          <p:cNvSpPr/>
          <p:nvPr/>
        </p:nvSpPr>
        <p:spPr>
          <a:xfrm>
            <a:off x="11180788" y="1691640"/>
            <a:ext cx="462267" cy="502920"/>
          </a:xfrm>
          <a:prstGeom prst="rect">
            <a:avLst/>
          </a:prstGeom>
          <a:solidFill>
            <a:srgbClr val="FF9A3C"/>
          </a:solidFill>
          <a:ln w="19050">
            <a:solidFill>
              <a:srgbClr val="FFFFFF"/>
            </a:solidFill>
            <a:prstDash val="solid"/>
          </a:ln>
        </p:spPr>
      </p:sp>
      <p:sp>
        <p:nvSpPr>
          <p:cNvPr id="27" name="Text 25"/>
          <p:cNvSpPr/>
          <p:nvPr/>
        </p:nvSpPr>
        <p:spPr>
          <a:xfrm>
            <a:off x="11180788" y="1691640"/>
            <a:ext cx="462267"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10</a:t>
            </a:r>
            <a:endParaRPr lang="en-US" sz="1400" dirty="0"/>
          </a:p>
        </p:txBody>
      </p:sp>
      <p:sp>
        <p:nvSpPr>
          <p:cNvPr id="28" name="Shape 26"/>
          <p:cNvSpPr/>
          <p:nvPr/>
        </p:nvSpPr>
        <p:spPr>
          <a:xfrm>
            <a:off x="548640" y="2340864"/>
            <a:ext cx="201168" cy="201168"/>
          </a:xfrm>
          <a:prstGeom prst="rect">
            <a:avLst/>
          </a:prstGeom>
          <a:solidFill>
            <a:srgbClr val="2B3180"/>
          </a:solidFill>
          <a:ln w="12700">
            <a:solidFill>
              <a:srgbClr val="2B3180"/>
            </a:solidFill>
            <a:prstDash val="solid"/>
          </a:ln>
        </p:spPr>
      </p:sp>
      <p:sp>
        <p:nvSpPr>
          <p:cNvPr id="29" name="Text 27"/>
          <p:cNvSpPr/>
          <p:nvPr/>
        </p:nvSpPr>
        <p:spPr>
          <a:xfrm>
            <a:off x="82296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a:t>
            </a:r>
            <a:endParaRPr lang="en-US" sz="1400" dirty="0"/>
          </a:p>
        </p:txBody>
      </p:sp>
      <p:sp>
        <p:nvSpPr>
          <p:cNvPr id="30" name="Shape 28"/>
          <p:cNvSpPr/>
          <p:nvPr/>
        </p:nvSpPr>
        <p:spPr>
          <a:xfrm>
            <a:off x="1965960" y="2340864"/>
            <a:ext cx="201168" cy="201168"/>
          </a:xfrm>
          <a:prstGeom prst="rect">
            <a:avLst/>
          </a:prstGeom>
          <a:solidFill>
            <a:srgbClr val="7A80C2"/>
          </a:solidFill>
          <a:ln w="12700">
            <a:solidFill>
              <a:srgbClr val="7A80C2"/>
            </a:solidFill>
            <a:prstDash val="solid"/>
          </a:ln>
        </p:spPr>
      </p:sp>
      <p:sp>
        <p:nvSpPr>
          <p:cNvPr id="31" name="Text 29"/>
          <p:cNvSpPr/>
          <p:nvPr/>
        </p:nvSpPr>
        <p:spPr>
          <a:xfrm>
            <a:off x="224028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 + pratique</a:t>
            </a:r>
            <a:endParaRPr lang="en-US" sz="1400" dirty="0"/>
          </a:p>
        </p:txBody>
      </p:sp>
      <p:sp>
        <p:nvSpPr>
          <p:cNvPr id="32" name="Shape 30"/>
          <p:cNvSpPr/>
          <p:nvPr/>
        </p:nvSpPr>
        <p:spPr>
          <a:xfrm>
            <a:off x="4297680" y="2340864"/>
            <a:ext cx="201168" cy="201168"/>
          </a:xfrm>
          <a:prstGeom prst="rect">
            <a:avLst/>
          </a:prstGeom>
          <a:solidFill>
            <a:srgbClr val="FF9A3C"/>
          </a:solidFill>
          <a:ln w="12700">
            <a:solidFill>
              <a:srgbClr val="FF9A3C"/>
            </a:solidFill>
            <a:prstDash val="solid"/>
          </a:ln>
        </p:spPr>
      </p:sp>
      <p:sp>
        <p:nvSpPr>
          <p:cNvPr id="33" name="Text 31"/>
          <p:cNvSpPr/>
          <p:nvPr/>
        </p:nvSpPr>
        <p:spPr>
          <a:xfrm>
            <a:off x="457200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pratique</a:t>
            </a:r>
            <a:endParaRPr lang="en-US" sz="1400" dirty="0"/>
          </a:p>
        </p:txBody>
      </p:sp>
      <p:sp>
        <p:nvSpPr>
          <p:cNvPr id="34" name="Shape 32"/>
          <p:cNvSpPr/>
          <p:nvPr/>
        </p:nvSpPr>
        <p:spPr>
          <a:xfrm>
            <a:off x="5532120" y="2340864"/>
            <a:ext cx="201168" cy="201168"/>
          </a:xfrm>
          <a:prstGeom prst="rect">
            <a:avLst/>
          </a:prstGeom>
          <a:solidFill>
            <a:srgbClr val="C9CDD8"/>
          </a:solidFill>
          <a:ln w="12700">
            <a:solidFill>
              <a:srgbClr val="C9CDD8"/>
            </a:solidFill>
            <a:prstDash val="solid"/>
          </a:ln>
        </p:spPr>
      </p:sp>
      <p:sp>
        <p:nvSpPr>
          <p:cNvPr id="35" name="Text 33"/>
          <p:cNvSpPr/>
          <p:nvPr/>
        </p:nvSpPr>
        <p:spPr>
          <a:xfrm>
            <a:off x="580644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pause</a:t>
            </a:r>
            <a:endParaRPr lang="en-US" sz="1400" dirty="0"/>
          </a:p>
        </p:txBody>
      </p:sp>
      <p:sp>
        <p:nvSpPr>
          <p:cNvPr id="36" name="Text 34"/>
          <p:cNvSpPr/>
          <p:nvPr/>
        </p:nvSpPr>
        <p:spPr>
          <a:xfrm>
            <a:off x="6492240" y="2286000"/>
            <a:ext cx="5150815" cy="310896"/>
          </a:xfrm>
          <a:prstGeom prst="rect">
            <a:avLst/>
          </a:prstGeom>
          <a:noFill/>
          <a:ln/>
        </p:spPr>
        <p:txBody>
          <a:bodyPr wrap="square" lIns="0" tIns="0" rIns="0" bIns="0" rtlCol="0" anchor="ctr"/>
          <a:lstStyle/>
          <a:p>
            <a:pPr algn="r" indent="0" marL="0">
              <a:buNone/>
            </a:pPr>
            <a:r>
              <a:rPr lang="en-US" sz="1400" b="1" dirty="0">
                <a:solidFill>
                  <a:srgbClr val="2B3180"/>
                </a:solidFill>
                <a:latin typeface="Arial" pitchFamily="34" charset="0"/>
                <a:ea typeface="Arial" pitchFamily="34" charset="-122"/>
                <a:cs typeface="Arial" pitchFamily="34" charset="-120"/>
              </a:rPr>
              <a:t>58 min d'explications · 162 min de pratique · 2 pauses</a:t>
            </a:r>
            <a:endParaRPr lang="en-US" sz="1400" dirty="0"/>
          </a:p>
        </p:txBody>
      </p:sp>
      <p:sp>
        <p:nvSpPr>
          <p:cNvPr id="37" name="Shape 35"/>
          <p:cNvSpPr/>
          <p:nvPr/>
        </p:nvSpPr>
        <p:spPr>
          <a:xfrm>
            <a:off x="548640" y="2971800"/>
            <a:ext cx="164592" cy="329184"/>
          </a:xfrm>
          <a:prstGeom prst="rect">
            <a:avLst/>
          </a:prstGeom>
          <a:solidFill>
            <a:srgbClr val="FF9A3C"/>
          </a:solidFill>
          <a:ln w="12700">
            <a:solidFill>
              <a:srgbClr val="FF9A3C"/>
            </a:solidFill>
            <a:prstDash val="solid"/>
          </a:ln>
        </p:spPr>
      </p:sp>
      <p:sp>
        <p:nvSpPr>
          <p:cNvPr id="38" name="Text 36"/>
          <p:cNvSpPr/>
          <p:nvPr/>
        </p:nvSpPr>
        <p:spPr>
          <a:xfrm>
            <a:off x="82296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30 min</a:t>
            </a:r>
            <a:endParaRPr lang="en-US" sz="1400" dirty="0"/>
          </a:p>
        </p:txBody>
      </p:sp>
      <p:sp>
        <p:nvSpPr>
          <p:cNvPr id="39" name="Text 37"/>
          <p:cNvSpPr/>
          <p:nvPr/>
        </p:nvSpPr>
        <p:spPr>
          <a:xfrm>
            <a:off x="164592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Vérifier les postes</a:t>
            </a:r>
            <a:endParaRPr lang="en-US" sz="1400" dirty="0"/>
          </a:p>
        </p:txBody>
      </p:sp>
      <p:sp>
        <p:nvSpPr>
          <p:cNvPr id="40" name="Shape 38"/>
          <p:cNvSpPr/>
          <p:nvPr/>
        </p:nvSpPr>
        <p:spPr>
          <a:xfrm>
            <a:off x="548640" y="3483864"/>
            <a:ext cx="164592" cy="329184"/>
          </a:xfrm>
          <a:prstGeom prst="rect">
            <a:avLst/>
          </a:prstGeom>
          <a:solidFill>
            <a:srgbClr val="7A80C2"/>
          </a:solidFill>
          <a:ln w="12700">
            <a:solidFill>
              <a:srgbClr val="7A80C2"/>
            </a:solidFill>
            <a:prstDash val="solid"/>
          </a:ln>
        </p:spPr>
      </p:sp>
      <p:sp>
        <p:nvSpPr>
          <p:cNvPr id="41" name="Text 39"/>
          <p:cNvSpPr/>
          <p:nvPr/>
        </p:nvSpPr>
        <p:spPr>
          <a:xfrm>
            <a:off x="82296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50 min</a:t>
            </a:r>
            <a:endParaRPr lang="en-US" sz="1400" dirty="0"/>
          </a:p>
        </p:txBody>
      </p:sp>
      <p:sp>
        <p:nvSpPr>
          <p:cNvPr id="42" name="Text 40"/>
          <p:cNvSpPr/>
          <p:nvPr/>
        </p:nvSpPr>
        <p:spPr>
          <a:xfrm>
            <a:off x="164592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GitHub à deux, PR n°1</a:t>
            </a:r>
            <a:endParaRPr lang="en-US" sz="1400" dirty="0"/>
          </a:p>
        </p:txBody>
      </p:sp>
      <p:sp>
        <p:nvSpPr>
          <p:cNvPr id="43" name="Shape 41"/>
          <p:cNvSpPr/>
          <p:nvPr/>
        </p:nvSpPr>
        <p:spPr>
          <a:xfrm>
            <a:off x="548640" y="3995928"/>
            <a:ext cx="164592" cy="329184"/>
          </a:xfrm>
          <a:prstGeom prst="rect">
            <a:avLst/>
          </a:prstGeom>
          <a:solidFill>
            <a:srgbClr val="C9CDD8"/>
          </a:solidFill>
          <a:ln w="12700">
            <a:solidFill>
              <a:srgbClr val="C9CDD8"/>
            </a:solidFill>
            <a:prstDash val="solid"/>
          </a:ln>
        </p:spPr>
      </p:sp>
      <p:sp>
        <p:nvSpPr>
          <p:cNvPr id="44" name="Text 42"/>
          <p:cNvSpPr/>
          <p:nvPr/>
        </p:nvSpPr>
        <p:spPr>
          <a:xfrm>
            <a:off x="82296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45" name="Text 43"/>
          <p:cNvSpPr/>
          <p:nvPr/>
        </p:nvSpPr>
        <p:spPr>
          <a:xfrm>
            <a:off x="164592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46" name="Shape 44"/>
          <p:cNvSpPr/>
          <p:nvPr/>
        </p:nvSpPr>
        <p:spPr>
          <a:xfrm>
            <a:off x="548640" y="4507992"/>
            <a:ext cx="164592" cy="329184"/>
          </a:xfrm>
          <a:prstGeom prst="rect">
            <a:avLst/>
          </a:prstGeom>
          <a:solidFill>
            <a:srgbClr val="2B3180"/>
          </a:solidFill>
          <a:ln w="12700">
            <a:solidFill>
              <a:srgbClr val="2B3180"/>
            </a:solidFill>
            <a:prstDash val="solid"/>
          </a:ln>
        </p:spPr>
      </p:sp>
      <p:sp>
        <p:nvSpPr>
          <p:cNvPr id="47" name="Text 45"/>
          <p:cNvSpPr/>
          <p:nvPr/>
        </p:nvSpPr>
        <p:spPr>
          <a:xfrm>
            <a:off x="82296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15 min</a:t>
            </a:r>
            <a:endParaRPr lang="en-US" sz="1400" dirty="0"/>
          </a:p>
        </p:txBody>
      </p:sp>
      <p:sp>
        <p:nvSpPr>
          <p:cNvPr id="48" name="Text 46"/>
          <p:cNvSpPr/>
          <p:nvPr/>
        </p:nvSpPr>
        <p:spPr>
          <a:xfrm>
            <a:off x="164592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Épisode 1, rôles</a:t>
            </a:r>
            <a:endParaRPr lang="en-US" sz="1400" dirty="0"/>
          </a:p>
        </p:txBody>
      </p:sp>
      <p:sp>
        <p:nvSpPr>
          <p:cNvPr id="49" name="Shape 47"/>
          <p:cNvSpPr/>
          <p:nvPr/>
        </p:nvSpPr>
        <p:spPr>
          <a:xfrm>
            <a:off x="548640" y="5020056"/>
            <a:ext cx="164592" cy="329184"/>
          </a:xfrm>
          <a:prstGeom prst="rect">
            <a:avLst/>
          </a:prstGeom>
          <a:solidFill>
            <a:srgbClr val="7A80C2"/>
          </a:solidFill>
          <a:ln w="12700">
            <a:solidFill>
              <a:srgbClr val="7A80C2"/>
            </a:solidFill>
            <a:prstDash val="solid"/>
          </a:ln>
        </p:spPr>
      </p:sp>
      <p:sp>
        <p:nvSpPr>
          <p:cNvPr id="50" name="Text 48"/>
          <p:cNvSpPr/>
          <p:nvPr/>
        </p:nvSpPr>
        <p:spPr>
          <a:xfrm>
            <a:off x="822960" y="4928616"/>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25 min</a:t>
            </a:r>
            <a:endParaRPr lang="en-US" sz="1400" dirty="0"/>
          </a:p>
        </p:txBody>
      </p:sp>
      <p:sp>
        <p:nvSpPr>
          <p:cNvPr id="51" name="Text 49"/>
          <p:cNvSpPr/>
          <p:nvPr/>
        </p:nvSpPr>
        <p:spPr>
          <a:xfrm>
            <a:off x="1645920" y="4928616"/>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Traduire la demande</a:t>
            </a:r>
            <a:endParaRPr lang="en-US" sz="1400" dirty="0"/>
          </a:p>
        </p:txBody>
      </p:sp>
      <p:sp>
        <p:nvSpPr>
          <p:cNvPr id="52" name="Shape 50"/>
          <p:cNvSpPr/>
          <p:nvPr/>
        </p:nvSpPr>
        <p:spPr>
          <a:xfrm>
            <a:off x="548640" y="5532120"/>
            <a:ext cx="164592" cy="329184"/>
          </a:xfrm>
          <a:prstGeom prst="rect">
            <a:avLst/>
          </a:prstGeom>
          <a:solidFill>
            <a:srgbClr val="FF9A3C"/>
          </a:solidFill>
          <a:ln w="12700">
            <a:solidFill>
              <a:srgbClr val="FF9A3C"/>
            </a:solidFill>
            <a:prstDash val="solid"/>
          </a:ln>
        </p:spPr>
      </p:sp>
      <p:sp>
        <p:nvSpPr>
          <p:cNvPr id="53" name="Text 51"/>
          <p:cNvSpPr/>
          <p:nvPr/>
        </p:nvSpPr>
        <p:spPr>
          <a:xfrm>
            <a:off x="822960" y="544068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25 min</a:t>
            </a:r>
            <a:endParaRPr lang="en-US" sz="1400" dirty="0"/>
          </a:p>
        </p:txBody>
      </p:sp>
      <p:sp>
        <p:nvSpPr>
          <p:cNvPr id="54" name="Text 52"/>
          <p:cNvSpPr/>
          <p:nvPr/>
        </p:nvSpPr>
        <p:spPr>
          <a:xfrm>
            <a:off x="1645920" y="544068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Échantillon à la main</a:t>
            </a:r>
            <a:endParaRPr lang="en-US" sz="1400" dirty="0"/>
          </a:p>
        </p:txBody>
      </p:sp>
      <p:sp>
        <p:nvSpPr>
          <p:cNvPr id="55" name="Shape 53"/>
          <p:cNvSpPr/>
          <p:nvPr/>
        </p:nvSpPr>
        <p:spPr>
          <a:xfrm>
            <a:off x="4069080" y="2971800"/>
            <a:ext cx="164592" cy="329184"/>
          </a:xfrm>
          <a:prstGeom prst="rect">
            <a:avLst/>
          </a:prstGeom>
          <a:solidFill>
            <a:srgbClr val="C9CDD8"/>
          </a:solidFill>
          <a:ln w="12700">
            <a:solidFill>
              <a:srgbClr val="C9CDD8"/>
            </a:solidFill>
            <a:prstDash val="solid"/>
          </a:ln>
        </p:spPr>
      </p:sp>
      <p:sp>
        <p:nvSpPr>
          <p:cNvPr id="56" name="Text 54"/>
          <p:cNvSpPr/>
          <p:nvPr/>
        </p:nvSpPr>
        <p:spPr>
          <a:xfrm>
            <a:off x="434340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57" name="Text 55"/>
          <p:cNvSpPr/>
          <p:nvPr/>
        </p:nvSpPr>
        <p:spPr>
          <a:xfrm>
            <a:off x="516636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58" name="Shape 56"/>
          <p:cNvSpPr/>
          <p:nvPr/>
        </p:nvSpPr>
        <p:spPr>
          <a:xfrm>
            <a:off x="4069080" y="3483864"/>
            <a:ext cx="164592" cy="329184"/>
          </a:xfrm>
          <a:prstGeom prst="rect">
            <a:avLst/>
          </a:prstGeom>
          <a:solidFill>
            <a:srgbClr val="7A80C2"/>
          </a:solidFill>
          <a:ln w="12700">
            <a:solidFill>
              <a:srgbClr val="7A80C2"/>
            </a:solidFill>
            <a:prstDash val="solid"/>
          </a:ln>
        </p:spPr>
      </p:sp>
      <p:sp>
        <p:nvSpPr>
          <p:cNvPr id="59" name="Text 57"/>
          <p:cNvSpPr/>
          <p:nvPr/>
        </p:nvSpPr>
        <p:spPr>
          <a:xfrm>
            <a:off x="434340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20 min</a:t>
            </a:r>
            <a:endParaRPr lang="en-US" sz="1400" dirty="0"/>
          </a:p>
        </p:txBody>
      </p:sp>
      <p:sp>
        <p:nvSpPr>
          <p:cNvPr id="60" name="Text 58"/>
          <p:cNvSpPr/>
          <p:nvPr/>
        </p:nvSpPr>
        <p:spPr>
          <a:xfrm>
            <a:off x="516636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Épisode 2, outils</a:t>
            </a:r>
            <a:endParaRPr lang="en-US" sz="1400" dirty="0"/>
          </a:p>
        </p:txBody>
      </p:sp>
      <p:sp>
        <p:nvSpPr>
          <p:cNvPr id="61" name="Shape 59"/>
          <p:cNvSpPr/>
          <p:nvPr/>
        </p:nvSpPr>
        <p:spPr>
          <a:xfrm>
            <a:off x="4069080" y="3995928"/>
            <a:ext cx="164592" cy="329184"/>
          </a:xfrm>
          <a:prstGeom prst="rect">
            <a:avLst/>
          </a:prstGeom>
          <a:solidFill>
            <a:srgbClr val="FF9A3C"/>
          </a:solidFill>
          <a:ln w="12700">
            <a:solidFill>
              <a:srgbClr val="FF9A3C"/>
            </a:solidFill>
            <a:prstDash val="solid"/>
          </a:ln>
        </p:spPr>
      </p:sp>
      <p:sp>
        <p:nvSpPr>
          <p:cNvPr id="62" name="Text 60"/>
          <p:cNvSpPr/>
          <p:nvPr/>
        </p:nvSpPr>
        <p:spPr>
          <a:xfrm>
            <a:off x="434340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15 min</a:t>
            </a:r>
            <a:endParaRPr lang="en-US" sz="1400" dirty="0"/>
          </a:p>
        </p:txBody>
      </p:sp>
      <p:sp>
        <p:nvSpPr>
          <p:cNvPr id="63" name="Text 61"/>
          <p:cNvSpPr/>
          <p:nvPr/>
        </p:nvSpPr>
        <p:spPr>
          <a:xfrm>
            <a:off x="516636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1re demande à Codex</a:t>
            </a:r>
            <a:endParaRPr lang="en-US" sz="1400" dirty="0"/>
          </a:p>
        </p:txBody>
      </p:sp>
      <p:sp>
        <p:nvSpPr>
          <p:cNvPr id="64" name="Shape 62"/>
          <p:cNvSpPr/>
          <p:nvPr/>
        </p:nvSpPr>
        <p:spPr>
          <a:xfrm>
            <a:off x="4069080" y="4507992"/>
            <a:ext cx="164592" cy="329184"/>
          </a:xfrm>
          <a:prstGeom prst="rect">
            <a:avLst/>
          </a:prstGeom>
          <a:solidFill>
            <a:srgbClr val="7A80C2"/>
          </a:solidFill>
          <a:ln w="12700">
            <a:solidFill>
              <a:srgbClr val="7A80C2"/>
            </a:solidFill>
            <a:prstDash val="solid"/>
          </a:ln>
        </p:spPr>
      </p:sp>
      <p:sp>
        <p:nvSpPr>
          <p:cNvPr id="65" name="Text 63"/>
          <p:cNvSpPr/>
          <p:nvPr/>
        </p:nvSpPr>
        <p:spPr>
          <a:xfrm>
            <a:off x="434340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30 min</a:t>
            </a:r>
            <a:endParaRPr lang="en-US" sz="1400" dirty="0"/>
          </a:p>
        </p:txBody>
      </p:sp>
      <p:sp>
        <p:nvSpPr>
          <p:cNvPr id="66" name="Text 64"/>
          <p:cNvSpPr/>
          <p:nvPr/>
        </p:nvSpPr>
        <p:spPr>
          <a:xfrm>
            <a:off x="516636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PR n°2 : B auteur</a:t>
            </a:r>
            <a:endParaRPr lang="en-US" sz="1400" dirty="0"/>
          </a:p>
        </p:txBody>
      </p:sp>
      <p:sp>
        <p:nvSpPr>
          <p:cNvPr id="67" name="Shape 65"/>
          <p:cNvSpPr/>
          <p:nvPr/>
        </p:nvSpPr>
        <p:spPr>
          <a:xfrm>
            <a:off x="4069080" y="5020056"/>
            <a:ext cx="164592" cy="329184"/>
          </a:xfrm>
          <a:prstGeom prst="rect">
            <a:avLst/>
          </a:prstGeom>
          <a:solidFill>
            <a:srgbClr val="FF9A3C"/>
          </a:solidFill>
          <a:ln w="12700">
            <a:solidFill>
              <a:srgbClr val="FF9A3C"/>
            </a:solidFill>
            <a:prstDash val="solid"/>
          </a:ln>
        </p:spPr>
      </p:sp>
      <p:sp>
        <p:nvSpPr>
          <p:cNvPr id="68" name="Text 66"/>
          <p:cNvSpPr/>
          <p:nvPr/>
        </p:nvSpPr>
        <p:spPr>
          <a:xfrm>
            <a:off x="4343400" y="4928616"/>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69" name="Text 67"/>
          <p:cNvSpPr/>
          <p:nvPr/>
        </p:nvSpPr>
        <p:spPr>
          <a:xfrm>
            <a:off x="5166360" y="4928616"/>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Note d'état</a:t>
            </a:r>
            <a:endParaRPr lang="en-US" sz="1400" dirty="0"/>
          </a:p>
        </p:txBody>
      </p:sp>
      <p:sp>
        <p:nvSpPr>
          <p:cNvPr id="70" name="Shape 68"/>
          <p:cNvSpPr/>
          <p:nvPr/>
        </p:nvSpPr>
        <p:spPr>
          <a:xfrm>
            <a:off x="7818120" y="2834640"/>
            <a:ext cx="3824935" cy="3337560"/>
          </a:xfrm>
          <a:prstGeom prst="roundRect">
            <a:avLst>
              <a:gd name="adj" fmla="val 2740"/>
            </a:avLst>
          </a:prstGeom>
          <a:solidFill>
            <a:srgbClr val="07152F"/>
          </a:solidFill>
          <a:ln w="9525">
            <a:solidFill>
              <a:srgbClr val="07152F"/>
            </a:solidFill>
            <a:prstDash val="solid"/>
          </a:ln>
        </p:spPr>
      </p:sp>
      <p:sp>
        <p:nvSpPr>
          <p:cNvPr id="71" name="Text 69"/>
          <p:cNvSpPr/>
          <p:nvPr/>
        </p:nvSpPr>
        <p:spPr>
          <a:xfrm>
            <a:off x="8046720" y="3017520"/>
            <a:ext cx="320040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CE QUE VOUS PROUVEZ</a:t>
            </a:r>
            <a:endParaRPr lang="en-US" sz="1400" dirty="0"/>
          </a:p>
        </p:txBody>
      </p:sp>
      <p:sp>
        <p:nvSpPr>
          <p:cNvPr id="72" name="Shape 70"/>
          <p:cNvSpPr/>
          <p:nvPr/>
        </p:nvSpPr>
        <p:spPr>
          <a:xfrm>
            <a:off x="8046720" y="3520440"/>
            <a:ext cx="329184" cy="329184"/>
          </a:xfrm>
          <a:prstGeom prst="ellipse">
            <a:avLst/>
          </a:prstGeom>
          <a:solidFill>
            <a:srgbClr val="FF9A3C"/>
          </a:solidFill>
          <a:ln w="12700">
            <a:solidFill>
              <a:srgbClr val="FF9A3C"/>
            </a:solidFill>
            <a:prstDash val="solid"/>
          </a:ln>
        </p:spPr>
      </p:sp>
      <p:sp>
        <p:nvSpPr>
          <p:cNvPr id="73" name="Text 71"/>
          <p:cNvSpPr/>
          <p:nvPr/>
        </p:nvSpPr>
        <p:spPr>
          <a:xfrm>
            <a:off x="8046720" y="352044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74" name="Text 72"/>
          <p:cNvSpPr/>
          <p:nvPr/>
        </p:nvSpPr>
        <p:spPr>
          <a:xfrm>
            <a:off x="8503920" y="347472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Postes vérifiés : checklist du livret 01</a:t>
            </a:r>
            <a:endParaRPr lang="en-US" sz="1600" dirty="0"/>
          </a:p>
        </p:txBody>
      </p:sp>
      <p:sp>
        <p:nvSpPr>
          <p:cNvPr id="75" name="Shape 73"/>
          <p:cNvSpPr/>
          <p:nvPr/>
        </p:nvSpPr>
        <p:spPr>
          <a:xfrm>
            <a:off x="8046720" y="4389120"/>
            <a:ext cx="329184" cy="329184"/>
          </a:xfrm>
          <a:prstGeom prst="ellipse">
            <a:avLst/>
          </a:prstGeom>
          <a:solidFill>
            <a:srgbClr val="FF9A3C"/>
          </a:solidFill>
          <a:ln w="12700">
            <a:solidFill>
              <a:srgbClr val="FF9A3C"/>
            </a:solidFill>
            <a:prstDash val="solid"/>
          </a:ln>
        </p:spPr>
      </p:sp>
      <p:sp>
        <p:nvSpPr>
          <p:cNvPr id="76" name="Text 74"/>
          <p:cNvSpPr/>
          <p:nvPr/>
        </p:nvSpPr>
        <p:spPr>
          <a:xfrm>
            <a:off x="8046720" y="438912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77" name="Text 75"/>
          <p:cNvSpPr/>
          <p:nvPr/>
        </p:nvSpPr>
        <p:spPr>
          <a:xfrm>
            <a:off x="8503920" y="434340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PR n°1 (A) et PR n°2 (B) relues, fusionnées</a:t>
            </a:r>
            <a:endParaRPr lang="en-US" sz="1600" dirty="0"/>
          </a:p>
        </p:txBody>
      </p:sp>
      <p:sp>
        <p:nvSpPr>
          <p:cNvPr id="78" name="Shape 76"/>
          <p:cNvSpPr/>
          <p:nvPr/>
        </p:nvSpPr>
        <p:spPr>
          <a:xfrm>
            <a:off x="8046720" y="5257800"/>
            <a:ext cx="329184" cy="329184"/>
          </a:xfrm>
          <a:prstGeom prst="ellipse">
            <a:avLst/>
          </a:prstGeom>
          <a:solidFill>
            <a:srgbClr val="FF9A3C"/>
          </a:solidFill>
          <a:ln w="12700">
            <a:solidFill>
              <a:srgbClr val="FF9A3C"/>
            </a:solidFill>
            <a:prstDash val="solid"/>
          </a:ln>
        </p:spPr>
      </p:sp>
      <p:sp>
        <p:nvSpPr>
          <p:cNvPr id="79" name="Text 77"/>
          <p:cNvSpPr/>
          <p:nvPr/>
        </p:nvSpPr>
        <p:spPr>
          <a:xfrm>
            <a:off x="8046720" y="525780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80" name="Text 78"/>
          <p:cNvSpPr/>
          <p:nvPr/>
        </p:nvSpPr>
        <p:spPr>
          <a:xfrm>
            <a:off x="8503920" y="521208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Calcul à la main = attendu.md</a:t>
            </a:r>
            <a:endParaRPr lang="en-US" sz="16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S2 · 240 MIN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Séance 2 · Un premier résultat… faux</a:t>
            </a:r>
            <a:endParaRPr lang="en-US" sz="3000" dirty="0"/>
          </a:p>
        </p:txBody>
      </p:sp>
      <p:sp>
        <p:nvSpPr>
          <p:cNvPr id="6" name="Shape 4"/>
          <p:cNvSpPr/>
          <p:nvPr/>
        </p:nvSpPr>
        <p:spPr>
          <a:xfrm>
            <a:off x="548640" y="1691640"/>
            <a:ext cx="554721" cy="502920"/>
          </a:xfrm>
          <a:prstGeom prst="rect">
            <a:avLst/>
          </a:prstGeom>
          <a:solidFill>
            <a:srgbClr val="2B3180"/>
          </a:solidFill>
          <a:ln w="19050">
            <a:solidFill>
              <a:srgbClr val="FFFFFF"/>
            </a:solidFill>
            <a:prstDash val="solid"/>
          </a:ln>
        </p:spPr>
      </p:sp>
      <p:sp>
        <p:nvSpPr>
          <p:cNvPr id="7" name="Text 5"/>
          <p:cNvSpPr/>
          <p:nvPr/>
        </p:nvSpPr>
        <p:spPr>
          <a:xfrm>
            <a:off x="548640" y="1691640"/>
            <a:ext cx="554721"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8" name="Shape 6"/>
          <p:cNvSpPr/>
          <p:nvPr/>
        </p:nvSpPr>
        <p:spPr>
          <a:xfrm>
            <a:off x="1103361" y="1691640"/>
            <a:ext cx="2033976" cy="502920"/>
          </a:xfrm>
          <a:prstGeom prst="rect">
            <a:avLst/>
          </a:prstGeom>
          <a:solidFill>
            <a:srgbClr val="7A80C2"/>
          </a:solidFill>
          <a:ln w="19050">
            <a:solidFill>
              <a:srgbClr val="FFFFFF"/>
            </a:solidFill>
            <a:prstDash val="solid"/>
          </a:ln>
        </p:spPr>
      </p:sp>
      <p:sp>
        <p:nvSpPr>
          <p:cNvPr id="9" name="Text 7"/>
          <p:cNvSpPr/>
          <p:nvPr/>
        </p:nvSpPr>
        <p:spPr>
          <a:xfrm>
            <a:off x="1103361" y="1691640"/>
            <a:ext cx="203397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44</a:t>
            </a:r>
            <a:endParaRPr lang="en-US" sz="1400" dirty="0"/>
          </a:p>
        </p:txBody>
      </p:sp>
      <p:sp>
        <p:nvSpPr>
          <p:cNvPr id="10" name="Shape 8"/>
          <p:cNvSpPr/>
          <p:nvPr/>
        </p:nvSpPr>
        <p:spPr>
          <a:xfrm>
            <a:off x="3137337" y="1691640"/>
            <a:ext cx="462267" cy="502920"/>
          </a:xfrm>
          <a:prstGeom prst="rect">
            <a:avLst/>
          </a:prstGeom>
          <a:solidFill>
            <a:srgbClr val="C9CDD8"/>
          </a:solidFill>
          <a:ln w="19050">
            <a:solidFill>
              <a:srgbClr val="FFFFFF"/>
            </a:solidFill>
            <a:prstDash val="solid"/>
          </a:ln>
        </p:spPr>
      </p:sp>
      <p:sp>
        <p:nvSpPr>
          <p:cNvPr id="11" name="Text 9"/>
          <p:cNvSpPr/>
          <p:nvPr/>
        </p:nvSpPr>
        <p:spPr>
          <a:xfrm>
            <a:off x="3137337"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2" name="Shape 10"/>
          <p:cNvSpPr/>
          <p:nvPr/>
        </p:nvSpPr>
        <p:spPr>
          <a:xfrm>
            <a:off x="3599604" y="1691640"/>
            <a:ext cx="2496243" cy="502920"/>
          </a:xfrm>
          <a:prstGeom prst="rect">
            <a:avLst/>
          </a:prstGeom>
          <a:solidFill>
            <a:srgbClr val="7A80C2"/>
          </a:solidFill>
          <a:ln w="19050">
            <a:solidFill>
              <a:srgbClr val="FFFFFF"/>
            </a:solidFill>
            <a:prstDash val="solid"/>
          </a:ln>
        </p:spPr>
      </p:sp>
      <p:sp>
        <p:nvSpPr>
          <p:cNvPr id="13" name="Text 11"/>
          <p:cNvSpPr/>
          <p:nvPr/>
        </p:nvSpPr>
        <p:spPr>
          <a:xfrm>
            <a:off x="3599604" y="1691640"/>
            <a:ext cx="2496243"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54</a:t>
            </a:r>
            <a:endParaRPr lang="en-US" sz="1400" dirty="0"/>
          </a:p>
        </p:txBody>
      </p:sp>
      <p:sp>
        <p:nvSpPr>
          <p:cNvPr id="14" name="Shape 12"/>
          <p:cNvSpPr/>
          <p:nvPr/>
        </p:nvSpPr>
        <p:spPr>
          <a:xfrm>
            <a:off x="6095848" y="1691640"/>
            <a:ext cx="1571709" cy="502920"/>
          </a:xfrm>
          <a:prstGeom prst="rect">
            <a:avLst/>
          </a:prstGeom>
          <a:solidFill>
            <a:srgbClr val="7A80C2"/>
          </a:solidFill>
          <a:ln w="19050">
            <a:solidFill>
              <a:srgbClr val="FFFFFF"/>
            </a:solidFill>
            <a:prstDash val="solid"/>
          </a:ln>
        </p:spPr>
      </p:sp>
      <p:sp>
        <p:nvSpPr>
          <p:cNvPr id="15" name="Text 13"/>
          <p:cNvSpPr/>
          <p:nvPr/>
        </p:nvSpPr>
        <p:spPr>
          <a:xfrm>
            <a:off x="6095848" y="1691640"/>
            <a:ext cx="1571709"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34</a:t>
            </a:r>
            <a:endParaRPr lang="en-US" sz="1400" dirty="0"/>
          </a:p>
        </p:txBody>
      </p:sp>
      <p:sp>
        <p:nvSpPr>
          <p:cNvPr id="16" name="Shape 14"/>
          <p:cNvSpPr/>
          <p:nvPr/>
        </p:nvSpPr>
        <p:spPr>
          <a:xfrm>
            <a:off x="7667556" y="1691640"/>
            <a:ext cx="462267" cy="502920"/>
          </a:xfrm>
          <a:prstGeom prst="rect">
            <a:avLst/>
          </a:prstGeom>
          <a:solidFill>
            <a:srgbClr val="C9CDD8"/>
          </a:solidFill>
          <a:ln w="19050">
            <a:solidFill>
              <a:srgbClr val="FFFFFF"/>
            </a:solidFill>
            <a:prstDash val="solid"/>
          </a:ln>
        </p:spPr>
      </p:sp>
      <p:sp>
        <p:nvSpPr>
          <p:cNvPr id="17" name="Text 15"/>
          <p:cNvSpPr/>
          <p:nvPr/>
        </p:nvSpPr>
        <p:spPr>
          <a:xfrm>
            <a:off x="7667556"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8" name="Shape 16"/>
          <p:cNvSpPr/>
          <p:nvPr/>
        </p:nvSpPr>
        <p:spPr>
          <a:xfrm>
            <a:off x="8129824" y="1691640"/>
            <a:ext cx="3050964" cy="502920"/>
          </a:xfrm>
          <a:prstGeom prst="rect">
            <a:avLst/>
          </a:prstGeom>
          <a:solidFill>
            <a:srgbClr val="7A80C2"/>
          </a:solidFill>
          <a:ln w="19050">
            <a:solidFill>
              <a:srgbClr val="FFFFFF"/>
            </a:solidFill>
            <a:prstDash val="solid"/>
          </a:ln>
        </p:spPr>
      </p:sp>
      <p:sp>
        <p:nvSpPr>
          <p:cNvPr id="19" name="Text 17"/>
          <p:cNvSpPr/>
          <p:nvPr/>
        </p:nvSpPr>
        <p:spPr>
          <a:xfrm>
            <a:off x="8129824" y="1691640"/>
            <a:ext cx="305096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66</a:t>
            </a:r>
            <a:endParaRPr lang="en-US" sz="1400" dirty="0"/>
          </a:p>
        </p:txBody>
      </p:sp>
      <p:sp>
        <p:nvSpPr>
          <p:cNvPr id="20" name="Shape 18"/>
          <p:cNvSpPr/>
          <p:nvPr/>
        </p:nvSpPr>
        <p:spPr>
          <a:xfrm>
            <a:off x="11180788" y="1691640"/>
            <a:ext cx="462267" cy="502920"/>
          </a:xfrm>
          <a:prstGeom prst="rect">
            <a:avLst/>
          </a:prstGeom>
          <a:solidFill>
            <a:srgbClr val="FF9A3C"/>
          </a:solidFill>
          <a:ln w="19050">
            <a:solidFill>
              <a:srgbClr val="FFFFFF"/>
            </a:solidFill>
            <a:prstDash val="solid"/>
          </a:ln>
        </p:spPr>
      </p:sp>
      <p:sp>
        <p:nvSpPr>
          <p:cNvPr id="21" name="Text 19"/>
          <p:cNvSpPr/>
          <p:nvPr/>
        </p:nvSpPr>
        <p:spPr>
          <a:xfrm>
            <a:off x="11180788" y="1691640"/>
            <a:ext cx="462267"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10</a:t>
            </a:r>
            <a:endParaRPr lang="en-US" sz="1400" dirty="0"/>
          </a:p>
        </p:txBody>
      </p:sp>
      <p:sp>
        <p:nvSpPr>
          <p:cNvPr id="22" name="Shape 20"/>
          <p:cNvSpPr/>
          <p:nvPr/>
        </p:nvSpPr>
        <p:spPr>
          <a:xfrm>
            <a:off x="548640" y="2340864"/>
            <a:ext cx="201168" cy="201168"/>
          </a:xfrm>
          <a:prstGeom prst="rect">
            <a:avLst/>
          </a:prstGeom>
          <a:solidFill>
            <a:srgbClr val="2B3180"/>
          </a:solidFill>
          <a:ln w="12700">
            <a:solidFill>
              <a:srgbClr val="2B3180"/>
            </a:solidFill>
            <a:prstDash val="solid"/>
          </a:ln>
        </p:spPr>
      </p:sp>
      <p:sp>
        <p:nvSpPr>
          <p:cNvPr id="23" name="Text 21"/>
          <p:cNvSpPr/>
          <p:nvPr/>
        </p:nvSpPr>
        <p:spPr>
          <a:xfrm>
            <a:off x="82296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a:t>
            </a:r>
            <a:endParaRPr lang="en-US" sz="1400" dirty="0"/>
          </a:p>
        </p:txBody>
      </p:sp>
      <p:sp>
        <p:nvSpPr>
          <p:cNvPr id="24" name="Shape 22"/>
          <p:cNvSpPr/>
          <p:nvPr/>
        </p:nvSpPr>
        <p:spPr>
          <a:xfrm>
            <a:off x="1965960" y="2340864"/>
            <a:ext cx="201168" cy="201168"/>
          </a:xfrm>
          <a:prstGeom prst="rect">
            <a:avLst/>
          </a:prstGeom>
          <a:solidFill>
            <a:srgbClr val="7A80C2"/>
          </a:solidFill>
          <a:ln w="12700">
            <a:solidFill>
              <a:srgbClr val="7A80C2"/>
            </a:solidFill>
            <a:prstDash val="solid"/>
          </a:ln>
        </p:spPr>
      </p:sp>
      <p:sp>
        <p:nvSpPr>
          <p:cNvPr id="25" name="Text 23"/>
          <p:cNvSpPr/>
          <p:nvPr/>
        </p:nvSpPr>
        <p:spPr>
          <a:xfrm>
            <a:off x="224028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 + pratique</a:t>
            </a:r>
            <a:endParaRPr lang="en-US" sz="1400" dirty="0"/>
          </a:p>
        </p:txBody>
      </p:sp>
      <p:sp>
        <p:nvSpPr>
          <p:cNvPr id="26" name="Shape 24"/>
          <p:cNvSpPr/>
          <p:nvPr/>
        </p:nvSpPr>
        <p:spPr>
          <a:xfrm>
            <a:off x="4297680" y="2340864"/>
            <a:ext cx="201168" cy="201168"/>
          </a:xfrm>
          <a:prstGeom prst="rect">
            <a:avLst/>
          </a:prstGeom>
          <a:solidFill>
            <a:srgbClr val="FF9A3C"/>
          </a:solidFill>
          <a:ln w="12700">
            <a:solidFill>
              <a:srgbClr val="FF9A3C"/>
            </a:solidFill>
            <a:prstDash val="solid"/>
          </a:ln>
        </p:spPr>
      </p:sp>
      <p:sp>
        <p:nvSpPr>
          <p:cNvPr id="27" name="Text 25"/>
          <p:cNvSpPr/>
          <p:nvPr/>
        </p:nvSpPr>
        <p:spPr>
          <a:xfrm>
            <a:off x="457200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pratique</a:t>
            </a:r>
            <a:endParaRPr lang="en-US" sz="1400" dirty="0"/>
          </a:p>
        </p:txBody>
      </p:sp>
      <p:sp>
        <p:nvSpPr>
          <p:cNvPr id="28" name="Shape 26"/>
          <p:cNvSpPr/>
          <p:nvPr/>
        </p:nvSpPr>
        <p:spPr>
          <a:xfrm>
            <a:off x="5532120" y="2340864"/>
            <a:ext cx="201168" cy="201168"/>
          </a:xfrm>
          <a:prstGeom prst="rect">
            <a:avLst/>
          </a:prstGeom>
          <a:solidFill>
            <a:srgbClr val="C9CDD8"/>
          </a:solidFill>
          <a:ln w="12700">
            <a:solidFill>
              <a:srgbClr val="C9CDD8"/>
            </a:solidFill>
            <a:prstDash val="solid"/>
          </a:ln>
        </p:spPr>
      </p:sp>
      <p:sp>
        <p:nvSpPr>
          <p:cNvPr id="29" name="Text 27"/>
          <p:cNvSpPr/>
          <p:nvPr/>
        </p:nvSpPr>
        <p:spPr>
          <a:xfrm>
            <a:off x="580644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pause</a:t>
            </a:r>
            <a:endParaRPr lang="en-US" sz="1400" dirty="0"/>
          </a:p>
        </p:txBody>
      </p:sp>
      <p:sp>
        <p:nvSpPr>
          <p:cNvPr id="30" name="Text 28"/>
          <p:cNvSpPr/>
          <p:nvPr/>
        </p:nvSpPr>
        <p:spPr>
          <a:xfrm>
            <a:off x="6492240" y="2286000"/>
            <a:ext cx="5150815" cy="310896"/>
          </a:xfrm>
          <a:prstGeom prst="rect">
            <a:avLst/>
          </a:prstGeom>
          <a:noFill/>
          <a:ln/>
        </p:spPr>
        <p:txBody>
          <a:bodyPr wrap="square" lIns="0" tIns="0" rIns="0" bIns="0" rtlCol="0" anchor="ctr"/>
          <a:lstStyle/>
          <a:p>
            <a:pPr algn="r" indent="0" marL="0">
              <a:buNone/>
            </a:pPr>
            <a:r>
              <a:rPr lang="en-US" sz="1400" b="1" dirty="0">
                <a:solidFill>
                  <a:srgbClr val="2B3180"/>
                </a:solidFill>
                <a:latin typeface="Arial" pitchFamily="34" charset="0"/>
                <a:ea typeface="Arial" pitchFamily="34" charset="-122"/>
                <a:cs typeface="Arial" pitchFamily="34" charset="-120"/>
              </a:rPr>
              <a:t>66 min d'explications · 154 min de pratique · 2 pauses</a:t>
            </a:r>
            <a:endParaRPr lang="en-US" sz="1400" dirty="0"/>
          </a:p>
        </p:txBody>
      </p:sp>
      <p:sp>
        <p:nvSpPr>
          <p:cNvPr id="31" name="Shape 29"/>
          <p:cNvSpPr/>
          <p:nvPr/>
        </p:nvSpPr>
        <p:spPr>
          <a:xfrm>
            <a:off x="548640" y="2971800"/>
            <a:ext cx="164592" cy="329184"/>
          </a:xfrm>
          <a:prstGeom prst="rect">
            <a:avLst/>
          </a:prstGeom>
          <a:solidFill>
            <a:srgbClr val="2B3180"/>
          </a:solidFill>
          <a:ln w="12700">
            <a:solidFill>
              <a:srgbClr val="2B3180"/>
            </a:solidFill>
            <a:prstDash val="solid"/>
          </a:ln>
        </p:spPr>
      </p:sp>
      <p:sp>
        <p:nvSpPr>
          <p:cNvPr id="32" name="Text 30"/>
          <p:cNvSpPr/>
          <p:nvPr/>
        </p:nvSpPr>
        <p:spPr>
          <a:xfrm>
            <a:off x="82296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12 min</a:t>
            </a:r>
            <a:endParaRPr lang="en-US" sz="1400" dirty="0"/>
          </a:p>
        </p:txBody>
      </p:sp>
      <p:sp>
        <p:nvSpPr>
          <p:cNvPr id="33" name="Text 31"/>
          <p:cNvSpPr/>
          <p:nvPr/>
        </p:nvSpPr>
        <p:spPr>
          <a:xfrm>
            <a:off x="164592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Épisode 3</a:t>
            </a:r>
            <a:endParaRPr lang="en-US" sz="1400" dirty="0"/>
          </a:p>
        </p:txBody>
      </p:sp>
      <p:sp>
        <p:nvSpPr>
          <p:cNvPr id="34" name="Shape 32"/>
          <p:cNvSpPr/>
          <p:nvPr/>
        </p:nvSpPr>
        <p:spPr>
          <a:xfrm>
            <a:off x="548640" y="3483864"/>
            <a:ext cx="164592" cy="329184"/>
          </a:xfrm>
          <a:prstGeom prst="rect">
            <a:avLst/>
          </a:prstGeom>
          <a:solidFill>
            <a:srgbClr val="7A80C2"/>
          </a:solidFill>
          <a:ln w="12700">
            <a:solidFill>
              <a:srgbClr val="7A80C2"/>
            </a:solidFill>
            <a:prstDash val="solid"/>
          </a:ln>
        </p:spPr>
      </p:sp>
      <p:sp>
        <p:nvSpPr>
          <p:cNvPr id="35" name="Text 33"/>
          <p:cNvSpPr/>
          <p:nvPr/>
        </p:nvSpPr>
        <p:spPr>
          <a:xfrm>
            <a:off x="82296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44 min</a:t>
            </a:r>
            <a:endParaRPr lang="en-US" sz="1400" dirty="0"/>
          </a:p>
        </p:txBody>
      </p:sp>
      <p:sp>
        <p:nvSpPr>
          <p:cNvPr id="36" name="Text 34"/>
          <p:cNvSpPr/>
          <p:nvPr/>
        </p:nvSpPr>
        <p:spPr>
          <a:xfrm>
            <a:off x="164592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Lire 3 formats (pandas)</a:t>
            </a:r>
            <a:endParaRPr lang="en-US" sz="1400" dirty="0"/>
          </a:p>
        </p:txBody>
      </p:sp>
      <p:sp>
        <p:nvSpPr>
          <p:cNvPr id="37" name="Shape 35"/>
          <p:cNvSpPr/>
          <p:nvPr/>
        </p:nvSpPr>
        <p:spPr>
          <a:xfrm>
            <a:off x="548640" y="3995928"/>
            <a:ext cx="164592" cy="329184"/>
          </a:xfrm>
          <a:prstGeom prst="rect">
            <a:avLst/>
          </a:prstGeom>
          <a:solidFill>
            <a:srgbClr val="C9CDD8"/>
          </a:solidFill>
          <a:ln w="12700">
            <a:solidFill>
              <a:srgbClr val="C9CDD8"/>
            </a:solidFill>
            <a:prstDash val="solid"/>
          </a:ln>
        </p:spPr>
      </p:sp>
      <p:sp>
        <p:nvSpPr>
          <p:cNvPr id="38" name="Text 36"/>
          <p:cNvSpPr/>
          <p:nvPr/>
        </p:nvSpPr>
        <p:spPr>
          <a:xfrm>
            <a:off x="82296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39" name="Text 37"/>
          <p:cNvSpPr/>
          <p:nvPr/>
        </p:nvSpPr>
        <p:spPr>
          <a:xfrm>
            <a:off x="164592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40" name="Shape 38"/>
          <p:cNvSpPr/>
          <p:nvPr/>
        </p:nvSpPr>
        <p:spPr>
          <a:xfrm>
            <a:off x="548640" y="4507992"/>
            <a:ext cx="164592" cy="329184"/>
          </a:xfrm>
          <a:prstGeom prst="rect">
            <a:avLst/>
          </a:prstGeom>
          <a:solidFill>
            <a:srgbClr val="7A80C2"/>
          </a:solidFill>
          <a:ln w="12700">
            <a:solidFill>
              <a:srgbClr val="7A80C2"/>
            </a:solidFill>
            <a:prstDash val="solid"/>
          </a:ln>
        </p:spPr>
      </p:sp>
      <p:sp>
        <p:nvSpPr>
          <p:cNvPr id="41" name="Text 39"/>
          <p:cNvSpPr/>
          <p:nvPr/>
        </p:nvSpPr>
        <p:spPr>
          <a:xfrm>
            <a:off x="82296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54 min</a:t>
            </a:r>
            <a:endParaRPr lang="en-US" sz="1400" dirty="0"/>
          </a:p>
        </p:txBody>
      </p:sp>
      <p:sp>
        <p:nvSpPr>
          <p:cNvPr id="42" name="Text 40"/>
          <p:cNvSpPr/>
          <p:nvPr/>
        </p:nvSpPr>
        <p:spPr>
          <a:xfrm>
            <a:off x="164592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Nettoyer, rejeter</a:t>
            </a:r>
            <a:endParaRPr lang="en-US" sz="1400" dirty="0"/>
          </a:p>
        </p:txBody>
      </p:sp>
      <p:sp>
        <p:nvSpPr>
          <p:cNvPr id="43" name="Shape 41"/>
          <p:cNvSpPr/>
          <p:nvPr/>
        </p:nvSpPr>
        <p:spPr>
          <a:xfrm>
            <a:off x="4069080" y="2971800"/>
            <a:ext cx="164592" cy="329184"/>
          </a:xfrm>
          <a:prstGeom prst="rect">
            <a:avLst/>
          </a:prstGeom>
          <a:solidFill>
            <a:srgbClr val="7A80C2"/>
          </a:solidFill>
          <a:ln w="12700">
            <a:solidFill>
              <a:srgbClr val="7A80C2"/>
            </a:solidFill>
            <a:prstDash val="solid"/>
          </a:ln>
        </p:spPr>
      </p:sp>
      <p:sp>
        <p:nvSpPr>
          <p:cNvPr id="44" name="Text 42"/>
          <p:cNvSpPr/>
          <p:nvPr/>
        </p:nvSpPr>
        <p:spPr>
          <a:xfrm>
            <a:off x="434340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34 min</a:t>
            </a:r>
            <a:endParaRPr lang="en-US" sz="1400" dirty="0"/>
          </a:p>
        </p:txBody>
      </p:sp>
      <p:sp>
        <p:nvSpPr>
          <p:cNvPr id="45" name="Text 43"/>
          <p:cNvSpPr/>
          <p:nvPr/>
        </p:nvSpPr>
        <p:spPr>
          <a:xfrm>
            <a:off x="516636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Fonctions, modules</a:t>
            </a:r>
            <a:endParaRPr lang="en-US" sz="1400" dirty="0"/>
          </a:p>
        </p:txBody>
      </p:sp>
      <p:sp>
        <p:nvSpPr>
          <p:cNvPr id="46" name="Shape 44"/>
          <p:cNvSpPr/>
          <p:nvPr/>
        </p:nvSpPr>
        <p:spPr>
          <a:xfrm>
            <a:off x="4069080" y="3483864"/>
            <a:ext cx="164592" cy="329184"/>
          </a:xfrm>
          <a:prstGeom prst="rect">
            <a:avLst/>
          </a:prstGeom>
          <a:solidFill>
            <a:srgbClr val="C9CDD8"/>
          </a:solidFill>
          <a:ln w="12700">
            <a:solidFill>
              <a:srgbClr val="C9CDD8"/>
            </a:solidFill>
            <a:prstDash val="solid"/>
          </a:ln>
        </p:spPr>
      </p:sp>
      <p:sp>
        <p:nvSpPr>
          <p:cNvPr id="47" name="Text 45"/>
          <p:cNvSpPr/>
          <p:nvPr/>
        </p:nvSpPr>
        <p:spPr>
          <a:xfrm>
            <a:off x="434340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48" name="Text 46"/>
          <p:cNvSpPr/>
          <p:nvPr/>
        </p:nvSpPr>
        <p:spPr>
          <a:xfrm>
            <a:off x="516636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49" name="Shape 47"/>
          <p:cNvSpPr/>
          <p:nvPr/>
        </p:nvSpPr>
        <p:spPr>
          <a:xfrm>
            <a:off x="4069080" y="3995928"/>
            <a:ext cx="164592" cy="329184"/>
          </a:xfrm>
          <a:prstGeom prst="rect">
            <a:avLst/>
          </a:prstGeom>
          <a:solidFill>
            <a:srgbClr val="7A80C2"/>
          </a:solidFill>
          <a:ln w="12700">
            <a:solidFill>
              <a:srgbClr val="7A80C2"/>
            </a:solidFill>
            <a:prstDash val="solid"/>
          </a:ln>
        </p:spPr>
      </p:sp>
      <p:sp>
        <p:nvSpPr>
          <p:cNvPr id="50" name="Text 48"/>
          <p:cNvSpPr/>
          <p:nvPr/>
        </p:nvSpPr>
        <p:spPr>
          <a:xfrm>
            <a:off x="434340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66 min</a:t>
            </a:r>
            <a:endParaRPr lang="en-US" sz="1400" dirty="0"/>
          </a:p>
        </p:txBody>
      </p:sp>
      <p:sp>
        <p:nvSpPr>
          <p:cNvPr id="51" name="Text 49"/>
          <p:cNvSpPr/>
          <p:nvPr/>
        </p:nvSpPr>
        <p:spPr>
          <a:xfrm>
            <a:off x="516636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PR : A auteur, B relit</a:t>
            </a:r>
            <a:endParaRPr lang="en-US" sz="1400" dirty="0"/>
          </a:p>
        </p:txBody>
      </p:sp>
      <p:sp>
        <p:nvSpPr>
          <p:cNvPr id="52" name="Shape 50"/>
          <p:cNvSpPr/>
          <p:nvPr/>
        </p:nvSpPr>
        <p:spPr>
          <a:xfrm>
            <a:off x="4069080" y="4507992"/>
            <a:ext cx="164592" cy="329184"/>
          </a:xfrm>
          <a:prstGeom prst="rect">
            <a:avLst/>
          </a:prstGeom>
          <a:solidFill>
            <a:srgbClr val="FF9A3C"/>
          </a:solidFill>
          <a:ln w="12700">
            <a:solidFill>
              <a:srgbClr val="FF9A3C"/>
            </a:solidFill>
            <a:prstDash val="solid"/>
          </a:ln>
        </p:spPr>
      </p:sp>
      <p:sp>
        <p:nvSpPr>
          <p:cNvPr id="53" name="Text 51"/>
          <p:cNvSpPr/>
          <p:nvPr/>
        </p:nvSpPr>
        <p:spPr>
          <a:xfrm>
            <a:off x="434340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54" name="Text 52"/>
          <p:cNvSpPr/>
          <p:nvPr/>
        </p:nvSpPr>
        <p:spPr>
          <a:xfrm>
            <a:off x="516636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Note</a:t>
            </a:r>
            <a:endParaRPr lang="en-US" sz="1400" dirty="0"/>
          </a:p>
        </p:txBody>
      </p:sp>
      <p:sp>
        <p:nvSpPr>
          <p:cNvPr id="55" name="Shape 53"/>
          <p:cNvSpPr/>
          <p:nvPr/>
        </p:nvSpPr>
        <p:spPr>
          <a:xfrm>
            <a:off x="7818120" y="2834640"/>
            <a:ext cx="3824935" cy="3337560"/>
          </a:xfrm>
          <a:prstGeom prst="roundRect">
            <a:avLst>
              <a:gd name="adj" fmla="val 2740"/>
            </a:avLst>
          </a:prstGeom>
          <a:solidFill>
            <a:srgbClr val="07152F"/>
          </a:solidFill>
          <a:ln w="9525">
            <a:solidFill>
              <a:srgbClr val="07152F"/>
            </a:solidFill>
            <a:prstDash val="solid"/>
          </a:ln>
        </p:spPr>
      </p:sp>
      <p:sp>
        <p:nvSpPr>
          <p:cNvPr id="56" name="Text 54"/>
          <p:cNvSpPr/>
          <p:nvPr/>
        </p:nvSpPr>
        <p:spPr>
          <a:xfrm>
            <a:off x="8046720" y="3017520"/>
            <a:ext cx="320040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CE QUE VOUS PROUVEZ</a:t>
            </a:r>
            <a:endParaRPr lang="en-US" sz="1400" dirty="0"/>
          </a:p>
        </p:txBody>
      </p:sp>
      <p:sp>
        <p:nvSpPr>
          <p:cNvPr id="57" name="Shape 55"/>
          <p:cNvSpPr/>
          <p:nvPr/>
        </p:nvSpPr>
        <p:spPr>
          <a:xfrm>
            <a:off x="8046720" y="3520440"/>
            <a:ext cx="329184" cy="329184"/>
          </a:xfrm>
          <a:prstGeom prst="ellipse">
            <a:avLst/>
          </a:prstGeom>
          <a:solidFill>
            <a:srgbClr val="FF9A3C"/>
          </a:solidFill>
          <a:ln w="12700">
            <a:solidFill>
              <a:srgbClr val="FF9A3C"/>
            </a:solidFill>
            <a:prstDash val="solid"/>
          </a:ln>
        </p:spPr>
      </p:sp>
      <p:sp>
        <p:nvSpPr>
          <p:cNvPr id="58" name="Text 56"/>
          <p:cNvSpPr/>
          <p:nvPr/>
        </p:nvSpPr>
        <p:spPr>
          <a:xfrm>
            <a:off x="8046720" y="352044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59" name="Text 57"/>
          <p:cNvSpPr/>
          <p:nvPr/>
        </p:nvSpPr>
        <p:spPr>
          <a:xfrm>
            <a:off x="8503920" y="347472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outputs/rejets.csv existe</a:t>
            </a:r>
            <a:endParaRPr lang="en-US" sz="1600" dirty="0"/>
          </a:p>
        </p:txBody>
      </p:sp>
      <p:sp>
        <p:nvSpPr>
          <p:cNvPr id="60" name="Shape 58"/>
          <p:cNvSpPr/>
          <p:nvPr/>
        </p:nvSpPr>
        <p:spPr>
          <a:xfrm>
            <a:off x="8046720" y="4389120"/>
            <a:ext cx="329184" cy="329184"/>
          </a:xfrm>
          <a:prstGeom prst="ellipse">
            <a:avLst/>
          </a:prstGeom>
          <a:solidFill>
            <a:srgbClr val="FF9A3C"/>
          </a:solidFill>
          <a:ln w="12700">
            <a:solidFill>
              <a:srgbClr val="FF9A3C"/>
            </a:solidFill>
            <a:prstDash val="solid"/>
          </a:ln>
        </p:spPr>
      </p:sp>
      <p:sp>
        <p:nvSpPr>
          <p:cNvPr id="61" name="Text 59"/>
          <p:cNvSpPr/>
          <p:nvPr/>
        </p:nvSpPr>
        <p:spPr>
          <a:xfrm>
            <a:off x="8046720" y="438912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62" name="Text 60"/>
          <p:cNvSpPr/>
          <p:nvPr/>
        </p:nvSpPr>
        <p:spPr>
          <a:xfrm>
            <a:off x="8503920" y="434340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Gardées / rejetées = référence</a:t>
            </a:r>
            <a:endParaRPr lang="en-US" sz="1600" dirty="0"/>
          </a:p>
        </p:txBody>
      </p:sp>
      <p:sp>
        <p:nvSpPr>
          <p:cNvPr id="63" name="Shape 61"/>
          <p:cNvSpPr/>
          <p:nvPr/>
        </p:nvSpPr>
        <p:spPr>
          <a:xfrm>
            <a:off x="8046720" y="5257800"/>
            <a:ext cx="329184" cy="329184"/>
          </a:xfrm>
          <a:prstGeom prst="ellipse">
            <a:avLst/>
          </a:prstGeom>
          <a:solidFill>
            <a:srgbClr val="FF9A3C"/>
          </a:solidFill>
          <a:ln w="12700">
            <a:solidFill>
              <a:srgbClr val="FF9A3C"/>
            </a:solidFill>
            <a:prstDash val="solid"/>
          </a:ln>
        </p:spPr>
      </p:sp>
      <p:sp>
        <p:nvSpPr>
          <p:cNvPr id="64" name="Text 62"/>
          <p:cNvSpPr/>
          <p:nvPr/>
        </p:nvSpPr>
        <p:spPr>
          <a:xfrm>
            <a:off x="8046720" y="525780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65" name="Text 63"/>
          <p:cNvSpPr/>
          <p:nvPr/>
        </p:nvSpPr>
        <p:spPr>
          <a:xfrm>
            <a:off x="8503920" y="521208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PR de A relue, corrigée, fusionnée</a:t>
            </a:r>
            <a:endParaRPr lang="en-US" sz="16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S3 · 240 MIN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Séance 3 · Les retours, puis l'étoile</a:t>
            </a:r>
            <a:endParaRPr lang="en-US" sz="3000" dirty="0"/>
          </a:p>
        </p:txBody>
      </p:sp>
      <p:sp>
        <p:nvSpPr>
          <p:cNvPr id="6" name="Shape 4"/>
          <p:cNvSpPr/>
          <p:nvPr/>
        </p:nvSpPr>
        <p:spPr>
          <a:xfrm>
            <a:off x="548640" y="1691640"/>
            <a:ext cx="462267" cy="502920"/>
          </a:xfrm>
          <a:prstGeom prst="rect">
            <a:avLst/>
          </a:prstGeom>
          <a:solidFill>
            <a:srgbClr val="2B3180"/>
          </a:solidFill>
          <a:ln w="19050">
            <a:solidFill>
              <a:srgbClr val="FFFFFF"/>
            </a:solidFill>
            <a:prstDash val="solid"/>
          </a:ln>
        </p:spPr>
      </p:sp>
      <p:sp>
        <p:nvSpPr>
          <p:cNvPr id="7" name="Text 5"/>
          <p:cNvSpPr/>
          <p:nvPr/>
        </p:nvSpPr>
        <p:spPr>
          <a:xfrm>
            <a:off x="548640" y="1691640"/>
            <a:ext cx="462267"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8" name="Shape 6"/>
          <p:cNvSpPr/>
          <p:nvPr/>
        </p:nvSpPr>
        <p:spPr>
          <a:xfrm>
            <a:off x="1010907" y="1691640"/>
            <a:ext cx="1802842" cy="502920"/>
          </a:xfrm>
          <a:prstGeom prst="rect">
            <a:avLst/>
          </a:prstGeom>
          <a:solidFill>
            <a:srgbClr val="7A80C2"/>
          </a:solidFill>
          <a:ln w="19050">
            <a:solidFill>
              <a:srgbClr val="FFFFFF"/>
            </a:solidFill>
            <a:prstDash val="solid"/>
          </a:ln>
        </p:spPr>
      </p:sp>
      <p:sp>
        <p:nvSpPr>
          <p:cNvPr id="9" name="Text 7"/>
          <p:cNvSpPr/>
          <p:nvPr/>
        </p:nvSpPr>
        <p:spPr>
          <a:xfrm>
            <a:off x="1010907" y="1691640"/>
            <a:ext cx="1802842"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39</a:t>
            </a:r>
            <a:endParaRPr lang="en-US" sz="1400" dirty="0"/>
          </a:p>
        </p:txBody>
      </p:sp>
      <p:sp>
        <p:nvSpPr>
          <p:cNvPr id="10" name="Shape 8"/>
          <p:cNvSpPr/>
          <p:nvPr/>
        </p:nvSpPr>
        <p:spPr>
          <a:xfrm>
            <a:off x="2813750" y="1691640"/>
            <a:ext cx="1433029" cy="502920"/>
          </a:xfrm>
          <a:prstGeom prst="rect">
            <a:avLst/>
          </a:prstGeom>
          <a:solidFill>
            <a:srgbClr val="7A80C2"/>
          </a:solidFill>
          <a:ln w="19050">
            <a:solidFill>
              <a:srgbClr val="FFFFFF"/>
            </a:solidFill>
            <a:prstDash val="solid"/>
          </a:ln>
        </p:spPr>
      </p:sp>
      <p:sp>
        <p:nvSpPr>
          <p:cNvPr id="11" name="Text 9"/>
          <p:cNvSpPr/>
          <p:nvPr/>
        </p:nvSpPr>
        <p:spPr>
          <a:xfrm>
            <a:off x="2813750" y="1691640"/>
            <a:ext cx="1433029"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31</a:t>
            </a:r>
            <a:endParaRPr lang="en-US" sz="1400" dirty="0"/>
          </a:p>
        </p:txBody>
      </p:sp>
      <p:sp>
        <p:nvSpPr>
          <p:cNvPr id="12" name="Shape 10"/>
          <p:cNvSpPr/>
          <p:nvPr/>
        </p:nvSpPr>
        <p:spPr>
          <a:xfrm>
            <a:off x="4246778" y="1691640"/>
            <a:ext cx="462267" cy="502920"/>
          </a:xfrm>
          <a:prstGeom prst="rect">
            <a:avLst/>
          </a:prstGeom>
          <a:solidFill>
            <a:srgbClr val="C9CDD8"/>
          </a:solidFill>
          <a:ln w="19050">
            <a:solidFill>
              <a:srgbClr val="FFFFFF"/>
            </a:solidFill>
            <a:prstDash val="solid"/>
          </a:ln>
        </p:spPr>
      </p:sp>
      <p:sp>
        <p:nvSpPr>
          <p:cNvPr id="13" name="Text 11"/>
          <p:cNvSpPr/>
          <p:nvPr/>
        </p:nvSpPr>
        <p:spPr>
          <a:xfrm>
            <a:off x="4246778"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4" name="Shape 12"/>
          <p:cNvSpPr/>
          <p:nvPr/>
        </p:nvSpPr>
        <p:spPr>
          <a:xfrm>
            <a:off x="4709046" y="1691640"/>
            <a:ext cx="1155668" cy="502920"/>
          </a:xfrm>
          <a:prstGeom prst="rect">
            <a:avLst/>
          </a:prstGeom>
          <a:solidFill>
            <a:srgbClr val="7A80C2"/>
          </a:solidFill>
          <a:ln w="19050">
            <a:solidFill>
              <a:srgbClr val="FFFFFF"/>
            </a:solidFill>
            <a:prstDash val="solid"/>
          </a:ln>
        </p:spPr>
      </p:sp>
      <p:sp>
        <p:nvSpPr>
          <p:cNvPr id="15" name="Text 13"/>
          <p:cNvSpPr/>
          <p:nvPr/>
        </p:nvSpPr>
        <p:spPr>
          <a:xfrm>
            <a:off x="4709046" y="1691640"/>
            <a:ext cx="1155668"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16" name="Shape 14"/>
          <p:cNvSpPr/>
          <p:nvPr/>
        </p:nvSpPr>
        <p:spPr>
          <a:xfrm>
            <a:off x="5864714" y="1691640"/>
            <a:ext cx="1895296" cy="502920"/>
          </a:xfrm>
          <a:prstGeom prst="rect">
            <a:avLst/>
          </a:prstGeom>
          <a:solidFill>
            <a:srgbClr val="7A80C2"/>
          </a:solidFill>
          <a:ln w="19050">
            <a:solidFill>
              <a:srgbClr val="FFFFFF"/>
            </a:solidFill>
            <a:prstDash val="solid"/>
          </a:ln>
        </p:spPr>
      </p:sp>
      <p:sp>
        <p:nvSpPr>
          <p:cNvPr id="17" name="Text 15"/>
          <p:cNvSpPr/>
          <p:nvPr/>
        </p:nvSpPr>
        <p:spPr>
          <a:xfrm>
            <a:off x="5864714" y="1691640"/>
            <a:ext cx="189529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41</a:t>
            </a:r>
            <a:endParaRPr lang="en-US" sz="1400" dirty="0"/>
          </a:p>
        </p:txBody>
      </p:sp>
      <p:sp>
        <p:nvSpPr>
          <p:cNvPr id="18" name="Shape 16"/>
          <p:cNvSpPr/>
          <p:nvPr/>
        </p:nvSpPr>
        <p:spPr>
          <a:xfrm>
            <a:off x="7760010" y="1691640"/>
            <a:ext cx="924535" cy="502920"/>
          </a:xfrm>
          <a:prstGeom prst="rect">
            <a:avLst/>
          </a:prstGeom>
          <a:solidFill>
            <a:srgbClr val="FF9A3C"/>
          </a:solidFill>
          <a:ln w="19050">
            <a:solidFill>
              <a:srgbClr val="FFFFFF"/>
            </a:solidFill>
            <a:prstDash val="solid"/>
          </a:ln>
        </p:spPr>
      </p:sp>
      <p:sp>
        <p:nvSpPr>
          <p:cNvPr id="19" name="Text 17"/>
          <p:cNvSpPr/>
          <p:nvPr/>
        </p:nvSpPr>
        <p:spPr>
          <a:xfrm>
            <a:off x="7760010" y="1691640"/>
            <a:ext cx="924535"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20</a:t>
            </a:r>
            <a:endParaRPr lang="en-US" sz="1400" dirty="0"/>
          </a:p>
        </p:txBody>
      </p:sp>
      <p:sp>
        <p:nvSpPr>
          <p:cNvPr id="20" name="Shape 18"/>
          <p:cNvSpPr/>
          <p:nvPr/>
        </p:nvSpPr>
        <p:spPr>
          <a:xfrm>
            <a:off x="8684544" y="1691640"/>
            <a:ext cx="462267" cy="502920"/>
          </a:xfrm>
          <a:prstGeom prst="rect">
            <a:avLst/>
          </a:prstGeom>
          <a:solidFill>
            <a:srgbClr val="C9CDD8"/>
          </a:solidFill>
          <a:ln w="19050">
            <a:solidFill>
              <a:srgbClr val="FFFFFF"/>
            </a:solidFill>
            <a:prstDash val="solid"/>
          </a:ln>
        </p:spPr>
      </p:sp>
      <p:sp>
        <p:nvSpPr>
          <p:cNvPr id="21" name="Text 19"/>
          <p:cNvSpPr/>
          <p:nvPr/>
        </p:nvSpPr>
        <p:spPr>
          <a:xfrm>
            <a:off x="8684544"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22" name="Shape 20"/>
          <p:cNvSpPr/>
          <p:nvPr/>
        </p:nvSpPr>
        <p:spPr>
          <a:xfrm>
            <a:off x="9146812" y="1691640"/>
            <a:ext cx="1802842" cy="502920"/>
          </a:xfrm>
          <a:prstGeom prst="rect">
            <a:avLst/>
          </a:prstGeom>
          <a:solidFill>
            <a:srgbClr val="7A80C2"/>
          </a:solidFill>
          <a:ln w="19050">
            <a:solidFill>
              <a:srgbClr val="FFFFFF"/>
            </a:solidFill>
            <a:prstDash val="solid"/>
          </a:ln>
        </p:spPr>
      </p:sp>
      <p:sp>
        <p:nvSpPr>
          <p:cNvPr id="23" name="Text 21"/>
          <p:cNvSpPr/>
          <p:nvPr/>
        </p:nvSpPr>
        <p:spPr>
          <a:xfrm>
            <a:off x="9146812" y="1691640"/>
            <a:ext cx="1802842"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39</a:t>
            </a:r>
            <a:endParaRPr lang="en-US" sz="1400" dirty="0"/>
          </a:p>
        </p:txBody>
      </p:sp>
      <p:sp>
        <p:nvSpPr>
          <p:cNvPr id="24" name="Shape 22"/>
          <p:cNvSpPr/>
          <p:nvPr/>
        </p:nvSpPr>
        <p:spPr>
          <a:xfrm>
            <a:off x="10949654" y="1691640"/>
            <a:ext cx="693401" cy="502920"/>
          </a:xfrm>
          <a:prstGeom prst="rect">
            <a:avLst/>
          </a:prstGeom>
          <a:solidFill>
            <a:srgbClr val="7A80C2"/>
          </a:solidFill>
          <a:ln w="19050">
            <a:solidFill>
              <a:srgbClr val="FFFFFF"/>
            </a:solidFill>
            <a:prstDash val="solid"/>
          </a:ln>
        </p:spPr>
      </p:sp>
      <p:sp>
        <p:nvSpPr>
          <p:cNvPr id="25" name="Text 23"/>
          <p:cNvSpPr/>
          <p:nvPr/>
        </p:nvSpPr>
        <p:spPr>
          <a:xfrm>
            <a:off x="10949654" y="1691640"/>
            <a:ext cx="693401"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26" name="Shape 24"/>
          <p:cNvSpPr/>
          <p:nvPr/>
        </p:nvSpPr>
        <p:spPr>
          <a:xfrm>
            <a:off x="548640" y="2340864"/>
            <a:ext cx="201168" cy="201168"/>
          </a:xfrm>
          <a:prstGeom prst="rect">
            <a:avLst/>
          </a:prstGeom>
          <a:solidFill>
            <a:srgbClr val="2B3180"/>
          </a:solidFill>
          <a:ln w="12700">
            <a:solidFill>
              <a:srgbClr val="2B3180"/>
            </a:solidFill>
            <a:prstDash val="solid"/>
          </a:ln>
        </p:spPr>
      </p:sp>
      <p:sp>
        <p:nvSpPr>
          <p:cNvPr id="27" name="Text 25"/>
          <p:cNvSpPr/>
          <p:nvPr/>
        </p:nvSpPr>
        <p:spPr>
          <a:xfrm>
            <a:off x="82296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a:t>
            </a:r>
            <a:endParaRPr lang="en-US" sz="1400" dirty="0"/>
          </a:p>
        </p:txBody>
      </p:sp>
      <p:sp>
        <p:nvSpPr>
          <p:cNvPr id="28" name="Shape 26"/>
          <p:cNvSpPr/>
          <p:nvPr/>
        </p:nvSpPr>
        <p:spPr>
          <a:xfrm>
            <a:off x="1965960" y="2340864"/>
            <a:ext cx="201168" cy="201168"/>
          </a:xfrm>
          <a:prstGeom prst="rect">
            <a:avLst/>
          </a:prstGeom>
          <a:solidFill>
            <a:srgbClr val="7A80C2"/>
          </a:solidFill>
          <a:ln w="12700">
            <a:solidFill>
              <a:srgbClr val="7A80C2"/>
            </a:solidFill>
            <a:prstDash val="solid"/>
          </a:ln>
        </p:spPr>
      </p:sp>
      <p:sp>
        <p:nvSpPr>
          <p:cNvPr id="29" name="Text 27"/>
          <p:cNvSpPr/>
          <p:nvPr/>
        </p:nvSpPr>
        <p:spPr>
          <a:xfrm>
            <a:off x="224028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 + pratique</a:t>
            </a:r>
            <a:endParaRPr lang="en-US" sz="1400" dirty="0"/>
          </a:p>
        </p:txBody>
      </p:sp>
      <p:sp>
        <p:nvSpPr>
          <p:cNvPr id="30" name="Shape 28"/>
          <p:cNvSpPr/>
          <p:nvPr/>
        </p:nvSpPr>
        <p:spPr>
          <a:xfrm>
            <a:off x="4297680" y="2340864"/>
            <a:ext cx="201168" cy="201168"/>
          </a:xfrm>
          <a:prstGeom prst="rect">
            <a:avLst/>
          </a:prstGeom>
          <a:solidFill>
            <a:srgbClr val="FF9A3C"/>
          </a:solidFill>
          <a:ln w="12700">
            <a:solidFill>
              <a:srgbClr val="FF9A3C"/>
            </a:solidFill>
            <a:prstDash val="solid"/>
          </a:ln>
        </p:spPr>
      </p:sp>
      <p:sp>
        <p:nvSpPr>
          <p:cNvPr id="31" name="Text 29"/>
          <p:cNvSpPr/>
          <p:nvPr/>
        </p:nvSpPr>
        <p:spPr>
          <a:xfrm>
            <a:off x="457200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pratique</a:t>
            </a:r>
            <a:endParaRPr lang="en-US" sz="1400" dirty="0"/>
          </a:p>
        </p:txBody>
      </p:sp>
      <p:sp>
        <p:nvSpPr>
          <p:cNvPr id="32" name="Shape 30"/>
          <p:cNvSpPr/>
          <p:nvPr/>
        </p:nvSpPr>
        <p:spPr>
          <a:xfrm>
            <a:off x="5532120" y="2340864"/>
            <a:ext cx="201168" cy="201168"/>
          </a:xfrm>
          <a:prstGeom prst="rect">
            <a:avLst/>
          </a:prstGeom>
          <a:solidFill>
            <a:srgbClr val="C9CDD8"/>
          </a:solidFill>
          <a:ln w="12700">
            <a:solidFill>
              <a:srgbClr val="C9CDD8"/>
            </a:solidFill>
            <a:prstDash val="solid"/>
          </a:ln>
        </p:spPr>
      </p:sp>
      <p:sp>
        <p:nvSpPr>
          <p:cNvPr id="33" name="Text 31"/>
          <p:cNvSpPr/>
          <p:nvPr/>
        </p:nvSpPr>
        <p:spPr>
          <a:xfrm>
            <a:off x="580644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pause</a:t>
            </a:r>
            <a:endParaRPr lang="en-US" sz="1400" dirty="0"/>
          </a:p>
        </p:txBody>
      </p:sp>
      <p:sp>
        <p:nvSpPr>
          <p:cNvPr id="34" name="Text 32"/>
          <p:cNvSpPr/>
          <p:nvPr/>
        </p:nvSpPr>
        <p:spPr>
          <a:xfrm>
            <a:off x="6492240" y="2286000"/>
            <a:ext cx="5150815" cy="310896"/>
          </a:xfrm>
          <a:prstGeom prst="rect">
            <a:avLst/>
          </a:prstGeom>
          <a:noFill/>
          <a:ln/>
        </p:spPr>
        <p:txBody>
          <a:bodyPr wrap="square" lIns="0" tIns="0" rIns="0" bIns="0" rtlCol="0" anchor="ctr"/>
          <a:lstStyle/>
          <a:p>
            <a:pPr algn="r" indent="0" marL="0">
              <a:buNone/>
            </a:pPr>
            <a:r>
              <a:rPr lang="en-US" sz="1400" b="1" dirty="0">
                <a:solidFill>
                  <a:srgbClr val="2B3180"/>
                </a:solidFill>
                <a:latin typeface="Arial" pitchFamily="34" charset="0"/>
                <a:ea typeface="Arial" pitchFamily="34" charset="-122"/>
                <a:cs typeface="Arial" pitchFamily="34" charset="-120"/>
              </a:rPr>
              <a:t>66 min d'explications · 154 min de pratique · 2 pauses</a:t>
            </a:r>
            <a:endParaRPr lang="en-US" sz="1400" dirty="0"/>
          </a:p>
        </p:txBody>
      </p:sp>
      <p:sp>
        <p:nvSpPr>
          <p:cNvPr id="35" name="Shape 33"/>
          <p:cNvSpPr/>
          <p:nvPr/>
        </p:nvSpPr>
        <p:spPr>
          <a:xfrm>
            <a:off x="548640" y="2971800"/>
            <a:ext cx="164592" cy="329184"/>
          </a:xfrm>
          <a:prstGeom prst="rect">
            <a:avLst/>
          </a:prstGeom>
          <a:solidFill>
            <a:srgbClr val="2B3180"/>
          </a:solidFill>
          <a:ln w="12700">
            <a:solidFill>
              <a:srgbClr val="2B3180"/>
            </a:solidFill>
            <a:prstDash val="solid"/>
          </a:ln>
        </p:spPr>
      </p:sp>
      <p:sp>
        <p:nvSpPr>
          <p:cNvPr id="36" name="Text 34"/>
          <p:cNvSpPr/>
          <p:nvPr/>
        </p:nvSpPr>
        <p:spPr>
          <a:xfrm>
            <a:off x="82296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37" name="Text 35"/>
          <p:cNvSpPr/>
          <p:nvPr/>
        </p:nvSpPr>
        <p:spPr>
          <a:xfrm>
            <a:off x="164592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Épisode 4</a:t>
            </a:r>
            <a:endParaRPr lang="en-US" sz="1400" dirty="0"/>
          </a:p>
        </p:txBody>
      </p:sp>
      <p:sp>
        <p:nvSpPr>
          <p:cNvPr id="38" name="Shape 36"/>
          <p:cNvSpPr/>
          <p:nvPr/>
        </p:nvSpPr>
        <p:spPr>
          <a:xfrm>
            <a:off x="548640" y="3483864"/>
            <a:ext cx="164592" cy="329184"/>
          </a:xfrm>
          <a:prstGeom prst="rect">
            <a:avLst/>
          </a:prstGeom>
          <a:solidFill>
            <a:srgbClr val="7A80C2"/>
          </a:solidFill>
          <a:ln w="12700">
            <a:solidFill>
              <a:srgbClr val="7A80C2"/>
            </a:solidFill>
            <a:prstDash val="solid"/>
          </a:ln>
        </p:spPr>
      </p:sp>
      <p:sp>
        <p:nvSpPr>
          <p:cNvPr id="39" name="Text 37"/>
          <p:cNvSpPr/>
          <p:nvPr/>
        </p:nvSpPr>
        <p:spPr>
          <a:xfrm>
            <a:off x="82296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39 min</a:t>
            </a:r>
            <a:endParaRPr lang="en-US" sz="1400" dirty="0"/>
          </a:p>
        </p:txBody>
      </p:sp>
      <p:sp>
        <p:nvSpPr>
          <p:cNvPr id="40" name="Text 38"/>
          <p:cNvSpPr/>
          <p:nvPr/>
        </p:nvSpPr>
        <p:spPr>
          <a:xfrm>
            <a:off x="164592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SQL paramétré</a:t>
            </a:r>
            <a:endParaRPr lang="en-US" sz="1400" dirty="0"/>
          </a:p>
        </p:txBody>
      </p:sp>
      <p:sp>
        <p:nvSpPr>
          <p:cNvPr id="41" name="Shape 39"/>
          <p:cNvSpPr/>
          <p:nvPr/>
        </p:nvSpPr>
        <p:spPr>
          <a:xfrm>
            <a:off x="548640" y="3995928"/>
            <a:ext cx="164592" cy="329184"/>
          </a:xfrm>
          <a:prstGeom prst="rect">
            <a:avLst/>
          </a:prstGeom>
          <a:solidFill>
            <a:srgbClr val="7A80C2"/>
          </a:solidFill>
          <a:ln w="12700">
            <a:solidFill>
              <a:srgbClr val="7A80C2"/>
            </a:solidFill>
            <a:prstDash val="solid"/>
          </a:ln>
        </p:spPr>
      </p:sp>
      <p:sp>
        <p:nvSpPr>
          <p:cNvPr id="42" name="Text 40"/>
          <p:cNvSpPr/>
          <p:nvPr/>
        </p:nvSpPr>
        <p:spPr>
          <a:xfrm>
            <a:off x="82296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31 min</a:t>
            </a:r>
            <a:endParaRPr lang="en-US" sz="1400" dirty="0"/>
          </a:p>
        </p:txBody>
      </p:sp>
      <p:sp>
        <p:nvSpPr>
          <p:cNvPr id="43" name="Text 41"/>
          <p:cNvSpPr/>
          <p:nvPr/>
        </p:nvSpPr>
        <p:spPr>
          <a:xfrm>
            <a:off x="164592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Grain, étoile, clés</a:t>
            </a:r>
            <a:endParaRPr lang="en-US" sz="1400" dirty="0"/>
          </a:p>
        </p:txBody>
      </p:sp>
      <p:sp>
        <p:nvSpPr>
          <p:cNvPr id="44" name="Shape 42"/>
          <p:cNvSpPr/>
          <p:nvPr/>
        </p:nvSpPr>
        <p:spPr>
          <a:xfrm>
            <a:off x="548640" y="4507992"/>
            <a:ext cx="164592" cy="329184"/>
          </a:xfrm>
          <a:prstGeom prst="rect">
            <a:avLst/>
          </a:prstGeom>
          <a:solidFill>
            <a:srgbClr val="C9CDD8"/>
          </a:solidFill>
          <a:ln w="12700">
            <a:solidFill>
              <a:srgbClr val="C9CDD8"/>
            </a:solidFill>
            <a:prstDash val="solid"/>
          </a:ln>
        </p:spPr>
      </p:sp>
      <p:sp>
        <p:nvSpPr>
          <p:cNvPr id="45" name="Text 43"/>
          <p:cNvSpPr/>
          <p:nvPr/>
        </p:nvSpPr>
        <p:spPr>
          <a:xfrm>
            <a:off x="82296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46" name="Text 44"/>
          <p:cNvSpPr/>
          <p:nvPr/>
        </p:nvSpPr>
        <p:spPr>
          <a:xfrm>
            <a:off x="164592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47" name="Shape 45"/>
          <p:cNvSpPr/>
          <p:nvPr/>
        </p:nvSpPr>
        <p:spPr>
          <a:xfrm>
            <a:off x="548640" y="5020056"/>
            <a:ext cx="164592" cy="329184"/>
          </a:xfrm>
          <a:prstGeom prst="rect">
            <a:avLst/>
          </a:prstGeom>
          <a:solidFill>
            <a:srgbClr val="7A80C2"/>
          </a:solidFill>
          <a:ln w="12700">
            <a:solidFill>
              <a:srgbClr val="7A80C2"/>
            </a:solidFill>
            <a:prstDash val="solid"/>
          </a:ln>
        </p:spPr>
      </p:sp>
      <p:sp>
        <p:nvSpPr>
          <p:cNvPr id="48" name="Text 46"/>
          <p:cNvSpPr/>
          <p:nvPr/>
        </p:nvSpPr>
        <p:spPr>
          <a:xfrm>
            <a:off x="822960" y="4928616"/>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25 min</a:t>
            </a:r>
            <a:endParaRPr lang="en-US" sz="1400" dirty="0"/>
          </a:p>
        </p:txBody>
      </p:sp>
      <p:sp>
        <p:nvSpPr>
          <p:cNvPr id="49" name="Text 47"/>
          <p:cNvSpPr/>
          <p:nvPr/>
        </p:nvSpPr>
        <p:spPr>
          <a:xfrm>
            <a:off x="1645920" y="4928616"/>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Classe Entrepot</a:t>
            </a:r>
            <a:endParaRPr lang="en-US" sz="1400" dirty="0"/>
          </a:p>
        </p:txBody>
      </p:sp>
      <p:sp>
        <p:nvSpPr>
          <p:cNvPr id="50" name="Shape 48"/>
          <p:cNvSpPr/>
          <p:nvPr/>
        </p:nvSpPr>
        <p:spPr>
          <a:xfrm>
            <a:off x="4069080" y="2971800"/>
            <a:ext cx="164592" cy="329184"/>
          </a:xfrm>
          <a:prstGeom prst="rect">
            <a:avLst/>
          </a:prstGeom>
          <a:solidFill>
            <a:srgbClr val="7A80C2"/>
          </a:solidFill>
          <a:ln w="12700">
            <a:solidFill>
              <a:srgbClr val="7A80C2"/>
            </a:solidFill>
            <a:prstDash val="solid"/>
          </a:ln>
        </p:spPr>
      </p:sp>
      <p:sp>
        <p:nvSpPr>
          <p:cNvPr id="51" name="Text 49"/>
          <p:cNvSpPr/>
          <p:nvPr/>
        </p:nvSpPr>
        <p:spPr>
          <a:xfrm>
            <a:off x="434340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41 min</a:t>
            </a:r>
            <a:endParaRPr lang="en-US" sz="1400" dirty="0"/>
          </a:p>
        </p:txBody>
      </p:sp>
      <p:sp>
        <p:nvSpPr>
          <p:cNvPr id="52" name="Text 50"/>
          <p:cNvSpPr/>
          <p:nvPr/>
        </p:nvSpPr>
        <p:spPr>
          <a:xfrm>
            <a:off x="516636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Chargement initial</a:t>
            </a:r>
            <a:endParaRPr lang="en-US" sz="1400" dirty="0"/>
          </a:p>
        </p:txBody>
      </p:sp>
      <p:sp>
        <p:nvSpPr>
          <p:cNvPr id="53" name="Shape 51"/>
          <p:cNvSpPr/>
          <p:nvPr/>
        </p:nvSpPr>
        <p:spPr>
          <a:xfrm>
            <a:off x="4069080" y="3483864"/>
            <a:ext cx="164592" cy="329184"/>
          </a:xfrm>
          <a:prstGeom prst="rect">
            <a:avLst/>
          </a:prstGeom>
          <a:solidFill>
            <a:srgbClr val="FF9A3C"/>
          </a:solidFill>
          <a:ln w="12700">
            <a:solidFill>
              <a:srgbClr val="FF9A3C"/>
            </a:solidFill>
            <a:prstDash val="solid"/>
          </a:ln>
        </p:spPr>
      </p:sp>
      <p:sp>
        <p:nvSpPr>
          <p:cNvPr id="54" name="Text 52"/>
          <p:cNvSpPr/>
          <p:nvPr/>
        </p:nvSpPr>
        <p:spPr>
          <a:xfrm>
            <a:off x="434340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20 min</a:t>
            </a:r>
            <a:endParaRPr lang="en-US" sz="1400" dirty="0"/>
          </a:p>
        </p:txBody>
      </p:sp>
      <p:sp>
        <p:nvSpPr>
          <p:cNvPr id="55" name="Text 53"/>
          <p:cNvSpPr/>
          <p:nvPr/>
        </p:nvSpPr>
        <p:spPr>
          <a:xfrm>
            <a:off x="516636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Totaux</a:t>
            </a:r>
            <a:endParaRPr lang="en-US" sz="1400" dirty="0"/>
          </a:p>
        </p:txBody>
      </p:sp>
      <p:sp>
        <p:nvSpPr>
          <p:cNvPr id="56" name="Shape 54"/>
          <p:cNvSpPr/>
          <p:nvPr/>
        </p:nvSpPr>
        <p:spPr>
          <a:xfrm>
            <a:off x="4069080" y="3995928"/>
            <a:ext cx="164592" cy="329184"/>
          </a:xfrm>
          <a:prstGeom prst="rect">
            <a:avLst/>
          </a:prstGeom>
          <a:solidFill>
            <a:srgbClr val="C9CDD8"/>
          </a:solidFill>
          <a:ln w="12700">
            <a:solidFill>
              <a:srgbClr val="C9CDD8"/>
            </a:solidFill>
            <a:prstDash val="solid"/>
          </a:ln>
        </p:spPr>
      </p:sp>
      <p:sp>
        <p:nvSpPr>
          <p:cNvPr id="57" name="Text 55"/>
          <p:cNvSpPr/>
          <p:nvPr/>
        </p:nvSpPr>
        <p:spPr>
          <a:xfrm>
            <a:off x="434340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58" name="Text 56"/>
          <p:cNvSpPr/>
          <p:nvPr/>
        </p:nvSpPr>
        <p:spPr>
          <a:xfrm>
            <a:off x="516636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59" name="Shape 57"/>
          <p:cNvSpPr/>
          <p:nvPr/>
        </p:nvSpPr>
        <p:spPr>
          <a:xfrm>
            <a:off x="4069080" y="4507992"/>
            <a:ext cx="164592" cy="329184"/>
          </a:xfrm>
          <a:prstGeom prst="rect">
            <a:avLst/>
          </a:prstGeom>
          <a:solidFill>
            <a:srgbClr val="7A80C2"/>
          </a:solidFill>
          <a:ln w="12700">
            <a:solidFill>
              <a:srgbClr val="7A80C2"/>
            </a:solidFill>
            <a:prstDash val="solid"/>
          </a:ln>
        </p:spPr>
      </p:sp>
      <p:sp>
        <p:nvSpPr>
          <p:cNvPr id="60" name="Text 58"/>
          <p:cNvSpPr/>
          <p:nvPr/>
        </p:nvSpPr>
        <p:spPr>
          <a:xfrm>
            <a:off x="434340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39 min</a:t>
            </a:r>
            <a:endParaRPr lang="en-US" sz="1400" dirty="0"/>
          </a:p>
        </p:txBody>
      </p:sp>
      <p:sp>
        <p:nvSpPr>
          <p:cNvPr id="61" name="Text 59"/>
          <p:cNvSpPr/>
          <p:nvPr/>
        </p:nvSpPr>
        <p:spPr>
          <a:xfrm>
            <a:off x="516636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PR : B auteur</a:t>
            </a:r>
            <a:endParaRPr lang="en-US" sz="1400" dirty="0"/>
          </a:p>
        </p:txBody>
      </p:sp>
      <p:sp>
        <p:nvSpPr>
          <p:cNvPr id="62" name="Shape 60"/>
          <p:cNvSpPr/>
          <p:nvPr/>
        </p:nvSpPr>
        <p:spPr>
          <a:xfrm>
            <a:off x="4069080" y="5020056"/>
            <a:ext cx="164592" cy="329184"/>
          </a:xfrm>
          <a:prstGeom prst="rect">
            <a:avLst/>
          </a:prstGeom>
          <a:solidFill>
            <a:srgbClr val="7A80C2"/>
          </a:solidFill>
          <a:ln w="12700">
            <a:solidFill>
              <a:srgbClr val="7A80C2"/>
            </a:solidFill>
            <a:prstDash val="solid"/>
          </a:ln>
        </p:spPr>
      </p:sp>
      <p:sp>
        <p:nvSpPr>
          <p:cNvPr id="63" name="Text 61"/>
          <p:cNvSpPr/>
          <p:nvPr/>
        </p:nvSpPr>
        <p:spPr>
          <a:xfrm>
            <a:off x="4343400" y="4928616"/>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15 min</a:t>
            </a:r>
            <a:endParaRPr lang="en-US" sz="1400" dirty="0"/>
          </a:p>
        </p:txBody>
      </p:sp>
      <p:sp>
        <p:nvSpPr>
          <p:cNvPr id="64" name="Text 62"/>
          <p:cNvSpPr/>
          <p:nvPr/>
        </p:nvSpPr>
        <p:spPr>
          <a:xfrm>
            <a:off x="5166360" y="4928616"/>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Choix mission</a:t>
            </a:r>
            <a:endParaRPr lang="en-US" sz="1400" dirty="0"/>
          </a:p>
        </p:txBody>
      </p:sp>
      <p:sp>
        <p:nvSpPr>
          <p:cNvPr id="65" name="Shape 63"/>
          <p:cNvSpPr/>
          <p:nvPr/>
        </p:nvSpPr>
        <p:spPr>
          <a:xfrm>
            <a:off x="7818120" y="2834640"/>
            <a:ext cx="3824935" cy="3337560"/>
          </a:xfrm>
          <a:prstGeom prst="roundRect">
            <a:avLst>
              <a:gd name="adj" fmla="val 2740"/>
            </a:avLst>
          </a:prstGeom>
          <a:solidFill>
            <a:srgbClr val="07152F"/>
          </a:solidFill>
          <a:ln w="9525">
            <a:solidFill>
              <a:srgbClr val="07152F"/>
            </a:solidFill>
            <a:prstDash val="solid"/>
          </a:ln>
        </p:spPr>
      </p:sp>
      <p:sp>
        <p:nvSpPr>
          <p:cNvPr id="66" name="Text 64"/>
          <p:cNvSpPr/>
          <p:nvPr/>
        </p:nvSpPr>
        <p:spPr>
          <a:xfrm>
            <a:off x="8046720" y="3017520"/>
            <a:ext cx="320040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CE QUE VOUS PROUVEZ</a:t>
            </a:r>
            <a:endParaRPr lang="en-US" sz="1400" dirty="0"/>
          </a:p>
        </p:txBody>
      </p:sp>
      <p:sp>
        <p:nvSpPr>
          <p:cNvPr id="67" name="Shape 65"/>
          <p:cNvSpPr/>
          <p:nvPr/>
        </p:nvSpPr>
        <p:spPr>
          <a:xfrm>
            <a:off x="8046720" y="3520440"/>
            <a:ext cx="329184" cy="329184"/>
          </a:xfrm>
          <a:prstGeom prst="ellipse">
            <a:avLst/>
          </a:prstGeom>
          <a:solidFill>
            <a:srgbClr val="FF9A3C"/>
          </a:solidFill>
          <a:ln w="12700">
            <a:solidFill>
              <a:srgbClr val="FF9A3C"/>
            </a:solidFill>
            <a:prstDash val="solid"/>
          </a:ln>
        </p:spPr>
      </p:sp>
      <p:sp>
        <p:nvSpPr>
          <p:cNvPr id="68" name="Text 66"/>
          <p:cNvSpPr/>
          <p:nvPr/>
        </p:nvSpPr>
        <p:spPr>
          <a:xfrm>
            <a:off x="8046720" y="352044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69" name="Text 67"/>
          <p:cNvSpPr/>
          <p:nvPr/>
        </p:nvSpPr>
        <p:spPr>
          <a:xfrm>
            <a:off x="8503920" y="347472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--etape initial : 0 ÉCHEC</a:t>
            </a:r>
            <a:endParaRPr lang="en-US" sz="1600" dirty="0"/>
          </a:p>
        </p:txBody>
      </p:sp>
      <p:sp>
        <p:nvSpPr>
          <p:cNvPr id="70" name="Shape 68"/>
          <p:cNvSpPr/>
          <p:nvPr/>
        </p:nvSpPr>
        <p:spPr>
          <a:xfrm>
            <a:off x="8046720" y="4389120"/>
            <a:ext cx="329184" cy="329184"/>
          </a:xfrm>
          <a:prstGeom prst="ellipse">
            <a:avLst/>
          </a:prstGeom>
          <a:solidFill>
            <a:srgbClr val="FF9A3C"/>
          </a:solidFill>
          <a:ln w="12700">
            <a:solidFill>
              <a:srgbClr val="FF9A3C"/>
            </a:solidFill>
            <a:prstDash val="solid"/>
          </a:ln>
        </p:spPr>
      </p:sp>
      <p:sp>
        <p:nvSpPr>
          <p:cNvPr id="71" name="Text 69"/>
          <p:cNvSpPr/>
          <p:nvPr/>
        </p:nvSpPr>
        <p:spPr>
          <a:xfrm>
            <a:off x="8046720" y="438912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72" name="Text 70"/>
          <p:cNvSpPr/>
          <p:nvPr/>
        </p:nvSpPr>
        <p:spPr>
          <a:xfrm>
            <a:off x="8503920" y="434340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Entrepôt : 5 tables reliées</a:t>
            </a:r>
            <a:endParaRPr lang="en-US" sz="1600" dirty="0"/>
          </a:p>
        </p:txBody>
      </p:sp>
      <p:sp>
        <p:nvSpPr>
          <p:cNvPr id="73" name="Shape 71"/>
          <p:cNvSpPr/>
          <p:nvPr/>
        </p:nvSpPr>
        <p:spPr>
          <a:xfrm>
            <a:off x="8046720" y="5257800"/>
            <a:ext cx="329184" cy="329184"/>
          </a:xfrm>
          <a:prstGeom prst="ellipse">
            <a:avLst/>
          </a:prstGeom>
          <a:solidFill>
            <a:srgbClr val="FF9A3C"/>
          </a:solidFill>
          <a:ln w="12700">
            <a:solidFill>
              <a:srgbClr val="FF9A3C"/>
            </a:solidFill>
            <a:prstDash val="solid"/>
          </a:ln>
        </p:spPr>
      </p:sp>
      <p:sp>
        <p:nvSpPr>
          <p:cNvPr id="74" name="Text 72"/>
          <p:cNvSpPr/>
          <p:nvPr/>
        </p:nvSpPr>
        <p:spPr>
          <a:xfrm>
            <a:off x="8046720" y="525780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75" name="Text 73"/>
          <p:cNvSpPr/>
          <p:nvPr/>
        </p:nvSpPr>
        <p:spPr>
          <a:xfrm>
            <a:off x="8503920" y="521208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Mission du catalogue choisie</a:t>
            </a:r>
            <a:endParaRPr lang="en-US" sz="16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S4 · 240 MIN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Séance 4 · Le besoin change, puis votre mission</a:t>
            </a:r>
            <a:endParaRPr lang="en-US" sz="3000" dirty="0"/>
          </a:p>
        </p:txBody>
      </p:sp>
      <p:sp>
        <p:nvSpPr>
          <p:cNvPr id="6" name="Shape 4"/>
          <p:cNvSpPr/>
          <p:nvPr/>
        </p:nvSpPr>
        <p:spPr>
          <a:xfrm>
            <a:off x="548640" y="1691640"/>
            <a:ext cx="2773604" cy="502920"/>
          </a:xfrm>
          <a:prstGeom prst="rect">
            <a:avLst/>
          </a:prstGeom>
          <a:solidFill>
            <a:srgbClr val="7A80C2"/>
          </a:solidFill>
          <a:ln w="19050">
            <a:solidFill>
              <a:srgbClr val="FFFFFF"/>
            </a:solidFill>
            <a:prstDash val="solid"/>
          </a:ln>
        </p:spPr>
      </p:sp>
      <p:sp>
        <p:nvSpPr>
          <p:cNvPr id="7" name="Text 5"/>
          <p:cNvSpPr/>
          <p:nvPr/>
        </p:nvSpPr>
        <p:spPr>
          <a:xfrm>
            <a:off x="548640" y="1691640"/>
            <a:ext cx="27736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60</a:t>
            </a:r>
            <a:endParaRPr lang="en-US" sz="1400" dirty="0"/>
          </a:p>
        </p:txBody>
      </p:sp>
      <p:sp>
        <p:nvSpPr>
          <p:cNvPr id="8" name="Shape 6"/>
          <p:cNvSpPr/>
          <p:nvPr/>
        </p:nvSpPr>
        <p:spPr>
          <a:xfrm>
            <a:off x="3322244" y="1691640"/>
            <a:ext cx="2080203" cy="502920"/>
          </a:xfrm>
          <a:prstGeom prst="rect">
            <a:avLst/>
          </a:prstGeom>
          <a:solidFill>
            <a:srgbClr val="7A80C2"/>
          </a:solidFill>
          <a:ln w="19050">
            <a:solidFill>
              <a:srgbClr val="FFFFFF"/>
            </a:solidFill>
            <a:prstDash val="solid"/>
          </a:ln>
        </p:spPr>
      </p:sp>
      <p:sp>
        <p:nvSpPr>
          <p:cNvPr id="9" name="Text 7"/>
          <p:cNvSpPr/>
          <p:nvPr/>
        </p:nvSpPr>
        <p:spPr>
          <a:xfrm>
            <a:off x="3322244" y="1691640"/>
            <a:ext cx="2080203"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45</a:t>
            </a:r>
            <a:endParaRPr lang="en-US" sz="1400" dirty="0"/>
          </a:p>
        </p:txBody>
      </p:sp>
      <p:sp>
        <p:nvSpPr>
          <p:cNvPr id="10" name="Shape 8"/>
          <p:cNvSpPr/>
          <p:nvPr/>
        </p:nvSpPr>
        <p:spPr>
          <a:xfrm>
            <a:off x="5402447" y="1691640"/>
            <a:ext cx="462267" cy="502920"/>
          </a:xfrm>
          <a:prstGeom prst="rect">
            <a:avLst/>
          </a:prstGeom>
          <a:solidFill>
            <a:srgbClr val="C9CDD8"/>
          </a:solidFill>
          <a:ln w="19050">
            <a:solidFill>
              <a:srgbClr val="FFFFFF"/>
            </a:solidFill>
            <a:prstDash val="solid"/>
          </a:ln>
        </p:spPr>
      </p:sp>
      <p:sp>
        <p:nvSpPr>
          <p:cNvPr id="11" name="Text 9"/>
          <p:cNvSpPr/>
          <p:nvPr/>
        </p:nvSpPr>
        <p:spPr>
          <a:xfrm>
            <a:off x="5402447"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2" name="Shape 10"/>
          <p:cNvSpPr/>
          <p:nvPr/>
        </p:nvSpPr>
        <p:spPr>
          <a:xfrm>
            <a:off x="5864714" y="1691640"/>
            <a:ext cx="1155668" cy="502920"/>
          </a:xfrm>
          <a:prstGeom prst="rect">
            <a:avLst/>
          </a:prstGeom>
          <a:solidFill>
            <a:srgbClr val="7A80C2"/>
          </a:solidFill>
          <a:ln w="19050">
            <a:solidFill>
              <a:srgbClr val="FFFFFF"/>
            </a:solidFill>
            <a:prstDash val="solid"/>
          </a:ln>
        </p:spPr>
      </p:sp>
      <p:sp>
        <p:nvSpPr>
          <p:cNvPr id="13" name="Text 11"/>
          <p:cNvSpPr/>
          <p:nvPr/>
        </p:nvSpPr>
        <p:spPr>
          <a:xfrm>
            <a:off x="5864714" y="1691640"/>
            <a:ext cx="1155668"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25</a:t>
            </a:r>
            <a:endParaRPr lang="en-US" sz="1400" dirty="0"/>
          </a:p>
        </p:txBody>
      </p:sp>
      <p:sp>
        <p:nvSpPr>
          <p:cNvPr id="14" name="Shape 12"/>
          <p:cNvSpPr/>
          <p:nvPr/>
        </p:nvSpPr>
        <p:spPr>
          <a:xfrm>
            <a:off x="7020382" y="1691640"/>
            <a:ext cx="1849069" cy="502920"/>
          </a:xfrm>
          <a:prstGeom prst="rect">
            <a:avLst/>
          </a:prstGeom>
          <a:solidFill>
            <a:srgbClr val="7A80C2"/>
          </a:solidFill>
          <a:ln w="19050">
            <a:solidFill>
              <a:srgbClr val="FFFFFF"/>
            </a:solidFill>
            <a:prstDash val="solid"/>
          </a:ln>
        </p:spPr>
      </p:sp>
      <p:sp>
        <p:nvSpPr>
          <p:cNvPr id="15" name="Text 13"/>
          <p:cNvSpPr/>
          <p:nvPr/>
        </p:nvSpPr>
        <p:spPr>
          <a:xfrm>
            <a:off x="7020382" y="1691640"/>
            <a:ext cx="1849069"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40</a:t>
            </a:r>
            <a:endParaRPr lang="en-US" sz="1400" dirty="0"/>
          </a:p>
        </p:txBody>
      </p:sp>
      <p:sp>
        <p:nvSpPr>
          <p:cNvPr id="16" name="Shape 14"/>
          <p:cNvSpPr/>
          <p:nvPr/>
        </p:nvSpPr>
        <p:spPr>
          <a:xfrm>
            <a:off x="8869451" y="1691640"/>
            <a:ext cx="462267" cy="502920"/>
          </a:xfrm>
          <a:prstGeom prst="rect">
            <a:avLst/>
          </a:prstGeom>
          <a:solidFill>
            <a:srgbClr val="C9CDD8"/>
          </a:solidFill>
          <a:ln w="19050">
            <a:solidFill>
              <a:srgbClr val="FFFFFF"/>
            </a:solidFill>
            <a:prstDash val="solid"/>
          </a:ln>
        </p:spPr>
      </p:sp>
      <p:sp>
        <p:nvSpPr>
          <p:cNvPr id="17" name="Text 15"/>
          <p:cNvSpPr/>
          <p:nvPr/>
        </p:nvSpPr>
        <p:spPr>
          <a:xfrm>
            <a:off x="8869451"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8" name="Shape 16"/>
          <p:cNvSpPr/>
          <p:nvPr/>
        </p:nvSpPr>
        <p:spPr>
          <a:xfrm>
            <a:off x="9331719" y="1691640"/>
            <a:ext cx="2311337" cy="502920"/>
          </a:xfrm>
          <a:prstGeom prst="rect">
            <a:avLst/>
          </a:prstGeom>
          <a:solidFill>
            <a:srgbClr val="7A80C2"/>
          </a:solidFill>
          <a:ln w="19050">
            <a:solidFill>
              <a:srgbClr val="FFFFFF"/>
            </a:solidFill>
            <a:prstDash val="solid"/>
          </a:ln>
        </p:spPr>
      </p:sp>
      <p:sp>
        <p:nvSpPr>
          <p:cNvPr id="19" name="Text 17"/>
          <p:cNvSpPr/>
          <p:nvPr/>
        </p:nvSpPr>
        <p:spPr>
          <a:xfrm>
            <a:off x="9331719" y="1691640"/>
            <a:ext cx="2311337"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50</a:t>
            </a:r>
            <a:endParaRPr lang="en-US" sz="1400" dirty="0"/>
          </a:p>
        </p:txBody>
      </p:sp>
      <p:sp>
        <p:nvSpPr>
          <p:cNvPr id="20" name="Shape 18"/>
          <p:cNvSpPr/>
          <p:nvPr/>
        </p:nvSpPr>
        <p:spPr>
          <a:xfrm>
            <a:off x="548640" y="2340864"/>
            <a:ext cx="201168" cy="201168"/>
          </a:xfrm>
          <a:prstGeom prst="rect">
            <a:avLst/>
          </a:prstGeom>
          <a:solidFill>
            <a:srgbClr val="2B3180"/>
          </a:solidFill>
          <a:ln w="12700">
            <a:solidFill>
              <a:srgbClr val="2B3180"/>
            </a:solidFill>
            <a:prstDash val="solid"/>
          </a:ln>
        </p:spPr>
      </p:sp>
      <p:sp>
        <p:nvSpPr>
          <p:cNvPr id="21" name="Text 19"/>
          <p:cNvSpPr/>
          <p:nvPr/>
        </p:nvSpPr>
        <p:spPr>
          <a:xfrm>
            <a:off x="82296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a:t>
            </a:r>
            <a:endParaRPr lang="en-US" sz="1400" dirty="0"/>
          </a:p>
        </p:txBody>
      </p:sp>
      <p:sp>
        <p:nvSpPr>
          <p:cNvPr id="22" name="Shape 20"/>
          <p:cNvSpPr/>
          <p:nvPr/>
        </p:nvSpPr>
        <p:spPr>
          <a:xfrm>
            <a:off x="1965960" y="2340864"/>
            <a:ext cx="201168" cy="201168"/>
          </a:xfrm>
          <a:prstGeom prst="rect">
            <a:avLst/>
          </a:prstGeom>
          <a:solidFill>
            <a:srgbClr val="7A80C2"/>
          </a:solidFill>
          <a:ln w="12700">
            <a:solidFill>
              <a:srgbClr val="7A80C2"/>
            </a:solidFill>
            <a:prstDash val="solid"/>
          </a:ln>
        </p:spPr>
      </p:sp>
      <p:sp>
        <p:nvSpPr>
          <p:cNvPr id="23" name="Text 21"/>
          <p:cNvSpPr/>
          <p:nvPr/>
        </p:nvSpPr>
        <p:spPr>
          <a:xfrm>
            <a:off x="224028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 + pratique</a:t>
            </a:r>
            <a:endParaRPr lang="en-US" sz="1400" dirty="0"/>
          </a:p>
        </p:txBody>
      </p:sp>
      <p:sp>
        <p:nvSpPr>
          <p:cNvPr id="24" name="Shape 22"/>
          <p:cNvSpPr/>
          <p:nvPr/>
        </p:nvSpPr>
        <p:spPr>
          <a:xfrm>
            <a:off x="4297680" y="2340864"/>
            <a:ext cx="201168" cy="201168"/>
          </a:xfrm>
          <a:prstGeom prst="rect">
            <a:avLst/>
          </a:prstGeom>
          <a:solidFill>
            <a:srgbClr val="FF9A3C"/>
          </a:solidFill>
          <a:ln w="12700">
            <a:solidFill>
              <a:srgbClr val="FF9A3C"/>
            </a:solidFill>
            <a:prstDash val="solid"/>
          </a:ln>
        </p:spPr>
      </p:sp>
      <p:sp>
        <p:nvSpPr>
          <p:cNvPr id="25" name="Text 23"/>
          <p:cNvSpPr/>
          <p:nvPr/>
        </p:nvSpPr>
        <p:spPr>
          <a:xfrm>
            <a:off x="457200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pratique</a:t>
            </a:r>
            <a:endParaRPr lang="en-US" sz="1400" dirty="0"/>
          </a:p>
        </p:txBody>
      </p:sp>
      <p:sp>
        <p:nvSpPr>
          <p:cNvPr id="26" name="Shape 24"/>
          <p:cNvSpPr/>
          <p:nvPr/>
        </p:nvSpPr>
        <p:spPr>
          <a:xfrm>
            <a:off x="5532120" y="2340864"/>
            <a:ext cx="201168" cy="201168"/>
          </a:xfrm>
          <a:prstGeom prst="rect">
            <a:avLst/>
          </a:prstGeom>
          <a:solidFill>
            <a:srgbClr val="C9CDD8"/>
          </a:solidFill>
          <a:ln w="12700">
            <a:solidFill>
              <a:srgbClr val="C9CDD8"/>
            </a:solidFill>
            <a:prstDash val="solid"/>
          </a:ln>
        </p:spPr>
      </p:sp>
      <p:sp>
        <p:nvSpPr>
          <p:cNvPr id="27" name="Text 25"/>
          <p:cNvSpPr/>
          <p:nvPr/>
        </p:nvSpPr>
        <p:spPr>
          <a:xfrm>
            <a:off x="580644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pause</a:t>
            </a:r>
            <a:endParaRPr lang="en-US" sz="1400" dirty="0"/>
          </a:p>
        </p:txBody>
      </p:sp>
      <p:sp>
        <p:nvSpPr>
          <p:cNvPr id="28" name="Text 26"/>
          <p:cNvSpPr/>
          <p:nvPr/>
        </p:nvSpPr>
        <p:spPr>
          <a:xfrm>
            <a:off x="6492240" y="2286000"/>
            <a:ext cx="5150815" cy="310896"/>
          </a:xfrm>
          <a:prstGeom prst="rect">
            <a:avLst/>
          </a:prstGeom>
          <a:noFill/>
          <a:ln/>
        </p:spPr>
        <p:txBody>
          <a:bodyPr wrap="square" lIns="0" tIns="0" rIns="0" bIns="0" rtlCol="0" anchor="ctr"/>
          <a:lstStyle/>
          <a:p>
            <a:pPr algn="r" indent="0" marL="0">
              <a:buNone/>
            </a:pPr>
            <a:r>
              <a:rPr lang="en-US" sz="1400" b="1" dirty="0">
                <a:solidFill>
                  <a:srgbClr val="2B3180"/>
                </a:solidFill>
                <a:latin typeface="Arial" pitchFamily="34" charset="0"/>
                <a:ea typeface="Arial" pitchFamily="34" charset="-122"/>
                <a:cs typeface="Arial" pitchFamily="34" charset="-120"/>
              </a:rPr>
              <a:t>50 min d'explications · 170 min de pratique · 2 pauses</a:t>
            </a:r>
            <a:endParaRPr lang="en-US" sz="1400" dirty="0"/>
          </a:p>
        </p:txBody>
      </p:sp>
      <p:sp>
        <p:nvSpPr>
          <p:cNvPr id="29" name="Shape 27"/>
          <p:cNvSpPr/>
          <p:nvPr/>
        </p:nvSpPr>
        <p:spPr>
          <a:xfrm>
            <a:off x="548640" y="2971800"/>
            <a:ext cx="164592" cy="329184"/>
          </a:xfrm>
          <a:prstGeom prst="rect">
            <a:avLst/>
          </a:prstGeom>
          <a:solidFill>
            <a:srgbClr val="7A80C2"/>
          </a:solidFill>
          <a:ln w="12700">
            <a:solidFill>
              <a:srgbClr val="7A80C2"/>
            </a:solidFill>
            <a:prstDash val="solid"/>
          </a:ln>
        </p:spPr>
      </p:sp>
      <p:sp>
        <p:nvSpPr>
          <p:cNvPr id="30" name="Text 28"/>
          <p:cNvSpPr/>
          <p:nvPr/>
        </p:nvSpPr>
        <p:spPr>
          <a:xfrm>
            <a:off x="82296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60 min</a:t>
            </a:r>
            <a:endParaRPr lang="en-US" sz="1400" dirty="0"/>
          </a:p>
        </p:txBody>
      </p:sp>
      <p:sp>
        <p:nvSpPr>
          <p:cNvPr id="31" name="Text 29"/>
          <p:cNvSpPr/>
          <p:nvPr/>
        </p:nvSpPr>
        <p:spPr>
          <a:xfrm>
            <a:off x="164592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Lot 2, SCD2</a:t>
            </a:r>
            <a:endParaRPr lang="en-US" sz="1400" dirty="0"/>
          </a:p>
        </p:txBody>
      </p:sp>
      <p:sp>
        <p:nvSpPr>
          <p:cNvPr id="32" name="Shape 30"/>
          <p:cNvSpPr/>
          <p:nvPr/>
        </p:nvSpPr>
        <p:spPr>
          <a:xfrm>
            <a:off x="548640" y="3483864"/>
            <a:ext cx="164592" cy="329184"/>
          </a:xfrm>
          <a:prstGeom prst="rect">
            <a:avLst/>
          </a:prstGeom>
          <a:solidFill>
            <a:srgbClr val="7A80C2"/>
          </a:solidFill>
          <a:ln w="12700">
            <a:solidFill>
              <a:srgbClr val="7A80C2"/>
            </a:solidFill>
            <a:prstDash val="solid"/>
          </a:ln>
        </p:spPr>
      </p:sp>
      <p:sp>
        <p:nvSpPr>
          <p:cNvPr id="33" name="Text 31"/>
          <p:cNvSpPr/>
          <p:nvPr/>
        </p:nvSpPr>
        <p:spPr>
          <a:xfrm>
            <a:off x="82296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45 min</a:t>
            </a:r>
            <a:endParaRPr lang="en-US" sz="1400" dirty="0"/>
          </a:p>
        </p:txBody>
      </p:sp>
      <p:sp>
        <p:nvSpPr>
          <p:cNvPr id="34" name="Text 32"/>
          <p:cNvSpPr/>
          <p:nvPr/>
        </p:nvSpPr>
        <p:spPr>
          <a:xfrm>
            <a:off x="164592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Rejeu, tests, CI</a:t>
            </a:r>
            <a:endParaRPr lang="en-US" sz="1400" dirty="0"/>
          </a:p>
        </p:txBody>
      </p:sp>
      <p:sp>
        <p:nvSpPr>
          <p:cNvPr id="35" name="Shape 33"/>
          <p:cNvSpPr/>
          <p:nvPr/>
        </p:nvSpPr>
        <p:spPr>
          <a:xfrm>
            <a:off x="548640" y="3995928"/>
            <a:ext cx="164592" cy="329184"/>
          </a:xfrm>
          <a:prstGeom prst="rect">
            <a:avLst/>
          </a:prstGeom>
          <a:solidFill>
            <a:srgbClr val="C9CDD8"/>
          </a:solidFill>
          <a:ln w="12700">
            <a:solidFill>
              <a:srgbClr val="C9CDD8"/>
            </a:solidFill>
            <a:prstDash val="solid"/>
          </a:ln>
        </p:spPr>
      </p:sp>
      <p:sp>
        <p:nvSpPr>
          <p:cNvPr id="36" name="Text 34"/>
          <p:cNvSpPr/>
          <p:nvPr/>
        </p:nvSpPr>
        <p:spPr>
          <a:xfrm>
            <a:off x="82296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37" name="Text 35"/>
          <p:cNvSpPr/>
          <p:nvPr/>
        </p:nvSpPr>
        <p:spPr>
          <a:xfrm>
            <a:off x="164592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38" name="Shape 36"/>
          <p:cNvSpPr/>
          <p:nvPr/>
        </p:nvSpPr>
        <p:spPr>
          <a:xfrm>
            <a:off x="548640" y="4507992"/>
            <a:ext cx="164592" cy="329184"/>
          </a:xfrm>
          <a:prstGeom prst="rect">
            <a:avLst/>
          </a:prstGeom>
          <a:solidFill>
            <a:srgbClr val="7A80C2"/>
          </a:solidFill>
          <a:ln w="12700">
            <a:solidFill>
              <a:srgbClr val="7A80C2"/>
            </a:solidFill>
            <a:prstDash val="solid"/>
          </a:ln>
        </p:spPr>
      </p:sp>
      <p:sp>
        <p:nvSpPr>
          <p:cNvPr id="39" name="Text 37"/>
          <p:cNvSpPr/>
          <p:nvPr/>
        </p:nvSpPr>
        <p:spPr>
          <a:xfrm>
            <a:off x="822960" y="4416552"/>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25 min</a:t>
            </a:r>
            <a:endParaRPr lang="en-US" sz="1400" dirty="0"/>
          </a:p>
        </p:txBody>
      </p:sp>
      <p:sp>
        <p:nvSpPr>
          <p:cNvPr id="40" name="Text 38"/>
          <p:cNvSpPr/>
          <p:nvPr/>
        </p:nvSpPr>
        <p:spPr>
          <a:xfrm>
            <a:off x="1645920" y="4416552"/>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Conflit : démo, reprise</a:t>
            </a:r>
            <a:endParaRPr lang="en-US" sz="1400" dirty="0"/>
          </a:p>
        </p:txBody>
      </p:sp>
      <p:sp>
        <p:nvSpPr>
          <p:cNvPr id="41" name="Shape 39"/>
          <p:cNvSpPr/>
          <p:nvPr/>
        </p:nvSpPr>
        <p:spPr>
          <a:xfrm>
            <a:off x="4069080" y="2971800"/>
            <a:ext cx="164592" cy="329184"/>
          </a:xfrm>
          <a:prstGeom prst="rect">
            <a:avLst/>
          </a:prstGeom>
          <a:solidFill>
            <a:srgbClr val="7A80C2"/>
          </a:solidFill>
          <a:ln w="12700">
            <a:solidFill>
              <a:srgbClr val="7A80C2"/>
            </a:solidFill>
            <a:prstDash val="solid"/>
          </a:ln>
        </p:spPr>
      </p:sp>
      <p:sp>
        <p:nvSpPr>
          <p:cNvPr id="42" name="Text 40"/>
          <p:cNvSpPr/>
          <p:nvPr/>
        </p:nvSpPr>
        <p:spPr>
          <a:xfrm>
            <a:off x="434340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40 min</a:t>
            </a:r>
            <a:endParaRPr lang="en-US" sz="1400" dirty="0"/>
          </a:p>
        </p:txBody>
      </p:sp>
      <p:sp>
        <p:nvSpPr>
          <p:cNvPr id="43" name="Text 41"/>
          <p:cNvSpPr/>
          <p:nvPr/>
        </p:nvSpPr>
        <p:spPr>
          <a:xfrm>
            <a:off x="516636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Revue → correction</a:t>
            </a:r>
            <a:endParaRPr lang="en-US" sz="1400" dirty="0"/>
          </a:p>
        </p:txBody>
      </p:sp>
      <p:sp>
        <p:nvSpPr>
          <p:cNvPr id="44" name="Shape 42"/>
          <p:cNvSpPr/>
          <p:nvPr/>
        </p:nvSpPr>
        <p:spPr>
          <a:xfrm>
            <a:off x="4069080" y="3483864"/>
            <a:ext cx="164592" cy="329184"/>
          </a:xfrm>
          <a:prstGeom prst="rect">
            <a:avLst/>
          </a:prstGeom>
          <a:solidFill>
            <a:srgbClr val="C9CDD8"/>
          </a:solidFill>
          <a:ln w="12700">
            <a:solidFill>
              <a:srgbClr val="C9CDD8"/>
            </a:solidFill>
            <a:prstDash val="solid"/>
          </a:ln>
        </p:spPr>
      </p:sp>
      <p:sp>
        <p:nvSpPr>
          <p:cNvPr id="45" name="Text 43"/>
          <p:cNvSpPr/>
          <p:nvPr/>
        </p:nvSpPr>
        <p:spPr>
          <a:xfrm>
            <a:off x="434340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46" name="Text 44"/>
          <p:cNvSpPr/>
          <p:nvPr/>
        </p:nvSpPr>
        <p:spPr>
          <a:xfrm>
            <a:off x="516636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47" name="Shape 45"/>
          <p:cNvSpPr/>
          <p:nvPr/>
        </p:nvSpPr>
        <p:spPr>
          <a:xfrm>
            <a:off x="4069080" y="3995928"/>
            <a:ext cx="164592" cy="329184"/>
          </a:xfrm>
          <a:prstGeom prst="rect">
            <a:avLst/>
          </a:prstGeom>
          <a:solidFill>
            <a:srgbClr val="7A80C2"/>
          </a:solidFill>
          <a:ln w="12700">
            <a:solidFill>
              <a:srgbClr val="7A80C2"/>
            </a:solidFill>
            <a:prstDash val="solid"/>
          </a:ln>
        </p:spPr>
      </p:sp>
      <p:sp>
        <p:nvSpPr>
          <p:cNvPr id="48" name="Text 46"/>
          <p:cNvSpPr/>
          <p:nvPr/>
        </p:nvSpPr>
        <p:spPr>
          <a:xfrm>
            <a:off x="434340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50 min</a:t>
            </a:r>
            <a:endParaRPr lang="en-US" sz="1400" dirty="0"/>
          </a:p>
        </p:txBody>
      </p:sp>
      <p:sp>
        <p:nvSpPr>
          <p:cNvPr id="49" name="Text 47"/>
          <p:cNvSpPr/>
          <p:nvPr/>
        </p:nvSpPr>
        <p:spPr>
          <a:xfrm>
            <a:off x="516636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Passer à votre mission</a:t>
            </a:r>
            <a:endParaRPr lang="en-US" sz="1400" dirty="0"/>
          </a:p>
        </p:txBody>
      </p:sp>
      <p:sp>
        <p:nvSpPr>
          <p:cNvPr id="50" name="Shape 48"/>
          <p:cNvSpPr/>
          <p:nvPr/>
        </p:nvSpPr>
        <p:spPr>
          <a:xfrm>
            <a:off x="7818120" y="2834640"/>
            <a:ext cx="3824935" cy="3337560"/>
          </a:xfrm>
          <a:prstGeom prst="roundRect">
            <a:avLst>
              <a:gd name="adj" fmla="val 2740"/>
            </a:avLst>
          </a:prstGeom>
          <a:solidFill>
            <a:srgbClr val="07152F"/>
          </a:solidFill>
          <a:ln w="9525">
            <a:solidFill>
              <a:srgbClr val="07152F"/>
            </a:solidFill>
            <a:prstDash val="solid"/>
          </a:ln>
        </p:spPr>
      </p:sp>
      <p:sp>
        <p:nvSpPr>
          <p:cNvPr id="51" name="Text 49"/>
          <p:cNvSpPr/>
          <p:nvPr/>
        </p:nvSpPr>
        <p:spPr>
          <a:xfrm>
            <a:off x="8046720" y="3017520"/>
            <a:ext cx="320040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CE QUE VOUS PROUVEZ</a:t>
            </a:r>
            <a:endParaRPr lang="en-US" sz="1400" dirty="0"/>
          </a:p>
        </p:txBody>
      </p:sp>
      <p:sp>
        <p:nvSpPr>
          <p:cNvPr id="52" name="Shape 50"/>
          <p:cNvSpPr/>
          <p:nvPr/>
        </p:nvSpPr>
        <p:spPr>
          <a:xfrm>
            <a:off x="8046720" y="3520440"/>
            <a:ext cx="329184" cy="329184"/>
          </a:xfrm>
          <a:prstGeom prst="ellipse">
            <a:avLst/>
          </a:prstGeom>
          <a:solidFill>
            <a:srgbClr val="FF9A3C"/>
          </a:solidFill>
          <a:ln w="12700">
            <a:solidFill>
              <a:srgbClr val="FF9A3C"/>
            </a:solidFill>
            <a:prstDash val="solid"/>
          </a:ln>
        </p:spPr>
      </p:sp>
      <p:sp>
        <p:nvSpPr>
          <p:cNvPr id="53" name="Text 51"/>
          <p:cNvSpPr/>
          <p:nvPr/>
        </p:nvSpPr>
        <p:spPr>
          <a:xfrm>
            <a:off x="8046720" y="352044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54" name="Text 52"/>
          <p:cNvSpPr/>
          <p:nvPr/>
        </p:nvSpPr>
        <p:spPr>
          <a:xfrm>
            <a:off x="8503920" y="347472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Lot 2 chargé, historique gardé, rejeu stable</a:t>
            </a:r>
            <a:endParaRPr lang="en-US" sz="1600" dirty="0"/>
          </a:p>
        </p:txBody>
      </p:sp>
      <p:sp>
        <p:nvSpPr>
          <p:cNvPr id="55" name="Shape 53"/>
          <p:cNvSpPr/>
          <p:nvPr/>
        </p:nvSpPr>
        <p:spPr>
          <a:xfrm>
            <a:off x="8046720" y="4389120"/>
            <a:ext cx="329184" cy="329184"/>
          </a:xfrm>
          <a:prstGeom prst="ellipse">
            <a:avLst/>
          </a:prstGeom>
          <a:solidFill>
            <a:srgbClr val="FF9A3C"/>
          </a:solidFill>
          <a:ln w="12700">
            <a:solidFill>
              <a:srgbClr val="FF9A3C"/>
            </a:solidFill>
            <a:prstDash val="solid"/>
          </a:ln>
        </p:spPr>
      </p:sp>
      <p:sp>
        <p:nvSpPr>
          <p:cNvPr id="56" name="Text 54"/>
          <p:cNvSpPr/>
          <p:nvPr/>
        </p:nvSpPr>
        <p:spPr>
          <a:xfrm>
            <a:off x="8046720" y="438912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57" name="Text 55"/>
          <p:cNvSpPr/>
          <p:nvPr/>
        </p:nvSpPr>
        <p:spPr>
          <a:xfrm>
            <a:off x="8503920" y="434340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CI verte ; conflit reproduit à deux</a:t>
            </a:r>
            <a:endParaRPr lang="en-US" sz="1600" dirty="0"/>
          </a:p>
        </p:txBody>
      </p:sp>
      <p:sp>
        <p:nvSpPr>
          <p:cNvPr id="58" name="Shape 56"/>
          <p:cNvSpPr/>
          <p:nvPr/>
        </p:nvSpPr>
        <p:spPr>
          <a:xfrm>
            <a:off x="8046720" y="5257800"/>
            <a:ext cx="329184" cy="329184"/>
          </a:xfrm>
          <a:prstGeom prst="ellipse">
            <a:avLst/>
          </a:prstGeom>
          <a:solidFill>
            <a:srgbClr val="FF9A3C"/>
          </a:solidFill>
          <a:ln w="12700">
            <a:solidFill>
              <a:srgbClr val="FF9A3C"/>
            </a:solidFill>
            <a:prstDash val="solid"/>
          </a:ln>
        </p:spPr>
      </p:sp>
      <p:sp>
        <p:nvSpPr>
          <p:cNvPr id="59" name="Text 57"/>
          <p:cNvSpPr/>
          <p:nvPr/>
        </p:nvSpPr>
        <p:spPr>
          <a:xfrm>
            <a:off x="8046720" y="525780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60" name="Text 58"/>
          <p:cNvSpPr/>
          <p:nvPr/>
        </p:nvSpPr>
        <p:spPr>
          <a:xfrm>
            <a:off x="8503920" y="521208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1re PR de mission (mission.txt = M0x)</a:t>
            </a:r>
            <a:endParaRPr lang="en-US" sz="16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S5 · 240 MIN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Séance 5 · Votre mission, puis Power BI</a:t>
            </a:r>
            <a:endParaRPr lang="en-US" sz="3000" dirty="0"/>
          </a:p>
        </p:txBody>
      </p:sp>
      <p:sp>
        <p:nvSpPr>
          <p:cNvPr id="6" name="Shape 4"/>
          <p:cNvSpPr/>
          <p:nvPr/>
        </p:nvSpPr>
        <p:spPr>
          <a:xfrm>
            <a:off x="548640" y="1691640"/>
            <a:ext cx="4622673" cy="502920"/>
          </a:xfrm>
          <a:prstGeom prst="rect">
            <a:avLst/>
          </a:prstGeom>
          <a:solidFill>
            <a:srgbClr val="7A80C2"/>
          </a:solidFill>
          <a:ln w="19050">
            <a:solidFill>
              <a:srgbClr val="FFFFFF"/>
            </a:solidFill>
            <a:prstDash val="solid"/>
          </a:ln>
        </p:spPr>
      </p:sp>
      <p:sp>
        <p:nvSpPr>
          <p:cNvPr id="7" name="Text 5"/>
          <p:cNvSpPr/>
          <p:nvPr/>
        </p:nvSpPr>
        <p:spPr>
          <a:xfrm>
            <a:off x="548640" y="1691640"/>
            <a:ext cx="4622673"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100</a:t>
            </a:r>
            <a:endParaRPr lang="en-US" sz="1400" dirty="0"/>
          </a:p>
        </p:txBody>
      </p:sp>
      <p:sp>
        <p:nvSpPr>
          <p:cNvPr id="8" name="Shape 6"/>
          <p:cNvSpPr/>
          <p:nvPr/>
        </p:nvSpPr>
        <p:spPr>
          <a:xfrm>
            <a:off x="5171313" y="1691640"/>
            <a:ext cx="462267" cy="502920"/>
          </a:xfrm>
          <a:prstGeom prst="rect">
            <a:avLst/>
          </a:prstGeom>
          <a:solidFill>
            <a:srgbClr val="C9CDD8"/>
          </a:solidFill>
          <a:ln w="19050">
            <a:solidFill>
              <a:srgbClr val="FFFFFF"/>
            </a:solidFill>
            <a:prstDash val="solid"/>
          </a:ln>
        </p:spPr>
      </p:sp>
      <p:sp>
        <p:nvSpPr>
          <p:cNvPr id="9" name="Text 7"/>
          <p:cNvSpPr/>
          <p:nvPr/>
        </p:nvSpPr>
        <p:spPr>
          <a:xfrm>
            <a:off x="5171313"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0" name="Shape 8"/>
          <p:cNvSpPr/>
          <p:nvPr/>
        </p:nvSpPr>
        <p:spPr>
          <a:xfrm>
            <a:off x="5633580" y="1691640"/>
            <a:ext cx="3235871" cy="502920"/>
          </a:xfrm>
          <a:prstGeom prst="rect">
            <a:avLst/>
          </a:prstGeom>
          <a:solidFill>
            <a:srgbClr val="7A80C2"/>
          </a:solidFill>
          <a:ln w="19050">
            <a:solidFill>
              <a:srgbClr val="FFFFFF"/>
            </a:solidFill>
            <a:prstDash val="solid"/>
          </a:ln>
        </p:spPr>
      </p:sp>
      <p:sp>
        <p:nvSpPr>
          <p:cNvPr id="11" name="Text 9"/>
          <p:cNvSpPr/>
          <p:nvPr/>
        </p:nvSpPr>
        <p:spPr>
          <a:xfrm>
            <a:off x="5633580" y="1691640"/>
            <a:ext cx="3235871"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70</a:t>
            </a:r>
            <a:endParaRPr lang="en-US" sz="1400" dirty="0"/>
          </a:p>
        </p:txBody>
      </p:sp>
      <p:sp>
        <p:nvSpPr>
          <p:cNvPr id="12" name="Shape 10"/>
          <p:cNvSpPr/>
          <p:nvPr/>
        </p:nvSpPr>
        <p:spPr>
          <a:xfrm>
            <a:off x="8869451" y="1691640"/>
            <a:ext cx="462267" cy="502920"/>
          </a:xfrm>
          <a:prstGeom prst="rect">
            <a:avLst/>
          </a:prstGeom>
          <a:solidFill>
            <a:srgbClr val="C9CDD8"/>
          </a:solidFill>
          <a:ln w="19050">
            <a:solidFill>
              <a:srgbClr val="FFFFFF"/>
            </a:solidFill>
            <a:prstDash val="solid"/>
          </a:ln>
        </p:spPr>
      </p:sp>
      <p:sp>
        <p:nvSpPr>
          <p:cNvPr id="13" name="Text 11"/>
          <p:cNvSpPr/>
          <p:nvPr/>
        </p:nvSpPr>
        <p:spPr>
          <a:xfrm>
            <a:off x="8869451" y="1691640"/>
            <a:ext cx="462267" cy="502920"/>
          </a:xfrm>
          <a:prstGeom prst="rect">
            <a:avLst/>
          </a:prstGeom>
          <a:noFill/>
          <a:ln/>
        </p:spPr>
        <p:txBody>
          <a:bodyPr wrap="square" lIns="0" tIns="0" rIns="0" bIns="0" rtlCol="0" anchor="ctr"/>
          <a:lstStyle/>
          <a:p>
            <a:pPr algn="ctr" indent="0" marL="0">
              <a:buNone/>
            </a:pPr>
            <a:r>
              <a:rPr lang="en-US" sz="1400" b="1" dirty="0">
                <a:solidFill>
                  <a:srgbClr val="1A1F4D"/>
                </a:solidFill>
                <a:latin typeface="Arial" pitchFamily="34" charset="0"/>
                <a:ea typeface="Arial" pitchFamily="34" charset="-122"/>
                <a:cs typeface="Arial" pitchFamily="34" charset="-120"/>
              </a:rPr>
              <a:t>10</a:t>
            </a:r>
            <a:endParaRPr lang="en-US" sz="1400" dirty="0"/>
          </a:p>
        </p:txBody>
      </p:sp>
      <p:sp>
        <p:nvSpPr>
          <p:cNvPr id="14" name="Shape 12"/>
          <p:cNvSpPr/>
          <p:nvPr/>
        </p:nvSpPr>
        <p:spPr>
          <a:xfrm>
            <a:off x="9331719" y="1691640"/>
            <a:ext cx="1386802" cy="502920"/>
          </a:xfrm>
          <a:prstGeom prst="rect">
            <a:avLst/>
          </a:prstGeom>
          <a:solidFill>
            <a:srgbClr val="7A80C2"/>
          </a:solidFill>
          <a:ln w="19050">
            <a:solidFill>
              <a:srgbClr val="FFFFFF"/>
            </a:solidFill>
            <a:prstDash val="solid"/>
          </a:ln>
        </p:spPr>
      </p:sp>
      <p:sp>
        <p:nvSpPr>
          <p:cNvPr id="15" name="Text 13"/>
          <p:cNvSpPr/>
          <p:nvPr/>
        </p:nvSpPr>
        <p:spPr>
          <a:xfrm>
            <a:off x="9331719" y="1691640"/>
            <a:ext cx="1386802"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16" name="Shape 14"/>
          <p:cNvSpPr/>
          <p:nvPr/>
        </p:nvSpPr>
        <p:spPr>
          <a:xfrm>
            <a:off x="10718521" y="1691640"/>
            <a:ext cx="924535" cy="502920"/>
          </a:xfrm>
          <a:prstGeom prst="rect">
            <a:avLst/>
          </a:prstGeom>
          <a:solidFill>
            <a:srgbClr val="FF9A3C"/>
          </a:solidFill>
          <a:ln w="19050">
            <a:solidFill>
              <a:srgbClr val="FFFFFF"/>
            </a:solidFill>
            <a:prstDash val="solid"/>
          </a:ln>
        </p:spPr>
      </p:sp>
      <p:sp>
        <p:nvSpPr>
          <p:cNvPr id="17" name="Text 15"/>
          <p:cNvSpPr/>
          <p:nvPr/>
        </p:nvSpPr>
        <p:spPr>
          <a:xfrm>
            <a:off x="10718521" y="1691640"/>
            <a:ext cx="924535" cy="50292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20</a:t>
            </a:r>
            <a:endParaRPr lang="en-US" sz="1400" dirty="0"/>
          </a:p>
        </p:txBody>
      </p:sp>
      <p:sp>
        <p:nvSpPr>
          <p:cNvPr id="18" name="Shape 16"/>
          <p:cNvSpPr/>
          <p:nvPr/>
        </p:nvSpPr>
        <p:spPr>
          <a:xfrm>
            <a:off x="548640" y="2340864"/>
            <a:ext cx="201168" cy="201168"/>
          </a:xfrm>
          <a:prstGeom prst="rect">
            <a:avLst/>
          </a:prstGeom>
          <a:solidFill>
            <a:srgbClr val="2B3180"/>
          </a:solidFill>
          <a:ln w="12700">
            <a:solidFill>
              <a:srgbClr val="2B3180"/>
            </a:solidFill>
            <a:prstDash val="solid"/>
          </a:ln>
        </p:spPr>
      </p:sp>
      <p:sp>
        <p:nvSpPr>
          <p:cNvPr id="19" name="Text 17"/>
          <p:cNvSpPr/>
          <p:nvPr/>
        </p:nvSpPr>
        <p:spPr>
          <a:xfrm>
            <a:off x="82296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a:t>
            </a:r>
            <a:endParaRPr lang="en-US" sz="1400" dirty="0"/>
          </a:p>
        </p:txBody>
      </p:sp>
      <p:sp>
        <p:nvSpPr>
          <p:cNvPr id="20" name="Shape 18"/>
          <p:cNvSpPr/>
          <p:nvPr/>
        </p:nvSpPr>
        <p:spPr>
          <a:xfrm>
            <a:off x="1965960" y="2340864"/>
            <a:ext cx="201168" cy="201168"/>
          </a:xfrm>
          <a:prstGeom prst="rect">
            <a:avLst/>
          </a:prstGeom>
          <a:solidFill>
            <a:srgbClr val="7A80C2"/>
          </a:solidFill>
          <a:ln w="12700">
            <a:solidFill>
              <a:srgbClr val="7A80C2"/>
            </a:solidFill>
            <a:prstDash val="solid"/>
          </a:ln>
        </p:spPr>
      </p:sp>
      <p:sp>
        <p:nvSpPr>
          <p:cNvPr id="21" name="Text 19"/>
          <p:cNvSpPr/>
          <p:nvPr/>
        </p:nvSpPr>
        <p:spPr>
          <a:xfrm>
            <a:off x="224028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explication + pratique</a:t>
            </a:r>
            <a:endParaRPr lang="en-US" sz="1400" dirty="0"/>
          </a:p>
        </p:txBody>
      </p:sp>
      <p:sp>
        <p:nvSpPr>
          <p:cNvPr id="22" name="Shape 20"/>
          <p:cNvSpPr/>
          <p:nvPr/>
        </p:nvSpPr>
        <p:spPr>
          <a:xfrm>
            <a:off x="4297680" y="2340864"/>
            <a:ext cx="201168" cy="201168"/>
          </a:xfrm>
          <a:prstGeom prst="rect">
            <a:avLst/>
          </a:prstGeom>
          <a:solidFill>
            <a:srgbClr val="FF9A3C"/>
          </a:solidFill>
          <a:ln w="12700">
            <a:solidFill>
              <a:srgbClr val="FF9A3C"/>
            </a:solidFill>
            <a:prstDash val="solid"/>
          </a:ln>
        </p:spPr>
      </p:sp>
      <p:sp>
        <p:nvSpPr>
          <p:cNvPr id="23" name="Text 21"/>
          <p:cNvSpPr/>
          <p:nvPr/>
        </p:nvSpPr>
        <p:spPr>
          <a:xfrm>
            <a:off x="457200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pratique</a:t>
            </a:r>
            <a:endParaRPr lang="en-US" sz="1400" dirty="0"/>
          </a:p>
        </p:txBody>
      </p:sp>
      <p:sp>
        <p:nvSpPr>
          <p:cNvPr id="24" name="Shape 22"/>
          <p:cNvSpPr/>
          <p:nvPr/>
        </p:nvSpPr>
        <p:spPr>
          <a:xfrm>
            <a:off x="5532120" y="2340864"/>
            <a:ext cx="201168" cy="201168"/>
          </a:xfrm>
          <a:prstGeom prst="rect">
            <a:avLst/>
          </a:prstGeom>
          <a:solidFill>
            <a:srgbClr val="C9CDD8"/>
          </a:solidFill>
          <a:ln w="12700">
            <a:solidFill>
              <a:srgbClr val="C9CDD8"/>
            </a:solidFill>
            <a:prstDash val="solid"/>
          </a:ln>
        </p:spPr>
      </p:sp>
      <p:sp>
        <p:nvSpPr>
          <p:cNvPr id="25" name="Text 23"/>
          <p:cNvSpPr/>
          <p:nvPr/>
        </p:nvSpPr>
        <p:spPr>
          <a:xfrm>
            <a:off x="5806440" y="2286000"/>
            <a:ext cx="2194560" cy="310896"/>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pause</a:t>
            </a:r>
            <a:endParaRPr lang="en-US" sz="1400" dirty="0"/>
          </a:p>
        </p:txBody>
      </p:sp>
      <p:sp>
        <p:nvSpPr>
          <p:cNvPr id="26" name="Text 24"/>
          <p:cNvSpPr/>
          <p:nvPr/>
        </p:nvSpPr>
        <p:spPr>
          <a:xfrm>
            <a:off x="6492240" y="2286000"/>
            <a:ext cx="5150815" cy="310896"/>
          </a:xfrm>
          <a:prstGeom prst="rect">
            <a:avLst/>
          </a:prstGeom>
          <a:noFill/>
          <a:ln/>
        </p:spPr>
        <p:txBody>
          <a:bodyPr wrap="square" lIns="0" tIns="0" rIns="0" bIns="0" rtlCol="0" anchor="ctr"/>
          <a:lstStyle/>
          <a:p>
            <a:pPr algn="r" indent="0" marL="0">
              <a:buNone/>
            </a:pPr>
            <a:r>
              <a:rPr lang="en-US" sz="1400" b="1" dirty="0">
                <a:solidFill>
                  <a:srgbClr val="2B3180"/>
                </a:solidFill>
                <a:latin typeface="Arial" pitchFamily="34" charset="0"/>
                <a:ea typeface="Arial" pitchFamily="34" charset="-122"/>
                <a:cs typeface="Arial" pitchFamily="34" charset="-120"/>
              </a:rPr>
              <a:t>50 min d'explications · 170 min de pratique · 2 pauses</a:t>
            </a:r>
            <a:endParaRPr lang="en-US" sz="1400" dirty="0"/>
          </a:p>
        </p:txBody>
      </p:sp>
      <p:sp>
        <p:nvSpPr>
          <p:cNvPr id="27" name="Shape 25"/>
          <p:cNvSpPr/>
          <p:nvPr/>
        </p:nvSpPr>
        <p:spPr>
          <a:xfrm>
            <a:off x="548640" y="2971800"/>
            <a:ext cx="164592" cy="329184"/>
          </a:xfrm>
          <a:prstGeom prst="rect">
            <a:avLst/>
          </a:prstGeom>
          <a:solidFill>
            <a:srgbClr val="7A80C2"/>
          </a:solidFill>
          <a:ln w="12700">
            <a:solidFill>
              <a:srgbClr val="7A80C2"/>
            </a:solidFill>
            <a:prstDash val="solid"/>
          </a:ln>
        </p:spPr>
      </p:sp>
      <p:sp>
        <p:nvSpPr>
          <p:cNvPr id="28" name="Text 26"/>
          <p:cNvSpPr/>
          <p:nvPr/>
        </p:nvSpPr>
        <p:spPr>
          <a:xfrm>
            <a:off x="82296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100 min</a:t>
            </a:r>
            <a:endParaRPr lang="en-US" sz="1400" dirty="0"/>
          </a:p>
        </p:txBody>
      </p:sp>
      <p:sp>
        <p:nvSpPr>
          <p:cNvPr id="29" name="Text 27"/>
          <p:cNvSpPr/>
          <p:nvPr/>
        </p:nvSpPr>
        <p:spPr>
          <a:xfrm>
            <a:off x="164592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Mission : initial → app</a:t>
            </a:r>
            <a:endParaRPr lang="en-US" sz="1400" dirty="0"/>
          </a:p>
        </p:txBody>
      </p:sp>
      <p:sp>
        <p:nvSpPr>
          <p:cNvPr id="30" name="Shape 28"/>
          <p:cNvSpPr/>
          <p:nvPr/>
        </p:nvSpPr>
        <p:spPr>
          <a:xfrm>
            <a:off x="548640" y="3483864"/>
            <a:ext cx="164592" cy="329184"/>
          </a:xfrm>
          <a:prstGeom prst="rect">
            <a:avLst/>
          </a:prstGeom>
          <a:solidFill>
            <a:srgbClr val="C9CDD8"/>
          </a:solidFill>
          <a:ln w="12700">
            <a:solidFill>
              <a:srgbClr val="C9CDD8"/>
            </a:solidFill>
            <a:prstDash val="solid"/>
          </a:ln>
        </p:spPr>
      </p:sp>
      <p:sp>
        <p:nvSpPr>
          <p:cNvPr id="31" name="Text 29"/>
          <p:cNvSpPr/>
          <p:nvPr/>
        </p:nvSpPr>
        <p:spPr>
          <a:xfrm>
            <a:off x="82296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32" name="Text 30"/>
          <p:cNvSpPr/>
          <p:nvPr/>
        </p:nvSpPr>
        <p:spPr>
          <a:xfrm>
            <a:off x="164592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33" name="Shape 31"/>
          <p:cNvSpPr/>
          <p:nvPr/>
        </p:nvSpPr>
        <p:spPr>
          <a:xfrm>
            <a:off x="548640" y="3995928"/>
            <a:ext cx="164592" cy="329184"/>
          </a:xfrm>
          <a:prstGeom prst="rect">
            <a:avLst/>
          </a:prstGeom>
          <a:solidFill>
            <a:srgbClr val="7A80C2"/>
          </a:solidFill>
          <a:ln w="12700">
            <a:solidFill>
              <a:srgbClr val="7A80C2"/>
            </a:solidFill>
            <a:prstDash val="solid"/>
          </a:ln>
        </p:spPr>
      </p:sp>
      <p:sp>
        <p:nvSpPr>
          <p:cNvPr id="34" name="Text 32"/>
          <p:cNvSpPr/>
          <p:nvPr/>
        </p:nvSpPr>
        <p:spPr>
          <a:xfrm>
            <a:off x="82296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70 min</a:t>
            </a:r>
            <a:endParaRPr lang="en-US" sz="1400" dirty="0"/>
          </a:p>
        </p:txBody>
      </p:sp>
      <p:sp>
        <p:nvSpPr>
          <p:cNvPr id="35" name="Text 33"/>
          <p:cNvSpPr/>
          <p:nvPr/>
        </p:nvSpPr>
        <p:spPr>
          <a:xfrm>
            <a:off x="164592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Power BI (tronc commun)</a:t>
            </a:r>
            <a:endParaRPr lang="en-US" sz="1400" dirty="0"/>
          </a:p>
        </p:txBody>
      </p:sp>
      <p:sp>
        <p:nvSpPr>
          <p:cNvPr id="36" name="Shape 34"/>
          <p:cNvSpPr/>
          <p:nvPr/>
        </p:nvSpPr>
        <p:spPr>
          <a:xfrm>
            <a:off x="4069080" y="2971800"/>
            <a:ext cx="164592" cy="329184"/>
          </a:xfrm>
          <a:prstGeom prst="rect">
            <a:avLst/>
          </a:prstGeom>
          <a:solidFill>
            <a:srgbClr val="C9CDD8"/>
          </a:solidFill>
          <a:ln w="12700">
            <a:solidFill>
              <a:srgbClr val="C9CDD8"/>
            </a:solidFill>
            <a:prstDash val="solid"/>
          </a:ln>
        </p:spPr>
      </p:sp>
      <p:sp>
        <p:nvSpPr>
          <p:cNvPr id="37" name="Text 35"/>
          <p:cNvSpPr/>
          <p:nvPr/>
        </p:nvSpPr>
        <p:spPr>
          <a:xfrm>
            <a:off x="4343400" y="2880360"/>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10 min</a:t>
            </a:r>
            <a:endParaRPr lang="en-US" sz="1400" dirty="0"/>
          </a:p>
        </p:txBody>
      </p:sp>
      <p:sp>
        <p:nvSpPr>
          <p:cNvPr id="38" name="Text 36"/>
          <p:cNvSpPr/>
          <p:nvPr/>
        </p:nvSpPr>
        <p:spPr>
          <a:xfrm>
            <a:off x="5166360" y="2880360"/>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Pause</a:t>
            </a:r>
            <a:endParaRPr lang="en-US" sz="1400" dirty="0"/>
          </a:p>
        </p:txBody>
      </p:sp>
      <p:sp>
        <p:nvSpPr>
          <p:cNvPr id="39" name="Shape 37"/>
          <p:cNvSpPr/>
          <p:nvPr/>
        </p:nvSpPr>
        <p:spPr>
          <a:xfrm>
            <a:off x="4069080" y="3483864"/>
            <a:ext cx="164592" cy="329184"/>
          </a:xfrm>
          <a:prstGeom prst="rect">
            <a:avLst/>
          </a:prstGeom>
          <a:solidFill>
            <a:srgbClr val="7A80C2"/>
          </a:solidFill>
          <a:ln w="12700">
            <a:solidFill>
              <a:srgbClr val="7A80C2"/>
            </a:solidFill>
            <a:prstDash val="solid"/>
          </a:ln>
        </p:spPr>
      </p:sp>
      <p:sp>
        <p:nvSpPr>
          <p:cNvPr id="40" name="Text 38"/>
          <p:cNvSpPr/>
          <p:nvPr/>
        </p:nvSpPr>
        <p:spPr>
          <a:xfrm>
            <a:off x="4343400" y="3392424"/>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30 min</a:t>
            </a:r>
            <a:endParaRPr lang="en-US" sz="1400" dirty="0"/>
          </a:p>
        </p:txBody>
      </p:sp>
      <p:sp>
        <p:nvSpPr>
          <p:cNvPr id="41" name="Text 39"/>
          <p:cNvSpPr/>
          <p:nvPr/>
        </p:nvSpPr>
        <p:spPr>
          <a:xfrm>
            <a:off x="5166360" y="3392424"/>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Lire les visuels</a:t>
            </a:r>
            <a:endParaRPr lang="en-US" sz="1400" dirty="0"/>
          </a:p>
        </p:txBody>
      </p:sp>
      <p:sp>
        <p:nvSpPr>
          <p:cNvPr id="42" name="Shape 40"/>
          <p:cNvSpPr/>
          <p:nvPr/>
        </p:nvSpPr>
        <p:spPr>
          <a:xfrm>
            <a:off x="4069080" y="3995928"/>
            <a:ext cx="164592" cy="329184"/>
          </a:xfrm>
          <a:prstGeom prst="rect">
            <a:avLst/>
          </a:prstGeom>
          <a:solidFill>
            <a:srgbClr val="FF9A3C"/>
          </a:solidFill>
          <a:ln w="12700">
            <a:solidFill>
              <a:srgbClr val="FF9A3C"/>
            </a:solidFill>
            <a:prstDash val="solid"/>
          </a:ln>
        </p:spPr>
      </p:sp>
      <p:sp>
        <p:nvSpPr>
          <p:cNvPr id="43" name="Text 41"/>
          <p:cNvSpPr/>
          <p:nvPr/>
        </p:nvSpPr>
        <p:spPr>
          <a:xfrm>
            <a:off x="4343400" y="3904488"/>
            <a:ext cx="822960" cy="512064"/>
          </a:xfrm>
          <a:prstGeom prst="rect">
            <a:avLst/>
          </a:prstGeom>
          <a:noFill/>
          <a:ln/>
        </p:spPr>
        <p:txBody>
          <a:bodyPr wrap="square" lIns="0" tIns="0" rIns="0" bIns="0" rtlCol="0" anchor="ctr"/>
          <a:lstStyle/>
          <a:p>
            <a:pPr indent="0" marL="0">
              <a:buNone/>
            </a:pPr>
            <a:r>
              <a:rPr lang="en-US" sz="1400" b="1" dirty="0">
                <a:solidFill>
                  <a:srgbClr val="2B3180"/>
                </a:solidFill>
                <a:latin typeface="Arial" pitchFamily="34" charset="0"/>
                <a:ea typeface="Arial" pitchFamily="34" charset="-122"/>
                <a:cs typeface="Arial" pitchFamily="34" charset="-120"/>
              </a:rPr>
              <a:t>20 min</a:t>
            </a:r>
            <a:endParaRPr lang="en-US" sz="1400" dirty="0"/>
          </a:p>
        </p:txBody>
      </p:sp>
      <p:sp>
        <p:nvSpPr>
          <p:cNvPr id="44" name="Text 42"/>
          <p:cNvSpPr/>
          <p:nvPr/>
        </p:nvSpPr>
        <p:spPr>
          <a:xfrm>
            <a:off x="5166360" y="3904488"/>
            <a:ext cx="2331720" cy="512064"/>
          </a:xfrm>
          <a:prstGeom prst="rect">
            <a:avLst/>
          </a:prstGeom>
          <a:noFill/>
          <a:ln/>
        </p:spPr>
        <p:txBody>
          <a:bodyPr wrap="square" lIns="0" tIns="0" rIns="0" bIns="0" rtlCol="0" anchor="ctr"/>
          <a:lstStyle/>
          <a:p>
            <a:pPr indent="0" marL="0">
              <a:buNone/>
            </a:pPr>
            <a:r>
              <a:rPr lang="en-US" sz="1400" dirty="0">
                <a:solidFill>
                  <a:srgbClr val="1A1F4D"/>
                </a:solidFill>
                <a:latin typeface="Arial" pitchFamily="34" charset="0"/>
                <a:ea typeface="Arial" pitchFamily="34" charset="-122"/>
                <a:cs typeface="Arial" pitchFamily="34" charset="-120"/>
              </a:rPr>
              <a:t>Répétition croisée</a:t>
            </a:r>
            <a:endParaRPr lang="en-US" sz="1400" dirty="0"/>
          </a:p>
        </p:txBody>
      </p:sp>
      <p:sp>
        <p:nvSpPr>
          <p:cNvPr id="45" name="Shape 43"/>
          <p:cNvSpPr/>
          <p:nvPr/>
        </p:nvSpPr>
        <p:spPr>
          <a:xfrm>
            <a:off x="7818120" y="2834640"/>
            <a:ext cx="3824935" cy="3337560"/>
          </a:xfrm>
          <a:prstGeom prst="roundRect">
            <a:avLst>
              <a:gd name="adj" fmla="val 2740"/>
            </a:avLst>
          </a:prstGeom>
          <a:solidFill>
            <a:srgbClr val="07152F"/>
          </a:solidFill>
          <a:ln w="9525">
            <a:solidFill>
              <a:srgbClr val="07152F"/>
            </a:solidFill>
            <a:prstDash val="solid"/>
          </a:ln>
        </p:spPr>
      </p:sp>
      <p:sp>
        <p:nvSpPr>
          <p:cNvPr id="46" name="Text 44"/>
          <p:cNvSpPr/>
          <p:nvPr/>
        </p:nvSpPr>
        <p:spPr>
          <a:xfrm>
            <a:off x="8046720" y="3017520"/>
            <a:ext cx="3200400" cy="320040"/>
          </a:xfrm>
          <a:prstGeom prst="rect">
            <a:avLst/>
          </a:prstGeom>
          <a:noFill/>
          <a:ln/>
        </p:spPr>
        <p:txBody>
          <a:bodyPr wrap="square" lIns="0" tIns="0" rIns="0" bIns="0" rtlCol="0" anchor="ctr"/>
          <a:lstStyle/>
          <a:p>
            <a:pPr indent="0" marL="0">
              <a:buNone/>
            </a:pPr>
            <a:r>
              <a:rPr lang="en-US" sz="1400" b="1" spc="100" kern="0" dirty="0">
                <a:solidFill>
                  <a:srgbClr val="FF9A3C"/>
                </a:solidFill>
                <a:latin typeface="Arial" pitchFamily="34" charset="0"/>
                <a:ea typeface="Arial" pitchFamily="34" charset="-122"/>
                <a:cs typeface="Arial" pitchFamily="34" charset="-120"/>
              </a:rPr>
              <a:t>CE QUE VOUS PROUVEZ</a:t>
            </a:r>
            <a:endParaRPr lang="en-US" sz="1400" dirty="0"/>
          </a:p>
        </p:txBody>
      </p:sp>
      <p:sp>
        <p:nvSpPr>
          <p:cNvPr id="47" name="Shape 45"/>
          <p:cNvSpPr/>
          <p:nvPr/>
        </p:nvSpPr>
        <p:spPr>
          <a:xfrm>
            <a:off x="8046720" y="3520440"/>
            <a:ext cx="329184" cy="329184"/>
          </a:xfrm>
          <a:prstGeom prst="ellipse">
            <a:avLst/>
          </a:prstGeom>
          <a:solidFill>
            <a:srgbClr val="FF9A3C"/>
          </a:solidFill>
          <a:ln w="12700">
            <a:solidFill>
              <a:srgbClr val="FF9A3C"/>
            </a:solidFill>
            <a:prstDash val="solid"/>
          </a:ln>
        </p:spPr>
      </p:sp>
      <p:sp>
        <p:nvSpPr>
          <p:cNvPr id="48" name="Text 46"/>
          <p:cNvSpPr/>
          <p:nvPr/>
        </p:nvSpPr>
        <p:spPr>
          <a:xfrm>
            <a:off x="8046720" y="352044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49" name="Text 47"/>
          <p:cNvSpPr/>
          <p:nvPr/>
        </p:nvSpPr>
        <p:spPr>
          <a:xfrm>
            <a:off x="8503920" y="347472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Mission : initial → app, PR relue</a:t>
            </a:r>
            <a:endParaRPr lang="en-US" sz="1600" dirty="0"/>
          </a:p>
        </p:txBody>
      </p:sp>
      <p:sp>
        <p:nvSpPr>
          <p:cNvPr id="50" name="Shape 48"/>
          <p:cNvSpPr/>
          <p:nvPr/>
        </p:nvSpPr>
        <p:spPr>
          <a:xfrm>
            <a:off x="8046720" y="4389120"/>
            <a:ext cx="329184" cy="329184"/>
          </a:xfrm>
          <a:prstGeom prst="ellipse">
            <a:avLst/>
          </a:prstGeom>
          <a:solidFill>
            <a:srgbClr val="FF9A3C"/>
          </a:solidFill>
          <a:ln w="12700">
            <a:solidFill>
              <a:srgbClr val="FF9A3C"/>
            </a:solidFill>
            <a:prstDash val="solid"/>
          </a:ln>
        </p:spPr>
      </p:sp>
      <p:sp>
        <p:nvSpPr>
          <p:cNvPr id="51" name="Text 49"/>
          <p:cNvSpPr/>
          <p:nvPr/>
        </p:nvSpPr>
        <p:spPr>
          <a:xfrm>
            <a:off x="8046720" y="438912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52" name="Text 50"/>
          <p:cNvSpPr/>
          <p:nvPr/>
        </p:nvSpPr>
        <p:spPr>
          <a:xfrm>
            <a:off x="8503920" y="434340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Rapport Power BI actualisé (tronc commun)</a:t>
            </a:r>
            <a:endParaRPr lang="en-US" sz="1600" dirty="0"/>
          </a:p>
        </p:txBody>
      </p:sp>
      <p:sp>
        <p:nvSpPr>
          <p:cNvPr id="53" name="Shape 51"/>
          <p:cNvSpPr/>
          <p:nvPr/>
        </p:nvSpPr>
        <p:spPr>
          <a:xfrm>
            <a:off x="8046720" y="5257800"/>
            <a:ext cx="329184" cy="329184"/>
          </a:xfrm>
          <a:prstGeom prst="ellipse">
            <a:avLst/>
          </a:prstGeom>
          <a:solidFill>
            <a:srgbClr val="FF9A3C"/>
          </a:solidFill>
          <a:ln w="12700">
            <a:solidFill>
              <a:srgbClr val="FF9A3C"/>
            </a:solidFill>
            <a:prstDash val="solid"/>
          </a:ln>
        </p:spPr>
      </p:sp>
      <p:sp>
        <p:nvSpPr>
          <p:cNvPr id="54" name="Text 52"/>
          <p:cNvSpPr/>
          <p:nvPr/>
        </p:nvSpPr>
        <p:spPr>
          <a:xfrm>
            <a:off x="8046720" y="5257800"/>
            <a:ext cx="329184" cy="329184"/>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a:t>
            </a:r>
            <a:endParaRPr lang="en-US" sz="1400" dirty="0"/>
          </a:p>
        </p:txBody>
      </p:sp>
      <p:sp>
        <p:nvSpPr>
          <p:cNvPr id="55" name="Text 53"/>
          <p:cNvSpPr/>
          <p:nvPr/>
        </p:nvSpPr>
        <p:spPr>
          <a:xfrm>
            <a:off x="8503920" y="5212080"/>
            <a:ext cx="2956255"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Démo de 6 min devant un autre binôme</a:t>
            </a:r>
            <a:endParaRPr lang="en-US" sz="16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LE CATALOGUE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Votre mission : de la fin de S3 à la soutenance</a:t>
            </a:r>
            <a:endParaRPr lang="en-US" sz="3000" dirty="0"/>
          </a:p>
        </p:txBody>
      </p:sp>
      <p:sp>
        <p:nvSpPr>
          <p:cNvPr id="6" name="Shape 4"/>
          <p:cNvSpPr/>
          <p:nvPr/>
        </p:nvSpPr>
        <p:spPr>
          <a:xfrm>
            <a:off x="548640" y="1965960"/>
            <a:ext cx="1853123" cy="3108960"/>
          </a:xfrm>
          <a:prstGeom prst="roundRect">
            <a:avLst>
              <a:gd name="adj" fmla="val 4934"/>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Fin S3</a:t>
            </a:r>
            <a:endParaRPr lang="en-US" sz="1700" dirty="0"/>
          </a:p>
        </p:txBody>
      </p:sp>
      <p:sp>
        <p:nvSpPr>
          <p:cNvPr id="10" name="Text 8"/>
          <p:cNvSpPr/>
          <p:nvPr/>
        </p:nvSpPr>
        <p:spPr>
          <a:xfrm>
            <a:off x="749808"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choisir : deux fiches lues, choix noté dans JOURNAL.md</a:t>
            </a:r>
            <a:endParaRPr lang="en-US" sz="1500" dirty="0"/>
          </a:p>
        </p:txBody>
      </p:sp>
      <p:sp>
        <p:nvSpPr>
          <p:cNvPr id="11" name="Shape 9"/>
          <p:cNvSpPr/>
          <p:nvPr/>
        </p:nvSpPr>
        <p:spPr>
          <a:xfrm>
            <a:off x="2465771" y="3520440"/>
            <a:ext cx="329184" cy="0"/>
          </a:xfrm>
          <a:prstGeom prst="line">
            <a:avLst/>
          </a:prstGeom>
          <a:noFill/>
          <a:ln w="31750">
            <a:solidFill>
              <a:srgbClr val="FF9A3C"/>
            </a:solidFill>
            <a:prstDash val="solid"/>
            <a:tailEnd type="triangle"/>
          </a:ln>
        </p:spPr>
      </p:sp>
      <p:sp>
        <p:nvSpPr>
          <p:cNvPr id="12" name="Shape 10"/>
          <p:cNvSpPr/>
          <p:nvPr/>
        </p:nvSpPr>
        <p:spPr>
          <a:xfrm>
            <a:off x="2858963" y="1965960"/>
            <a:ext cx="1853123" cy="3108960"/>
          </a:xfrm>
          <a:prstGeom prst="roundRect">
            <a:avLst>
              <a:gd name="adj" fmla="val 4934"/>
            </a:avLst>
          </a:prstGeom>
          <a:solidFill>
            <a:srgbClr val="F3F5FC"/>
          </a:solidFill>
          <a:ln w="9525">
            <a:solidFill>
              <a:srgbClr val="F3F5FC"/>
            </a:solidFill>
            <a:prstDash val="solid"/>
          </a:ln>
        </p:spPr>
      </p:sp>
      <p:sp>
        <p:nvSpPr>
          <p:cNvPr id="13" name="Shape 11"/>
          <p:cNvSpPr/>
          <p:nvPr/>
        </p:nvSpPr>
        <p:spPr>
          <a:xfrm>
            <a:off x="3060131"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060131"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060131"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Avant S4</a:t>
            </a:r>
            <a:endParaRPr lang="en-US" sz="1700" dirty="0"/>
          </a:p>
        </p:txBody>
      </p:sp>
      <p:sp>
        <p:nvSpPr>
          <p:cNvPr id="16" name="Text 14"/>
          <p:cNvSpPr/>
          <p:nvPr/>
        </p:nvSpPr>
        <p:spPr>
          <a:xfrm>
            <a:off x="3060131"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lire la fiche, calculer l'échantillon à la main</a:t>
            </a:r>
            <a:endParaRPr lang="en-US" sz="1500" dirty="0"/>
          </a:p>
        </p:txBody>
      </p:sp>
      <p:sp>
        <p:nvSpPr>
          <p:cNvPr id="17" name="Shape 15"/>
          <p:cNvSpPr/>
          <p:nvPr/>
        </p:nvSpPr>
        <p:spPr>
          <a:xfrm>
            <a:off x="4776094" y="3520440"/>
            <a:ext cx="329184" cy="0"/>
          </a:xfrm>
          <a:prstGeom prst="line">
            <a:avLst/>
          </a:prstGeom>
          <a:noFill/>
          <a:ln w="31750">
            <a:solidFill>
              <a:srgbClr val="FF9A3C"/>
            </a:solidFill>
            <a:prstDash val="solid"/>
            <a:tailEnd type="triangle"/>
          </a:ln>
        </p:spPr>
      </p:sp>
      <p:sp>
        <p:nvSpPr>
          <p:cNvPr id="18" name="Shape 16"/>
          <p:cNvSpPr/>
          <p:nvPr/>
        </p:nvSpPr>
        <p:spPr>
          <a:xfrm>
            <a:off x="5169286" y="1965960"/>
            <a:ext cx="1853123" cy="3108960"/>
          </a:xfrm>
          <a:prstGeom prst="roundRect">
            <a:avLst>
              <a:gd name="adj" fmla="val 4934"/>
            </a:avLst>
          </a:prstGeom>
          <a:solidFill>
            <a:srgbClr val="F3F5FC"/>
          </a:solidFill>
          <a:ln w="9525">
            <a:solidFill>
              <a:srgbClr val="F3F5FC"/>
            </a:solidFill>
            <a:prstDash val="solid"/>
          </a:ln>
        </p:spPr>
      </p:sp>
      <p:sp>
        <p:nvSpPr>
          <p:cNvPr id="19" name="Shape 17"/>
          <p:cNvSpPr/>
          <p:nvPr/>
        </p:nvSpPr>
        <p:spPr>
          <a:xfrm>
            <a:off x="5370454"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5370454"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5370454"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Fin S4</a:t>
            </a:r>
            <a:endParaRPr lang="en-US" sz="1700" dirty="0"/>
          </a:p>
        </p:txBody>
      </p:sp>
      <p:sp>
        <p:nvSpPr>
          <p:cNvPr id="22" name="Text 20"/>
          <p:cNvSpPr/>
          <p:nvPr/>
        </p:nvSpPr>
        <p:spPr>
          <a:xfrm>
            <a:off x="5370454"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50 min : passer à votre mission, 1re PR</a:t>
            </a:r>
            <a:endParaRPr lang="en-US" sz="1500" dirty="0"/>
          </a:p>
        </p:txBody>
      </p:sp>
      <p:sp>
        <p:nvSpPr>
          <p:cNvPr id="23" name="Shape 21"/>
          <p:cNvSpPr/>
          <p:nvPr/>
        </p:nvSpPr>
        <p:spPr>
          <a:xfrm>
            <a:off x="7086417" y="3520440"/>
            <a:ext cx="329184" cy="0"/>
          </a:xfrm>
          <a:prstGeom prst="line">
            <a:avLst/>
          </a:prstGeom>
          <a:noFill/>
          <a:ln w="31750">
            <a:solidFill>
              <a:srgbClr val="FF9A3C"/>
            </a:solidFill>
            <a:prstDash val="solid"/>
            <a:tailEnd type="triangle"/>
          </a:ln>
        </p:spPr>
      </p:sp>
      <p:sp>
        <p:nvSpPr>
          <p:cNvPr id="24" name="Shape 22"/>
          <p:cNvSpPr/>
          <p:nvPr/>
        </p:nvSpPr>
        <p:spPr>
          <a:xfrm>
            <a:off x="7479609" y="1965960"/>
            <a:ext cx="1853123" cy="3108960"/>
          </a:xfrm>
          <a:prstGeom prst="roundRect">
            <a:avLst>
              <a:gd name="adj" fmla="val 4934"/>
            </a:avLst>
          </a:prstGeom>
          <a:solidFill>
            <a:srgbClr val="F3F5FC"/>
          </a:solidFill>
          <a:ln w="9525">
            <a:solidFill>
              <a:srgbClr val="F3F5FC"/>
            </a:solidFill>
            <a:prstDash val="solid"/>
          </a:ln>
        </p:spPr>
      </p:sp>
      <p:sp>
        <p:nvSpPr>
          <p:cNvPr id="25" name="Shape 23"/>
          <p:cNvSpPr/>
          <p:nvPr/>
        </p:nvSpPr>
        <p:spPr>
          <a:xfrm>
            <a:off x="7680777" y="2194560"/>
            <a:ext cx="420624" cy="420624"/>
          </a:xfrm>
          <a:prstGeom prst="ellipse">
            <a:avLst/>
          </a:prstGeom>
          <a:solidFill>
            <a:srgbClr val="2B3180"/>
          </a:solidFill>
          <a:ln w="12700">
            <a:solidFill>
              <a:srgbClr val="2B3180"/>
            </a:solidFill>
            <a:prstDash val="solid"/>
          </a:ln>
        </p:spPr>
      </p:sp>
      <p:sp>
        <p:nvSpPr>
          <p:cNvPr id="26" name="Text 24"/>
          <p:cNvSpPr/>
          <p:nvPr/>
        </p:nvSpPr>
        <p:spPr>
          <a:xfrm>
            <a:off x="7680777"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7680777"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S5</a:t>
            </a:r>
            <a:endParaRPr lang="en-US" sz="1700" dirty="0"/>
          </a:p>
        </p:txBody>
      </p:sp>
      <p:sp>
        <p:nvSpPr>
          <p:cNvPr id="28" name="Text 26"/>
          <p:cNvSpPr/>
          <p:nvPr/>
        </p:nvSpPr>
        <p:spPr>
          <a:xfrm>
            <a:off x="7680777"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100 min : initial → app, PR et revue croisée</a:t>
            </a:r>
            <a:endParaRPr lang="en-US" sz="1500" dirty="0"/>
          </a:p>
        </p:txBody>
      </p:sp>
      <p:sp>
        <p:nvSpPr>
          <p:cNvPr id="29" name="Shape 27"/>
          <p:cNvSpPr/>
          <p:nvPr/>
        </p:nvSpPr>
        <p:spPr>
          <a:xfrm>
            <a:off x="9396740" y="3520440"/>
            <a:ext cx="329184" cy="0"/>
          </a:xfrm>
          <a:prstGeom prst="line">
            <a:avLst/>
          </a:prstGeom>
          <a:noFill/>
          <a:ln w="31750">
            <a:solidFill>
              <a:srgbClr val="FF9A3C"/>
            </a:solidFill>
            <a:prstDash val="solid"/>
            <a:tailEnd type="triangle"/>
          </a:ln>
        </p:spPr>
      </p:sp>
      <p:sp>
        <p:nvSpPr>
          <p:cNvPr id="30" name="Shape 28"/>
          <p:cNvSpPr/>
          <p:nvPr/>
        </p:nvSpPr>
        <p:spPr>
          <a:xfrm>
            <a:off x="9789932" y="1965960"/>
            <a:ext cx="1853123" cy="3108960"/>
          </a:xfrm>
          <a:prstGeom prst="roundRect">
            <a:avLst>
              <a:gd name="adj" fmla="val 4934"/>
            </a:avLst>
          </a:prstGeom>
          <a:solidFill>
            <a:srgbClr val="2B3180"/>
          </a:solidFill>
          <a:ln w="9525">
            <a:solidFill>
              <a:srgbClr val="2B3180"/>
            </a:solidFill>
            <a:prstDash val="solid"/>
          </a:ln>
        </p:spPr>
      </p:sp>
      <p:sp>
        <p:nvSpPr>
          <p:cNvPr id="31" name="Shape 29"/>
          <p:cNvSpPr/>
          <p:nvPr/>
        </p:nvSpPr>
        <p:spPr>
          <a:xfrm>
            <a:off x="9991100" y="2194560"/>
            <a:ext cx="420624" cy="420624"/>
          </a:xfrm>
          <a:prstGeom prst="ellipse">
            <a:avLst/>
          </a:prstGeom>
          <a:solidFill>
            <a:srgbClr val="FF9A3C"/>
          </a:solidFill>
          <a:ln w="12700">
            <a:solidFill>
              <a:srgbClr val="FF9A3C"/>
            </a:solidFill>
            <a:prstDash val="solid"/>
          </a:ln>
        </p:spPr>
      </p:sp>
      <p:sp>
        <p:nvSpPr>
          <p:cNvPr id="32" name="Text 30"/>
          <p:cNvSpPr/>
          <p:nvPr/>
        </p:nvSpPr>
        <p:spPr>
          <a:xfrm>
            <a:off x="9991100"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5</a:t>
            </a:r>
            <a:endParaRPr lang="en-US" sz="1500" dirty="0"/>
          </a:p>
        </p:txBody>
      </p:sp>
      <p:sp>
        <p:nvSpPr>
          <p:cNvPr id="33" name="Text 31"/>
          <p:cNvSpPr/>
          <p:nvPr/>
        </p:nvSpPr>
        <p:spPr>
          <a:xfrm>
            <a:off x="9991100" y="2770632"/>
            <a:ext cx="1450787" cy="8229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Perso</a:t>
            </a:r>
            <a:endParaRPr lang="en-US" sz="1700" dirty="0"/>
          </a:p>
        </p:txBody>
      </p:sp>
      <p:sp>
        <p:nvSpPr>
          <p:cNvPr id="34" name="Text 32"/>
          <p:cNvSpPr/>
          <p:nvPr/>
        </p:nvSpPr>
        <p:spPr>
          <a:xfrm>
            <a:off x="9991100" y="3611880"/>
            <a:ext cx="1450787" cy="132588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4 h : mission, variante, Power BI si Windows</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2 h : reco et oral</a:t>
            </a:r>
            <a:endParaRPr lang="en-US" sz="1500" dirty="0"/>
          </a:p>
        </p:txBody>
      </p:sp>
      <p:sp>
        <p:nvSpPr>
          <p:cNvPr id="35" name="Shape 33"/>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6" name="Shape 34"/>
          <p:cNvSpPr/>
          <p:nvPr/>
        </p:nvSpPr>
        <p:spPr>
          <a:xfrm>
            <a:off x="694944" y="5733288"/>
            <a:ext cx="292608" cy="292608"/>
          </a:xfrm>
          <a:prstGeom prst="ellipse">
            <a:avLst/>
          </a:prstGeom>
          <a:solidFill>
            <a:srgbClr val="FF9A3C"/>
          </a:solidFill>
          <a:ln w="12700">
            <a:solidFill>
              <a:srgbClr val="FF9A3C"/>
            </a:solidFill>
            <a:prstDash val="solid"/>
          </a:ln>
        </p:spPr>
      </p:sp>
      <p:sp>
        <p:nvSpPr>
          <p:cNvPr id="37" name="Text 35"/>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8" name="Text 36"/>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Travail personnel ≈ 8 h = 2 h séance 0 + 4 h mission + 2 h finition et oral.</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S5 · LIVRAISON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Épisode 7 : « Présentez-moi tout ça vendredi »</a:t>
            </a:r>
            <a:endParaRPr lang="en-US" sz="3000" dirty="0"/>
          </a:p>
        </p:txBody>
      </p:sp>
      <p:sp>
        <p:nvSpPr>
          <p:cNvPr id="6" name="Shape 4"/>
          <p:cNvSpPr/>
          <p:nvPr/>
        </p:nvSpPr>
        <p:spPr>
          <a:xfrm>
            <a:off x="548640" y="1965960"/>
            <a:ext cx="2430704" cy="3657600"/>
          </a:xfrm>
          <a:prstGeom prst="roundRect">
            <a:avLst>
              <a:gd name="adj" fmla="val 3762"/>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 Voir avec mes filtres »</a:t>
            </a:r>
            <a:endParaRPr lang="en-US" sz="1900" dirty="0"/>
          </a:p>
        </p:txBody>
      </p:sp>
      <p:sp>
        <p:nvSpPr>
          <p:cNvPr id="10" name="Text 8"/>
          <p:cNvSpPr/>
          <p:nvPr/>
        </p:nvSpPr>
        <p:spPr>
          <a:xfrm>
            <a:off x="749808" y="3611880"/>
            <a:ext cx="2028368" cy="18745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application locale</a:t>
            </a:r>
            <a:endParaRPr lang="en-US" sz="1700" dirty="0"/>
          </a:p>
        </p:txBody>
      </p:sp>
      <p:sp>
        <p:nvSpPr>
          <p:cNvPr id="11" name="Shape 9"/>
          <p:cNvSpPr/>
          <p:nvPr/>
        </p:nvSpPr>
        <p:spPr>
          <a:xfrm>
            <a:off x="3043352" y="3794760"/>
            <a:ext cx="329184" cy="0"/>
          </a:xfrm>
          <a:prstGeom prst="line">
            <a:avLst/>
          </a:prstGeom>
          <a:noFill/>
          <a:ln w="31750">
            <a:solidFill>
              <a:srgbClr val="FF9A3C"/>
            </a:solidFill>
            <a:prstDash val="solid"/>
            <a:tailEnd type="triangle"/>
          </a:ln>
        </p:spPr>
      </p:sp>
      <p:sp>
        <p:nvSpPr>
          <p:cNvPr id="12" name="Shape 10"/>
          <p:cNvSpPr/>
          <p:nvPr/>
        </p:nvSpPr>
        <p:spPr>
          <a:xfrm>
            <a:off x="3436544" y="1965960"/>
            <a:ext cx="2430704" cy="3657600"/>
          </a:xfrm>
          <a:prstGeom prst="roundRect">
            <a:avLst>
              <a:gd name="adj" fmla="val 3762"/>
            </a:avLst>
          </a:prstGeom>
          <a:solidFill>
            <a:srgbClr val="F3F5FC"/>
          </a:solidFill>
          <a:ln w="9525">
            <a:solidFill>
              <a:srgbClr val="F3F5FC"/>
            </a:solidFill>
            <a:prstDash val="solid"/>
          </a:ln>
        </p:spPr>
      </p:sp>
      <p:sp>
        <p:nvSpPr>
          <p:cNvPr id="13" name="Shape 11"/>
          <p:cNvSpPr/>
          <p:nvPr/>
        </p:nvSpPr>
        <p:spPr>
          <a:xfrm>
            <a:off x="3637712"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637712"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637712"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 Pouvoir faire confiance »</a:t>
            </a:r>
            <a:endParaRPr lang="en-US" sz="1900" dirty="0"/>
          </a:p>
        </p:txBody>
      </p:sp>
      <p:sp>
        <p:nvSpPr>
          <p:cNvPr id="16" name="Text 14"/>
          <p:cNvSpPr/>
          <p:nvPr/>
        </p:nvSpPr>
        <p:spPr>
          <a:xfrm>
            <a:off x="3637712" y="3611880"/>
            <a:ext cx="2028368" cy="18745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Power BI actualisé + contrôles</a:t>
            </a:r>
            <a:endParaRPr lang="en-US" sz="1700" dirty="0"/>
          </a:p>
        </p:txBody>
      </p:sp>
      <p:sp>
        <p:nvSpPr>
          <p:cNvPr id="17" name="Shape 15"/>
          <p:cNvSpPr/>
          <p:nvPr/>
        </p:nvSpPr>
        <p:spPr>
          <a:xfrm>
            <a:off x="5931256" y="3794760"/>
            <a:ext cx="329184" cy="0"/>
          </a:xfrm>
          <a:prstGeom prst="line">
            <a:avLst/>
          </a:prstGeom>
          <a:noFill/>
          <a:ln w="31750">
            <a:solidFill>
              <a:srgbClr val="FF9A3C"/>
            </a:solidFill>
            <a:prstDash val="solid"/>
            <a:tailEnd type="triangle"/>
          </a:ln>
        </p:spPr>
      </p:sp>
      <p:sp>
        <p:nvSpPr>
          <p:cNvPr id="18" name="Shape 16"/>
          <p:cNvSpPr/>
          <p:nvPr/>
        </p:nvSpPr>
        <p:spPr>
          <a:xfrm>
            <a:off x="6324448" y="1965960"/>
            <a:ext cx="2430704" cy="3657600"/>
          </a:xfrm>
          <a:prstGeom prst="roundRect">
            <a:avLst>
              <a:gd name="adj" fmla="val 3762"/>
            </a:avLst>
          </a:prstGeom>
          <a:solidFill>
            <a:srgbClr val="F3F5FC"/>
          </a:solidFill>
          <a:ln w="9525">
            <a:solidFill>
              <a:srgbClr val="F3F5FC"/>
            </a:solidFill>
            <a:prstDash val="solid"/>
          </a:ln>
        </p:spPr>
      </p:sp>
      <p:sp>
        <p:nvSpPr>
          <p:cNvPr id="19" name="Shape 17"/>
          <p:cNvSpPr/>
          <p:nvPr/>
        </p:nvSpPr>
        <p:spPr>
          <a:xfrm>
            <a:off x="6525616"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6525616"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6525616"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 Que conseillez-vous ? »</a:t>
            </a:r>
            <a:endParaRPr lang="en-US" sz="1900" dirty="0"/>
          </a:p>
        </p:txBody>
      </p:sp>
      <p:sp>
        <p:nvSpPr>
          <p:cNvPr id="22" name="Text 20"/>
          <p:cNvSpPr/>
          <p:nvPr/>
        </p:nvSpPr>
        <p:spPr>
          <a:xfrm>
            <a:off x="6525616" y="3611880"/>
            <a:ext cx="2028368" cy="18745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recommandation chiffrée (perso)</a:t>
            </a:r>
            <a:endParaRPr lang="en-US" sz="1700" dirty="0"/>
          </a:p>
        </p:txBody>
      </p:sp>
      <p:sp>
        <p:nvSpPr>
          <p:cNvPr id="23" name="Shape 21"/>
          <p:cNvSpPr/>
          <p:nvPr/>
        </p:nvSpPr>
        <p:spPr>
          <a:xfrm>
            <a:off x="8819159" y="3794760"/>
            <a:ext cx="329184" cy="0"/>
          </a:xfrm>
          <a:prstGeom prst="line">
            <a:avLst/>
          </a:prstGeom>
          <a:noFill/>
          <a:ln w="31750">
            <a:solidFill>
              <a:srgbClr val="FF9A3C"/>
            </a:solidFill>
            <a:prstDash val="solid"/>
            <a:tailEnd type="triangle"/>
          </a:ln>
        </p:spPr>
      </p:sp>
      <p:sp>
        <p:nvSpPr>
          <p:cNvPr id="24" name="Shape 22"/>
          <p:cNvSpPr/>
          <p:nvPr/>
        </p:nvSpPr>
        <p:spPr>
          <a:xfrm>
            <a:off x="9212351" y="1965960"/>
            <a:ext cx="2430704" cy="3657600"/>
          </a:xfrm>
          <a:prstGeom prst="roundRect">
            <a:avLst>
              <a:gd name="adj" fmla="val 3762"/>
            </a:avLst>
          </a:prstGeom>
          <a:solidFill>
            <a:srgbClr val="2B3180"/>
          </a:solidFill>
          <a:ln w="9525">
            <a:solidFill>
              <a:srgbClr val="2B3180"/>
            </a:solidFill>
            <a:prstDash val="solid"/>
          </a:ln>
        </p:spPr>
      </p:sp>
      <p:sp>
        <p:nvSpPr>
          <p:cNvPr id="25" name="Shape 23"/>
          <p:cNvSpPr/>
          <p:nvPr/>
        </p:nvSpPr>
        <p:spPr>
          <a:xfrm>
            <a:off x="9413519" y="2194560"/>
            <a:ext cx="420624" cy="420624"/>
          </a:xfrm>
          <a:prstGeom prst="ellipse">
            <a:avLst/>
          </a:prstGeom>
          <a:solidFill>
            <a:srgbClr val="FF9A3C"/>
          </a:solidFill>
          <a:ln w="12700">
            <a:solidFill>
              <a:srgbClr val="FF9A3C"/>
            </a:solidFill>
            <a:prstDash val="solid"/>
          </a:ln>
        </p:spPr>
      </p:sp>
      <p:sp>
        <p:nvSpPr>
          <p:cNvPr id="26" name="Text 24"/>
          <p:cNvSpPr/>
          <p:nvPr/>
        </p:nvSpPr>
        <p:spPr>
          <a:xfrm>
            <a:off x="9413519"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9413519" y="2770632"/>
            <a:ext cx="2028368"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 Chacun répondra »</a:t>
            </a:r>
            <a:endParaRPr lang="en-US" sz="1900" dirty="0"/>
          </a:p>
        </p:txBody>
      </p:sp>
      <p:sp>
        <p:nvSpPr>
          <p:cNvPr id="28" name="Text 26"/>
          <p:cNvSpPr/>
          <p:nvPr/>
        </p:nvSpPr>
        <p:spPr>
          <a:xfrm>
            <a:off x="9413519" y="3611880"/>
            <a:ext cx="2028368" cy="187452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démo répétée à deux</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S5 · APPLICATION</a:t>
            </a:r>
            <a:endParaRPr lang="en-US" sz="1400" dirty="0"/>
          </a:p>
        </p:txBody>
      </p:sp>
      <p:sp>
        <p:nvSpPr>
          <p:cNvPr id="5" name="Text 3"/>
          <p:cNvSpPr/>
          <p:nvPr/>
        </p:nvSpPr>
        <p:spPr>
          <a:xfrm>
            <a:off x="548640" y="676656"/>
            <a:ext cx="78940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Vue direction : cinq indicateurs</a:t>
            </a:r>
            <a:endParaRPr lang="en-US" sz="2800" dirty="0"/>
          </a:p>
        </p:txBody>
      </p:sp>
      <p:sp>
        <p:nvSpPr>
          <p:cNvPr id="6" name="Shape 4"/>
          <p:cNvSpPr/>
          <p:nvPr/>
        </p:nvSpPr>
        <p:spPr>
          <a:xfrm>
            <a:off x="8716975" y="768096"/>
            <a:ext cx="2926080" cy="365760"/>
          </a:xfrm>
          <a:prstGeom prst="roundRect">
            <a:avLst>
              <a:gd name="adj" fmla="val 50000"/>
            </a:avLst>
          </a:prstGeom>
          <a:solidFill>
            <a:srgbClr val="FF9A3C"/>
          </a:solidFill>
          <a:ln w="12700">
            <a:solidFill>
              <a:srgbClr val="FF9A3C"/>
            </a:solidFill>
            <a:prstDash val="solid"/>
          </a:ln>
        </p:spPr>
      </p:sp>
      <p:sp>
        <p:nvSpPr>
          <p:cNvPr id="7" name="Text 5"/>
          <p:cNvSpPr/>
          <p:nvPr/>
        </p:nvSpPr>
        <p:spPr>
          <a:xfrm>
            <a:off x="8716975" y="768096"/>
            <a:ext cx="29260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CAPTURE RÉELLE · macOS</a:t>
            </a:r>
            <a:endParaRPr lang="en-US" sz="1400" dirty="0"/>
          </a:p>
        </p:txBody>
      </p:sp>
      <p:sp>
        <p:nvSpPr>
          <p:cNvPr id="8" name="Shape 6"/>
          <p:cNvSpPr/>
          <p:nvPr/>
        </p:nvSpPr>
        <p:spPr>
          <a:xfrm>
            <a:off x="493776" y="1316736"/>
            <a:ext cx="11204143" cy="3049748"/>
          </a:xfrm>
          <a:prstGeom prst="roundRect">
            <a:avLst>
              <a:gd name="adj" fmla="val 1799"/>
            </a:avLst>
          </a:prstGeom>
          <a:solidFill>
            <a:srgbClr val="FFFFFF"/>
          </a:solidFill>
          <a:ln w="9525">
            <a:solidFill>
              <a:srgbClr val="DCE2F0"/>
            </a:solidFill>
            <a:prstDash val="solid"/>
          </a:ln>
        </p:spPr>
      </p:sp>
      <p:pic>
        <p:nvPicPr>
          <p:cNvPr id="9" name="Image 0" descr="Capture réelle, macOS · application de référence, après lots 1 et 2 · haut de la Vue direction.">    </p:cNvPr>
          <p:cNvPicPr>
            <a:picLocks noChangeAspect="1"/>
          </p:cNvPicPr>
          <p:nvPr/>
        </p:nvPicPr>
        <p:blipFill>
          <a:blip r:embed="rId1"/>
          <a:srcRect l="0" r="0" t="0" b="62742"/>
          <a:stretch/>
        </p:blipFill>
        <p:spPr>
          <a:xfrm>
            <a:off x="548640" y="1371600"/>
            <a:ext cx="11094415" cy="2940020"/>
          </a:xfrm>
          <a:prstGeom prst="rect">
            <a:avLst/>
          </a:prstGeom>
        </p:spPr>
      </p:pic>
      <p:sp>
        <p:nvSpPr>
          <p:cNvPr id="10" name="Text 7"/>
          <p:cNvSpPr/>
          <p:nvPr/>
        </p:nvSpPr>
        <p:spPr>
          <a:xfrm>
            <a:off x="548640" y="4421348"/>
            <a:ext cx="11094415" cy="384048"/>
          </a:xfrm>
          <a:prstGeom prst="rect">
            <a:avLst/>
          </a:prstGeom>
          <a:noFill/>
          <a:ln/>
        </p:spPr>
        <p:txBody>
          <a:bodyPr wrap="square" lIns="0" tIns="0" rIns="0" bIns="0" rtlCol="0" anchor="ctr"/>
          <a:lstStyle/>
          <a:p>
            <a:pPr algn="ctr" indent="0" marL="0">
              <a:buNone/>
            </a:pPr>
            <a:r>
              <a:rPr lang="en-US" sz="1400" i="1" dirty="0">
                <a:solidFill>
                  <a:srgbClr val="5A6478"/>
                </a:solidFill>
                <a:latin typeface="Arial" pitchFamily="34" charset="0"/>
                <a:ea typeface="Arial" pitchFamily="34" charset="-122"/>
                <a:cs typeface="Arial" pitchFamily="34" charset="-120"/>
              </a:rPr>
              <a:t>Capture réelle, macOS · application de référence, après lots 1 et 2 · haut de la Vue direction.</a:t>
            </a:r>
            <a:endParaRPr lang="en-US" sz="1400" dirty="0"/>
          </a:p>
        </p:txBody>
      </p:sp>
      <p:sp>
        <p:nvSpPr>
          <p:cNvPr id="11" name="Shape 8"/>
          <p:cNvSpPr/>
          <p:nvPr/>
        </p:nvSpPr>
        <p:spPr>
          <a:xfrm>
            <a:off x="548640" y="4960844"/>
            <a:ext cx="365760" cy="365760"/>
          </a:xfrm>
          <a:prstGeom prst="ellipse">
            <a:avLst/>
          </a:prstGeom>
          <a:solidFill>
            <a:srgbClr val="FF9A3C"/>
          </a:solidFill>
          <a:ln w="12700">
            <a:solidFill>
              <a:srgbClr val="FF9A3C"/>
            </a:solidFill>
            <a:prstDash val="solid"/>
          </a:ln>
        </p:spPr>
      </p:sp>
      <p:sp>
        <p:nvSpPr>
          <p:cNvPr id="12" name="Text 9"/>
          <p:cNvSpPr/>
          <p:nvPr/>
        </p:nvSpPr>
        <p:spPr>
          <a:xfrm>
            <a:off x="548640" y="496084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3" name="Text 10"/>
          <p:cNvSpPr/>
          <p:nvPr/>
        </p:nvSpPr>
        <p:spPr>
          <a:xfrm>
            <a:off x="1024128" y="4942556"/>
            <a:ext cx="3009290" cy="91440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Cinq indicateurs en cartes, en TND.</a:t>
            </a:r>
            <a:endParaRPr lang="en-US" sz="1700" dirty="0"/>
          </a:p>
        </p:txBody>
      </p:sp>
      <p:sp>
        <p:nvSpPr>
          <p:cNvPr id="14" name="Shape 11"/>
          <p:cNvSpPr/>
          <p:nvPr/>
        </p:nvSpPr>
        <p:spPr>
          <a:xfrm>
            <a:off x="4353458" y="4960844"/>
            <a:ext cx="365760" cy="365760"/>
          </a:xfrm>
          <a:prstGeom prst="ellipse">
            <a:avLst/>
          </a:prstGeom>
          <a:solidFill>
            <a:srgbClr val="FF9A3C"/>
          </a:solidFill>
          <a:ln w="12700">
            <a:solidFill>
              <a:srgbClr val="FF9A3C"/>
            </a:solidFill>
            <a:prstDash val="solid"/>
          </a:ln>
        </p:spPr>
      </p:sp>
      <p:sp>
        <p:nvSpPr>
          <p:cNvPr id="15" name="Text 12"/>
          <p:cNvSpPr/>
          <p:nvPr/>
        </p:nvSpPr>
        <p:spPr>
          <a:xfrm>
            <a:off x="4353458" y="496084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4828946" y="4942556"/>
            <a:ext cx="3009290" cy="91440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Filtres : période, boutique, zone.</a:t>
            </a:r>
            <a:endParaRPr lang="en-US" sz="1700" dirty="0"/>
          </a:p>
        </p:txBody>
      </p:sp>
      <p:sp>
        <p:nvSpPr>
          <p:cNvPr id="17" name="Shape 14"/>
          <p:cNvSpPr/>
          <p:nvPr/>
        </p:nvSpPr>
        <p:spPr>
          <a:xfrm>
            <a:off x="8158277" y="4960844"/>
            <a:ext cx="365760" cy="365760"/>
          </a:xfrm>
          <a:prstGeom prst="ellipse">
            <a:avLst/>
          </a:prstGeom>
          <a:solidFill>
            <a:srgbClr val="FF9A3C"/>
          </a:solidFill>
          <a:ln w="12700">
            <a:solidFill>
              <a:srgbClr val="FF9A3C"/>
            </a:solidFill>
            <a:prstDash val="solid"/>
          </a:ln>
        </p:spPr>
      </p:sp>
      <p:sp>
        <p:nvSpPr>
          <p:cNvPr id="18" name="Text 15"/>
          <p:cNvSpPr/>
          <p:nvPr/>
        </p:nvSpPr>
        <p:spPr>
          <a:xfrm>
            <a:off x="8158277" y="4960844"/>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9" name="Text 16"/>
          <p:cNvSpPr/>
          <p:nvPr/>
        </p:nvSpPr>
        <p:spPr>
          <a:xfrm>
            <a:off x="8633765" y="4942556"/>
            <a:ext cx="3009290" cy="91440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Ventes nettes 91 444,460 TND = référence.</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S5 · APPLICATION</a:t>
            </a:r>
            <a:endParaRPr lang="en-US" sz="1400" dirty="0"/>
          </a:p>
        </p:txBody>
      </p:sp>
      <p:sp>
        <p:nvSpPr>
          <p:cNvPr id="5" name="Text 3"/>
          <p:cNvSpPr/>
          <p:nvPr/>
        </p:nvSpPr>
        <p:spPr>
          <a:xfrm>
            <a:off x="548640" y="676656"/>
            <a:ext cx="7894015" cy="548640"/>
          </a:xfrm>
          <a:prstGeom prst="rect">
            <a:avLst/>
          </a:prstGeom>
          <a:noFill/>
          <a:ln/>
        </p:spPr>
        <p:txBody>
          <a:bodyPr wrap="square" lIns="0" tIns="0" rIns="0" bIns="0" rtlCol="0" anchor="ctr"/>
          <a:lstStyle/>
          <a:p>
            <a:pPr indent="0" marL="0">
              <a:buNone/>
            </a:pPr>
            <a:r>
              <a:rPr lang="en-US" sz="2200" b="1" dirty="0">
                <a:solidFill>
                  <a:srgbClr val="1A1F4D"/>
                </a:solidFill>
                <a:latin typeface="Arial" pitchFamily="34" charset="0"/>
                <a:ea typeface="Arial" pitchFamily="34" charset="-122"/>
                <a:cs typeface="Arial" pitchFamily="34" charset="-120"/>
              </a:rPr>
              <a:t>Vue direction : ventes nettes par mois et zone</a:t>
            </a:r>
            <a:endParaRPr lang="en-US" sz="2200" dirty="0"/>
          </a:p>
        </p:txBody>
      </p:sp>
      <p:sp>
        <p:nvSpPr>
          <p:cNvPr id="6" name="Shape 4"/>
          <p:cNvSpPr/>
          <p:nvPr/>
        </p:nvSpPr>
        <p:spPr>
          <a:xfrm>
            <a:off x="8716975" y="768096"/>
            <a:ext cx="2926080" cy="365760"/>
          </a:xfrm>
          <a:prstGeom prst="roundRect">
            <a:avLst>
              <a:gd name="adj" fmla="val 50000"/>
            </a:avLst>
          </a:prstGeom>
          <a:solidFill>
            <a:srgbClr val="FF9A3C"/>
          </a:solidFill>
          <a:ln w="12700">
            <a:solidFill>
              <a:srgbClr val="FF9A3C"/>
            </a:solidFill>
            <a:prstDash val="solid"/>
          </a:ln>
        </p:spPr>
      </p:sp>
      <p:sp>
        <p:nvSpPr>
          <p:cNvPr id="7" name="Text 5"/>
          <p:cNvSpPr/>
          <p:nvPr/>
        </p:nvSpPr>
        <p:spPr>
          <a:xfrm>
            <a:off x="8716975" y="768096"/>
            <a:ext cx="29260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CAPTURE RÉELLE · macOS</a:t>
            </a:r>
            <a:endParaRPr lang="en-US" sz="1400" dirty="0"/>
          </a:p>
        </p:txBody>
      </p:sp>
      <p:sp>
        <p:nvSpPr>
          <p:cNvPr id="8" name="Shape 6"/>
          <p:cNvSpPr/>
          <p:nvPr/>
        </p:nvSpPr>
        <p:spPr>
          <a:xfrm>
            <a:off x="976378" y="1316736"/>
            <a:ext cx="10238938" cy="4599432"/>
          </a:xfrm>
          <a:prstGeom prst="roundRect">
            <a:avLst>
              <a:gd name="adj" fmla="val 1193"/>
            </a:avLst>
          </a:prstGeom>
          <a:solidFill>
            <a:srgbClr val="FFFFFF"/>
          </a:solidFill>
          <a:ln w="9525">
            <a:solidFill>
              <a:srgbClr val="DCE2F0"/>
            </a:solidFill>
            <a:prstDash val="solid"/>
          </a:ln>
        </p:spPr>
      </p:sp>
      <p:pic>
        <p:nvPicPr>
          <p:cNvPr id="9" name="Image 0" descr="Capture réelle, macOS · application de référence, après lots 1 et 2 · réussite : ventes nettes 91 444,460 TND = référence.">    </p:cNvPr>
          <p:cNvPicPr>
            <a:picLocks noChangeAspect="1"/>
          </p:cNvPicPr>
          <p:nvPr/>
        </p:nvPicPr>
        <p:blipFill>
          <a:blip r:embed="rId1"/>
          <a:srcRect l="1250" r="6250" t="39016" b="3339"/>
          <a:stretch/>
        </p:blipFill>
        <p:spPr>
          <a:xfrm>
            <a:off x="1031242" y="1371600"/>
            <a:ext cx="10129210" cy="4489704"/>
          </a:xfrm>
          <a:prstGeom prst="rect">
            <a:avLst/>
          </a:prstGeom>
        </p:spPr>
      </p:pic>
      <p:sp>
        <p:nvSpPr>
          <p:cNvPr id="10" name="Text 7"/>
          <p:cNvSpPr/>
          <p:nvPr/>
        </p:nvSpPr>
        <p:spPr>
          <a:xfrm>
            <a:off x="548640" y="5971032"/>
            <a:ext cx="11094415" cy="384048"/>
          </a:xfrm>
          <a:prstGeom prst="rect">
            <a:avLst/>
          </a:prstGeom>
          <a:noFill/>
          <a:ln/>
        </p:spPr>
        <p:txBody>
          <a:bodyPr wrap="square" lIns="0" tIns="0" rIns="0" bIns="0" rtlCol="0" anchor="ctr"/>
          <a:lstStyle/>
          <a:p>
            <a:pPr algn="ctr" indent="0" marL="0">
              <a:buNone/>
            </a:pPr>
            <a:r>
              <a:rPr lang="en-US" sz="1400" i="1" dirty="0">
                <a:solidFill>
                  <a:srgbClr val="5A6478"/>
                </a:solidFill>
                <a:latin typeface="Arial" pitchFamily="34" charset="0"/>
                <a:ea typeface="Arial" pitchFamily="34" charset="-122"/>
                <a:cs typeface="Arial" pitchFamily="34" charset="-120"/>
              </a:rPr>
              <a:t>Capture réelle, macOS · application de référence, après lots 1 et 2 · réussite : ventes nettes 91 444,460 TND = référence.</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S5 · APPLICATION</a:t>
            </a:r>
            <a:endParaRPr lang="en-US" sz="1400" dirty="0"/>
          </a:p>
        </p:txBody>
      </p:sp>
      <p:sp>
        <p:nvSpPr>
          <p:cNvPr id="5" name="Text 3"/>
          <p:cNvSpPr/>
          <p:nvPr/>
        </p:nvSpPr>
        <p:spPr>
          <a:xfrm>
            <a:off x="548640" y="676656"/>
            <a:ext cx="7894015" cy="548640"/>
          </a:xfrm>
          <a:prstGeom prst="rect">
            <a:avLst/>
          </a:prstGeom>
          <a:noFill/>
          <a:ln/>
        </p:spPr>
        <p:txBody>
          <a:bodyPr wrap="square" lIns="0" tIns="0" rIns="0" bIns="0" rtlCol="0" anchor="ctr"/>
          <a:lstStyle/>
          <a:p>
            <a:pPr indent="0" marL="0">
              <a:buNone/>
            </a:pPr>
            <a:r>
              <a:rPr lang="en-US" sz="2400" b="1" dirty="0">
                <a:solidFill>
                  <a:srgbClr val="1A1F4D"/>
                </a:solidFill>
                <a:latin typeface="Arial" pitchFamily="34" charset="0"/>
                <a:ea typeface="Arial" pitchFamily="34" charset="-122"/>
                <a:cs typeface="Arial" pitchFamily="34" charset="-120"/>
              </a:rPr>
              <a:t>L'application locale : Qualité des données</a:t>
            </a:r>
            <a:endParaRPr lang="en-US" sz="2400" dirty="0"/>
          </a:p>
        </p:txBody>
      </p:sp>
      <p:sp>
        <p:nvSpPr>
          <p:cNvPr id="6" name="Shape 4"/>
          <p:cNvSpPr/>
          <p:nvPr/>
        </p:nvSpPr>
        <p:spPr>
          <a:xfrm>
            <a:off x="8716975" y="768096"/>
            <a:ext cx="2926080" cy="365760"/>
          </a:xfrm>
          <a:prstGeom prst="roundRect">
            <a:avLst>
              <a:gd name="adj" fmla="val 50000"/>
            </a:avLst>
          </a:prstGeom>
          <a:solidFill>
            <a:srgbClr val="FF9A3C"/>
          </a:solidFill>
          <a:ln w="12700">
            <a:solidFill>
              <a:srgbClr val="FF9A3C"/>
            </a:solidFill>
            <a:prstDash val="solid"/>
          </a:ln>
        </p:spPr>
      </p:sp>
      <p:sp>
        <p:nvSpPr>
          <p:cNvPr id="7" name="Text 5"/>
          <p:cNvSpPr/>
          <p:nvPr/>
        </p:nvSpPr>
        <p:spPr>
          <a:xfrm>
            <a:off x="8716975" y="768096"/>
            <a:ext cx="292608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CAPTURE RÉELLE · macOS</a:t>
            </a:r>
            <a:endParaRPr lang="en-US" sz="1400" dirty="0"/>
          </a:p>
        </p:txBody>
      </p:sp>
      <p:sp>
        <p:nvSpPr>
          <p:cNvPr id="8" name="Shape 6"/>
          <p:cNvSpPr/>
          <p:nvPr/>
        </p:nvSpPr>
        <p:spPr>
          <a:xfrm>
            <a:off x="1102309" y="1316736"/>
            <a:ext cx="9987077" cy="4599432"/>
          </a:xfrm>
          <a:prstGeom prst="roundRect">
            <a:avLst>
              <a:gd name="adj" fmla="val 1193"/>
            </a:avLst>
          </a:prstGeom>
          <a:solidFill>
            <a:srgbClr val="FFFFFF"/>
          </a:solidFill>
          <a:ln w="9525">
            <a:solidFill>
              <a:srgbClr val="DCE2F0"/>
            </a:solidFill>
            <a:prstDash val="solid"/>
          </a:ln>
        </p:spPr>
      </p:sp>
      <p:pic>
        <p:nvPicPr>
          <p:cNvPr id="9" name="Image 0" descr="Capture réelle, macOS · application de référence · réussite : rejets par motif = reference/README.md.">    </p:cNvPr>
          <p:cNvPicPr>
            <a:picLocks noChangeAspect="1"/>
          </p:cNvPicPr>
          <p:nvPr/>
        </p:nvPicPr>
        <p:blipFill>
          <a:blip r:embed="rId1"/>
          <a:srcRect l="1500" r="7750" t="30605" b="10676"/>
          <a:stretch/>
        </p:blipFill>
        <p:spPr>
          <a:xfrm>
            <a:off x="1157173" y="1371600"/>
            <a:ext cx="9877349" cy="4489704"/>
          </a:xfrm>
          <a:prstGeom prst="rect">
            <a:avLst/>
          </a:prstGeom>
        </p:spPr>
      </p:pic>
      <p:sp>
        <p:nvSpPr>
          <p:cNvPr id="10" name="Text 7"/>
          <p:cNvSpPr/>
          <p:nvPr/>
        </p:nvSpPr>
        <p:spPr>
          <a:xfrm>
            <a:off x="548640" y="5971032"/>
            <a:ext cx="11094415" cy="384048"/>
          </a:xfrm>
          <a:prstGeom prst="rect">
            <a:avLst/>
          </a:prstGeom>
          <a:noFill/>
          <a:ln/>
        </p:spPr>
        <p:txBody>
          <a:bodyPr wrap="square" lIns="0" tIns="0" rIns="0" bIns="0" rtlCol="0" anchor="ctr"/>
          <a:lstStyle/>
          <a:p>
            <a:pPr algn="ctr" indent="0" marL="0">
              <a:buNone/>
            </a:pPr>
            <a:r>
              <a:rPr lang="en-US" sz="1400" i="1" dirty="0">
                <a:solidFill>
                  <a:srgbClr val="5A6478"/>
                </a:solidFill>
                <a:latin typeface="Arial" pitchFamily="34" charset="0"/>
                <a:ea typeface="Arial" pitchFamily="34" charset="-122"/>
                <a:cs typeface="Arial" pitchFamily="34" charset="-120"/>
              </a:rPr>
              <a:t>Capture réelle, macOS · application de référence · réussite : rejets par motif = reference/README.md.</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S5 · POWER BI</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Power BI Desktop : quatre gestes</a:t>
            </a:r>
            <a:endParaRPr lang="en-US" sz="3000" dirty="0"/>
          </a:p>
        </p:txBody>
      </p:sp>
      <p:sp>
        <p:nvSpPr>
          <p:cNvPr id="6" name="Shape 4"/>
          <p:cNvSpPr/>
          <p:nvPr/>
        </p:nvSpPr>
        <p:spPr>
          <a:xfrm>
            <a:off x="548640" y="1965960"/>
            <a:ext cx="2430704" cy="3108960"/>
          </a:xfrm>
          <a:prstGeom prst="roundRect">
            <a:avLst>
              <a:gd name="adj" fmla="val 3762"/>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Importer</a:t>
            </a:r>
            <a:endParaRPr lang="en-US" sz="1900" dirty="0"/>
          </a:p>
        </p:txBody>
      </p:sp>
      <p:sp>
        <p:nvSpPr>
          <p:cNvPr id="10" name="Text 8"/>
          <p:cNvSpPr/>
          <p:nvPr/>
        </p:nvSpPr>
        <p:spPr>
          <a:xfrm>
            <a:off x="749808"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5 CSV exportés, types fixés</a:t>
            </a:r>
            <a:endParaRPr lang="en-US" sz="1700" dirty="0"/>
          </a:p>
        </p:txBody>
      </p:sp>
      <p:sp>
        <p:nvSpPr>
          <p:cNvPr id="11" name="Shape 9"/>
          <p:cNvSpPr/>
          <p:nvPr/>
        </p:nvSpPr>
        <p:spPr>
          <a:xfrm>
            <a:off x="3043352" y="3520440"/>
            <a:ext cx="329184" cy="0"/>
          </a:xfrm>
          <a:prstGeom prst="line">
            <a:avLst/>
          </a:prstGeom>
          <a:noFill/>
          <a:ln w="31750">
            <a:solidFill>
              <a:srgbClr val="FF9A3C"/>
            </a:solidFill>
            <a:prstDash val="solid"/>
            <a:tailEnd type="triangle"/>
          </a:ln>
        </p:spPr>
      </p:sp>
      <p:sp>
        <p:nvSpPr>
          <p:cNvPr id="12" name="Shape 10"/>
          <p:cNvSpPr/>
          <p:nvPr/>
        </p:nvSpPr>
        <p:spPr>
          <a:xfrm>
            <a:off x="3436544" y="1965960"/>
            <a:ext cx="2430704" cy="3108960"/>
          </a:xfrm>
          <a:prstGeom prst="roundRect">
            <a:avLst>
              <a:gd name="adj" fmla="val 3762"/>
            </a:avLst>
          </a:prstGeom>
          <a:solidFill>
            <a:srgbClr val="F3F5FC"/>
          </a:solidFill>
          <a:ln w="9525">
            <a:solidFill>
              <a:srgbClr val="F3F5FC"/>
            </a:solidFill>
            <a:prstDash val="solid"/>
          </a:ln>
        </p:spPr>
      </p:sp>
      <p:sp>
        <p:nvSpPr>
          <p:cNvPr id="13" name="Shape 11"/>
          <p:cNvSpPr/>
          <p:nvPr/>
        </p:nvSpPr>
        <p:spPr>
          <a:xfrm>
            <a:off x="3637712"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637712"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637712"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Relier</a:t>
            </a:r>
            <a:endParaRPr lang="en-US" sz="1900" dirty="0"/>
          </a:p>
        </p:txBody>
      </p:sp>
      <p:sp>
        <p:nvSpPr>
          <p:cNvPr id="16" name="Text 14"/>
          <p:cNvSpPr/>
          <p:nvPr/>
        </p:nvSpPr>
        <p:spPr>
          <a:xfrm>
            <a:off x="3637712"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6 relations 1:* par *_key</a:t>
            </a:r>
            <a:endParaRPr lang="en-US" sz="1700" dirty="0"/>
          </a:p>
        </p:txBody>
      </p:sp>
      <p:sp>
        <p:nvSpPr>
          <p:cNvPr id="17" name="Shape 15"/>
          <p:cNvSpPr/>
          <p:nvPr/>
        </p:nvSpPr>
        <p:spPr>
          <a:xfrm>
            <a:off x="5931256" y="3520440"/>
            <a:ext cx="329184" cy="0"/>
          </a:xfrm>
          <a:prstGeom prst="line">
            <a:avLst/>
          </a:prstGeom>
          <a:noFill/>
          <a:ln w="31750">
            <a:solidFill>
              <a:srgbClr val="FF9A3C"/>
            </a:solidFill>
            <a:prstDash val="solid"/>
            <a:tailEnd type="triangle"/>
          </a:ln>
        </p:spPr>
      </p:sp>
      <p:sp>
        <p:nvSpPr>
          <p:cNvPr id="18" name="Shape 16"/>
          <p:cNvSpPr/>
          <p:nvPr/>
        </p:nvSpPr>
        <p:spPr>
          <a:xfrm>
            <a:off x="6324448" y="1965960"/>
            <a:ext cx="2430704" cy="3108960"/>
          </a:xfrm>
          <a:prstGeom prst="roundRect">
            <a:avLst>
              <a:gd name="adj" fmla="val 3762"/>
            </a:avLst>
          </a:prstGeom>
          <a:solidFill>
            <a:srgbClr val="F3F5FC"/>
          </a:solidFill>
          <a:ln w="9525">
            <a:solidFill>
              <a:srgbClr val="F3F5FC"/>
            </a:solidFill>
            <a:prstDash val="solid"/>
          </a:ln>
        </p:spPr>
      </p:sp>
      <p:sp>
        <p:nvSpPr>
          <p:cNvPr id="19" name="Shape 17"/>
          <p:cNvSpPr/>
          <p:nvPr/>
        </p:nvSpPr>
        <p:spPr>
          <a:xfrm>
            <a:off x="6525616"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6525616"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6525616" y="2770632"/>
            <a:ext cx="2028368" cy="82296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Mesurer</a:t>
            </a:r>
            <a:endParaRPr lang="en-US" sz="1900" dirty="0"/>
          </a:p>
        </p:txBody>
      </p:sp>
      <p:sp>
        <p:nvSpPr>
          <p:cNvPr id="22" name="Text 20"/>
          <p:cNvSpPr/>
          <p:nvPr/>
        </p:nvSpPr>
        <p:spPr>
          <a:xfrm>
            <a:off x="6525616" y="3611880"/>
            <a:ext cx="2028368" cy="132588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5 mesures DAX écrites par Codex</a:t>
            </a:r>
            <a:endParaRPr lang="en-US" sz="1700" dirty="0"/>
          </a:p>
        </p:txBody>
      </p:sp>
      <p:sp>
        <p:nvSpPr>
          <p:cNvPr id="23" name="Shape 21"/>
          <p:cNvSpPr/>
          <p:nvPr/>
        </p:nvSpPr>
        <p:spPr>
          <a:xfrm>
            <a:off x="8819159" y="3520440"/>
            <a:ext cx="329184" cy="0"/>
          </a:xfrm>
          <a:prstGeom prst="line">
            <a:avLst/>
          </a:prstGeom>
          <a:noFill/>
          <a:ln w="31750">
            <a:solidFill>
              <a:srgbClr val="FF9A3C"/>
            </a:solidFill>
            <a:prstDash val="solid"/>
            <a:tailEnd type="triangle"/>
          </a:ln>
        </p:spPr>
      </p:sp>
      <p:sp>
        <p:nvSpPr>
          <p:cNvPr id="24" name="Shape 22"/>
          <p:cNvSpPr/>
          <p:nvPr/>
        </p:nvSpPr>
        <p:spPr>
          <a:xfrm>
            <a:off x="9212351" y="1965960"/>
            <a:ext cx="2430704" cy="3108960"/>
          </a:xfrm>
          <a:prstGeom prst="roundRect">
            <a:avLst>
              <a:gd name="adj" fmla="val 3762"/>
            </a:avLst>
          </a:prstGeom>
          <a:solidFill>
            <a:srgbClr val="2B3180"/>
          </a:solidFill>
          <a:ln w="9525">
            <a:solidFill>
              <a:srgbClr val="2B3180"/>
            </a:solidFill>
            <a:prstDash val="solid"/>
          </a:ln>
        </p:spPr>
      </p:sp>
      <p:sp>
        <p:nvSpPr>
          <p:cNvPr id="25" name="Shape 23"/>
          <p:cNvSpPr/>
          <p:nvPr/>
        </p:nvSpPr>
        <p:spPr>
          <a:xfrm>
            <a:off x="9413519" y="2194560"/>
            <a:ext cx="420624" cy="420624"/>
          </a:xfrm>
          <a:prstGeom prst="ellipse">
            <a:avLst/>
          </a:prstGeom>
          <a:solidFill>
            <a:srgbClr val="FF9A3C"/>
          </a:solidFill>
          <a:ln w="12700">
            <a:solidFill>
              <a:srgbClr val="FF9A3C"/>
            </a:solidFill>
            <a:prstDash val="solid"/>
          </a:ln>
        </p:spPr>
      </p:sp>
      <p:sp>
        <p:nvSpPr>
          <p:cNvPr id="26" name="Text 24"/>
          <p:cNvSpPr/>
          <p:nvPr/>
        </p:nvSpPr>
        <p:spPr>
          <a:xfrm>
            <a:off x="9413519"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9413519" y="2770632"/>
            <a:ext cx="2028368"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Actualiser</a:t>
            </a:r>
            <a:endParaRPr lang="en-US" sz="1900" dirty="0"/>
          </a:p>
        </p:txBody>
      </p:sp>
      <p:sp>
        <p:nvSpPr>
          <p:cNvPr id="28" name="Text 26"/>
          <p:cNvSpPr/>
          <p:nvPr/>
        </p:nvSpPr>
        <p:spPr>
          <a:xfrm>
            <a:off x="9413519" y="3611880"/>
            <a:ext cx="2028368" cy="13258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après le lot 2 :</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91 444,460 TND</a:t>
            </a:r>
            <a:endParaRPr lang="en-US" sz="1700" dirty="0"/>
          </a:p>
        </p:txBody>
      </p:sp>
      <p:sp>
        <p:nvSpPr>
          <p:cNvPr id="29" name="Shape 27"/>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0" name="Shape 28"/>
          <p:cNvSpPr/>
          <p:nvPr/>
        </p:nvSpPr>
        <p:spPr>
          <a:xfrm>
            <a:off x="694944" y="5733288"/>
            <a:ext cx="292608" cy="292608"/>
          </a:xfrm>
          <a:prstGeom prst="ellipse">
            <a:avLst/>
          </a:prstGeom>
          <a:solidFill>
            <a:srgbClr val="FF9A3C"/>
          </a:solidFill>
          <a:ln w="12700">
            <a:solidFill>
              <a:srgbClr val="FF9A3C"/>
            </a:solidFill>
            <a:prstDash val="solid"/>
          </a:ln>
        </p:spPr>
      </p:sp>
      <p:sp>
        <p:nvSpPr>
          <p:cNvPr id="31" name="Text 29"/>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2" name="Text 30"/>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En S5 : sur le tronc commun. Mission : si un poste Windows est libre, sinon l'app.</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LES CINQ SÉANCES  ·  PERSO · DÉCISION</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La recommandation en cinq parties</a:t>
            </a:r>
            <a:endParaRPr lang="en-US" sz="3000" dirty="0"/>
          </a:p>
        </p:txBody>
      </p:sp>
      <p:sp>
        <p:nvSpPr>
          <p:cNvPr id="6" name="Shape 4"/>
          <p:cNvSpPr/>
          <p:nvPr/>
        </p:nvSpPr>
        <p:spPr>
          <a:xfrm>
            <a:off x="548640" y="1965960"/>
            <a:ext cx="1853123" cy="3108960"/>
          </a:xfrm>
          <a:prstGeom prst="roundRect">
            <a:avLst>
              <a:gd name="adj" fmla="val 4934"/>
            </a:avLst>
          </a:prstGeom>
          <a:solidFill>
            <a:srgbClr val="F3F5FC"/>
          </a:solidFill>
          <a:ln w="9525">
            <a:solidFill>
              <a:srgbClr val="F3F5FC"/>
            </a:solidFill>
            <a:prstDash val="solid"/>
          </a:ln>
        </p:spPr>
      </p:sp>
      <p:sp>
        <p:nvSpPr>
          <p:cNvPr id="7" name="Shape 5"/>
          <p:cNvSpPr/>
          <p:nvPr/>
        </p:nvSpPr>
        <p:spPr>
          <a:xfrm>
            <a:off x="749808" y="2194560"/>
            <a:ext cx="420624" cy="420624"/>
          </a:xfrm>
          <a:prstGeom prst="ellipse">
            <a:avLst/>
          </a:prstGeom>
          <a:solidFill>
            <a:srgbClr val="2B3180"/>
          </a:solidFill>
          <a:ln w="12700">
            <a:solidFill>
              <a:srgbClr val="2B3180"/>
            </a:solidFill>
            <a:prstDash val="solid"/>
          </a:ln>
        </p:spPr>
      </p:sp>
      <p:sp>
        <p:nvSpPr>
          <p:cNvPr id="8" name="Text 6"/>
          <p:cNvSpPr/>
          <p:nvPr/>
        </p:nvSpPr>
        <p:spPr>
          <a:xfrm>
            <a:off x="74980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749808"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Constat</a:t>
            </a:r>
            <a:endParaRPr lang="en-US" sz="1700" dirty="0"/>
          </a:p>
        </p:txBody>
      </p:sp>
      <p:sp>
        <p:nvSpPr>
          <p:cNvPr id="10" name="Text 8"/>
          <p:cNvSpPr/>
          <p:nvPr/>
        </p:nvSpPr>
        <p:spPr>
          <a:xfrm>
            <a:off x="749808"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un chiffre, son unité</a:t>
            </a:r>
            <a:endParaRPr lang="en-US" sz="1500" dirty="0"/>
          </a:p>
        </p:txBody>
      </p:sp>
      <p:sp>
        <p:nvSpPr>
          <p:cNvPr id="11" name="Shape 9"/>
          <p:cNvSpPr/>
          <p:nvPr/>
        </p:nvSpPr>
        <p:spPr>
          <a:xfrm>
            <a:off x="2465771" y="3520440"/>
            <a:ext cx="329184" cy="0"/>
          </a:xfrm>
          <a:prstGeom prst="line">
            <a:avLst/>
          </a:prstGeom>
          <a:noFill/>
          <a:ln w="31750">
            <a:solidFill>
              <a:srgbClr val="FF9A3C"/>
            </a:solidFill>
            <a:prstDash val="solid"/>
            <a:tailEnd type="triangle"/>
          </a:ln>
        </p:spPr>
      </p:sp>
      <p:sp>
        <p:nvSpPr>
          <p:cNvPr id="12" name="Shape 10"/>
          <p:cNvSpPr/>
          <p:nvPr/>
        </p:nvSpPr>
        <p:spPr>
          <a:xfrm>
            <a:off x="2858963" y="1965960"/>
            <a:ext cx="1853123" cy="3108960"/>
          </a:xfrm>
          <a:prstGeom prst="roundRect">
            <a:avLst>
              <a:gd name="adj" fmla="val 4934"/>
            </a:avLst>
          </a:prstGeom>
          <a:solidFill>
            <a:srgbClr val="F3F5FC"/>
          </a:solidFill>
          <a:ln w="9525">
            <a:solidFill>
              <a:srgbClr val="F3F5FC"/>
            </a:solidFill>
            <a:prstDash val="solid"/>
          </a:ln>
        </p:spPr>
      </p:sp>
      <p:sp>
        <p:nvSpPr>
          <p:cNvPr id="13" name="Shape 11"/>
          <p:cNvSpPr/>
          <p:nvPr/>
        </p:nvSpPr>
        <p:spPr>
          <a:xfrm>
            <a:off x="3060131" y="2194560"/>
            <a:ext cx="420624" cy="420624"/>
          </a:xfrm>
          <a:prstGeom prst="ellipse">
            <a:avLst/>
          </a:prstGeom>
          <a:solidFill>
            <a:srgbClr val="2B3180"/>
          </a:solidFill>
          <a:ln w="12700">
            <a:solidFill>
              <a:srgbClr val="2B3180"/>
            </a:solidFill>
            <a:prstDash val="solid"/>
          </a:ln>
        </p:spPr>
      </p:sp>
      <p:sp>
        <p:nvSpPr>
          <p:cNvPr id="14" name="Text 12"/>
          <p:cNvSpPr/>
          <p:nvPr/>
        </p:nvSpPr>
        <p:spPr>
          <a:xfrm>
            <a:off x="3060131"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3060131"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Cause</a:t>
            </a:r>
            <a:endParaRPr lang="en-US" sz="1700" dirty="0"/>
          </a:p>
        </p:txBody>
      </p:sp>
      <p:sp>
        <p:nvSpPr>
          <p:cNvPr id="16" name="Text 14"/>
          <p:cNvSpPr/>
          <p:nvPr/>
        </p:nvSpPr>
        <p:spPr>
          <a:xfrm>
            <a:off x="3060131"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plausible, vérifiée</a:t>
            </a:r>
            <a:endParaRPr lang="en-US" sz="1500" dirty="0"/>
          </a:p>
        </p:txBody>
      </p:sp>
      <p:sp>
        <p:nvSpPr>
          <p:cNvPr id="17" name="Shape 15"/>
          <p:cNvSpPr/>
          <p:nvPr/>
        </p:nvSpPr>
        <p:spPr>
          <a:xfrm>
            <a:off x="4776094" y="3520440"/>
            <a:ext cx="329184" cy="0"/>
          </a:xfrm>
          <a:prstGeom prst="line">
            <a:avLst/>
          </a:prstGeom>
          <a:noFill/>
          <a:ln w="31750">
            <a:solidFill>
              <a:srgbClr val="FF9A3C"/>
            </a:solidFill>
            <a:prstDash val="solid"/>
            <a:tailEnd type="triangle"/>
          </a:ln>
        </p:spPr>
      </p:sp>
      <p:sp>
        <p:nvSpPr>
          <p:cNvPr id="18" name="Shape 16"/>
          <p:cNvSpPr/>
          <p:nvPr/>
        </p:nvSpPr>
        <p:spPr>
          <a:xfrm>
            <a:off x="5169286" y="1965960"/>
            <a:ext cx="1853123" cy="3108960"/>
          </a:xfrm>
          <a:prstGeom prst="roundRect">
            <a:avLst>
              <a:gd name="adj" fmla="val 4934"/>
            </a:avLst>
          </a:prstGeom>
          <a:solidFill>
            <a:srgbClr val="F3F5FC"/>
          </a:solidFill>
          <a:ln w="9525">
            <a:solidFill>
              <a:srgbClr val="F3F5FC"/>
            </a:solidFill>
            <a:prstDash val="solid"/>
          </a:ln>
        </p:spPr>
      </p:sp>
      <p:sp>
        <p:nvSpPr>
          <p:cNvPr id="19" name="Shape 17"/>
          <p:cNvSpPr/>
          <p:nvPr/>
        </p:nvSpPr>
        <p:spPr>
          <a:xfrm>
            <a:off x="5370454" y="2194560"/>
            <a:ext cx="420624" cy="420624"/>
          </a:xfrm>
          <a:prstGeom prst="ellipse">
            <a:avLst/>
          </a:prstGeom>
          <a:solidFill>
            <a:srgbClr val="2B3180"/>
          </a:solidFill>
          <a:ln w="12700">
            <a:solidFill>
              <a:srgbClr val="2B3180"/>
            </a:solidFill>
            <a:prstDash val="solid"/>
          </a:ln>
        </p:spPr>
      </p:sp>
      <p:sp>
        <p:nvSpPr>
          <p:cNvPr id="20" name="Text 18"/>
          <p:cNvSpPr/>
          <p:nvPr/>
        </p:nvSpPr>
        <p:spPr>
          <a:xfrm>
            <a:off x="5370454"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5370454"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Action</a:t>
            </a:r>
            <a:endParaRPr lang="en-US" sz="1700" dirty="0"/>
          </a:p>
        </p:txBody>
      </p:sp>
      <p:sp>
        <p:nvSpPr>
          <p:cNvPr id="22" name="Text 20"/>
          <p:cNvSpPr/>
          <p:nvPr/>
        </p:nvSpPr>
        <p:spPr>
          <a:xfrm>
            <a:off x="5370454"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précise, pour lundi</a:t>
            </a:r>
            <a:endParaRPr lang="en-US" sz="1500" dirty="0"/>
          </a:p>
        </p:txBody>
      </p:sp>
      <p:sp>
        <p:nvSpPr>
          <p:cNvPr id="23" name="Shape 21"/>
          <p:cNvSpPr/>
          <p:nvPr/>
        </p:nvSpPr>
        <p:spPr>
          <a:xfrm>
            <a:off x="7086417" y="3520440"/>
            <a:ext cx="329184" cy="0"/>
          </a:xfrm>
          <a:prstGeom prst="line">
            <a:avLst/>
          </a:prstGeom>
          <a:noFill/>
          <a:ln w="31750">
            <a:solidFill>
              <a:srgbClr val="FF9A3C"/>
            </a:solidFill>
            <a:prstDash val="solid"/>
            <a:tailEnd type="triangle"/>
          </a:ln>
        </p:spPr>
      </p:sp>
      <p:sp>
        <p:nvSpPr>
          <p:cNvPr id="24" name="Shape 22"/>
          <p:cNvSpPr/>
          <p:nvPr/>
        </p:nvSpPr>
        <p:spPr>
          <a:xfrm>
            <a:off x="7479609" y="1965960"/>
            <a:ext cx="1853123" cy="3108960"/>
          </a:xfrm>
          <a:prstGeom prst="roundRect">
            <a:avLst>
              <a:gd name="adj" fmla="val 4934"/>
            </a:avLst>
          </a:prstGeom>
          <a:solidFill>
            <a:srgbClr val="F3F5FC"/>
          </a:solidFill>
          <a:ln w="9525">
            <a:solidFill>
              <a:srgbClr val="F3F5FC"/>
            </a:solidFill>
            <a:prstDash val="solid"/>
          </a:ln>
        </p:spPr>
      </p:sp>
      <p:sp>
        <p:nvSpPr>
          <p:cNvPr id="25" name="Shape 23"/>
          <p:cNvSpPr/>
          <p:nvPr/>
        </p:nvSpPr>
        <p:spPr>
          <a:xfrm>
            <a:off x="7680777" y="2194560"/>
            <a:ext cx="420624" cy="420624"/>
          </a:xfrm>
          <a:prstGeom prst="ellipse">
            <a:avLst/>
          </a:prstGeom>
          <a:solidFill>
            <a:srgbClr val="2B3180"/>
          </a:solidFill>
          <a:ln w="12700">
            <a:solidFill>
              <a:srgbClr val="2B3180"/>
            </a:solidFill>
            <a:prstDash val="solid"/>
          </a:ln>
        </p:spPr>
      </p:sp>
      <p:sp>
        <p:nvSpPr>
          <p:cNvPr id="26" name="Text 24"/>
          <p:cNvSpPr/>
          <p:nvPr/>
        </p:nvSpPr>
        <p:spPr>
          <a:xfrm>
            <a:off x="7680777"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7680777" y="2770632"/>
            <a:ext cx="1450787" cy="822960"/>
          </a:xfrm>
          <a:prstGeom prst="rect">
            <a:avLst/>
          </a:prstGeom>
          <a:noFill/>
          <a:ln/>
        </p:spPr>
        <p:txBody>
          <a:bodyPr wrap="square" lIns="0" tIns="0" rIns="0" bIns="0" rtlCol="0" anchor="t"/>
          <a:lstStyle/>
          <a:p>
            <a:pPr indent="0" marL="0">
              <a:buNone/>
            </a:pPr>
            <a:r>
              <a:rPr lang="en-US" sz="1700" b="1" dirty="0">
                <a:solidFill>
                  <a:srgbClr val="2B3180"/>
                </a:solidFill>
                <a:latin typeface="Arial" pitchFamily="34" charset="0"/>
                <a:ea typeface="Arial" pitchFamily="34" charset="-122"/>
                <a:cs typeface="Arial" pitchFamily="34" charset="-120"/>
              </a:rPr>
              <a:t>Limite</a:t>
            </a:r>
            <a:endParaRPr lang="en-US" sz="1700" dirty="0"/>
          </a:p>
        </p:txBody>
      </p:sp>
      <p:sp>
        <p:nvSpPr>
          <p:cNvPr id="28" name="Text 26"/>
          <p:cNvSpPr/>
          <p:nvPr/>
        </p:nvSpPr>
        <p:spPr>
          <a:xfrm>
            <a:off x="7680777" y="3611880"/>
            <a:ext cx="1450787" cy="1325880"/>
          </a:xfrm>
          <a:prstGeom prst="rect">
            <a:avLst/>
          </a:prstGeom>
          <a:noFill/>
          <a:ln/>
        </p:spPr>
        <p:txBody>
          <a:bodyPr wrap="square" lIns="0" tIns="0" rIns="0" bIns="0" rtlCol="0" anchor="t"/>
          <a:lstStyle/>
          <a:p>
            <a:pPr indent="0" marL="0">
              <a:buNone/>
            </a:pPr>
            <a:r>
              <a:rPr lang="en-US" sz="1500" dirty="0">
                <a:solidFill>
                  <a:srgbClr val="1A1F4D"/>
                </a:solidFill>
                <a:latin typeface="Arial" pitchFamily="34" charset="0"/>
                <a:ea typeface="Arial" pitchFamily="34" charset="-122"/>
                <a:cs typeface="Arial" pitchFamily="34" charset="-120"/>
              </a:rPr>
              <a:t>ce qu'on ne sait pas</a:t>
            </a:r>
            <a:endParaRPr lang="en-US" sz="1500" dirty="0"/>
          </a:p>
        </p:txBody>
      </p:sp>
      <p:sp>
        <p:nvSpPr>
          <p:cNvPr id="29" name="Shape 27"/>
          <p:cNvSpPr/>
          <p:nvPr/>
        </p:nvSpPr>
        <p:spPr>
          <a:xfrm>
            <a:off x="9396740" y="3520440"/>
            <a:ext cx="329184" cy="0"/>
          </a:xfrm>
          <a:prstGeom prst="line">
            <a:avLst/>
          </a:prstGeom>
          <a:noFill/>
          <a:ln w="31750">
            <a:solidFill>
              <a:srgbClr val="FF9A3C"/>
            </a:solidFill>
            <a:prstDash val="solid"/>
            <a:tailEnd type="triangle"/>
          </a:ln>
        </p:spPr>
      </p:sp>
      <p:sp>
        <p:nvSpPr>
          <p:cNvPr id="30" name="Shape 28"/>
          <p:cNvSpPr/>
          <p:nvPr/>
        </p:nvSpPr>
        <p:spPr>
          <a:xfrm>
            <a:off x="9789932" y="1965960"/>
            <a:ext cx="1853123" cy="3108960"/>
          </a:xfrm>
          <a:prstGeom prst="roundRect">
            <a:avLst>
              <a:gd name="adj" fmla="val 4934"/>
            </a:avLst>
          </a:prstGeom>
          <a:solidFill>
            <a:srgbClr val="2B3180"/>
          </a:solidFill>
          <a:ln w="9525">
            <a:solidFill>
              <a:srgbClr val="2B3180"/>
            </a:solidFill>
            <a:prstDash val="solid"/>
          </a:ln>
        </p:spPr>
      </p:sp>
      <p:sp>
        <p:nvSpPr>
          <p:cNvPr id="31" name="Shape 29"/>
          <p:cNvSpPr/>
          <p:nvPr/>
        </p:nvSpPr>
        <p:spPr>
          <a:xfrm>
            <a:off x="9991100" y="2194560"/>
            <a:ext cx="420624" cy="420624"/>
          </a:xfrm>
          <a:prstGeom prst="ellipse">
            <a:avLst/>
          </a:prstGeom>
          <a:solidFill>
            <a:srgbClr val="FF9A3C"/>
          </a:solidFill>
          <a:ln w="12700">
            <a:solidFill>
              <a:srgbClr val="FF9A3C"/>
            </a:solidFill>
            <a:prstDash val="solid"/>
          </a:ln>
        </p:spPr>
      </p:sp>
      <p:sp>
        <p:nvSpPr>
          <p:cNvPr id="32" name="Text 30"/>
          <p:cNvSpPr/>
          <p:nvPr/>
        </p:nvSpPr>
        <p:spPr>
          <a:xfrm>
            <a:off x="9991100" y="2194560"/>
            <a:ext cx="420624" cy="420624"/>
          </a:xfrm>
          <a:prstGeom prst="rect">
            <a:avLst/>
          </a:prstGeom>
          <a:noFill/>
          <a:ln/>
        </p:spPr>
        <p:txBody>
          <a:bodyPr wrap="square" lIns="0" tIns="0" rIns="0" bIns="0" rtlCol="0" anchor="ctr"/>
          <a:lstStyle/>
          <a:p>
            <a:pPr algn="ctr" indent="0" marL="0">
              <a:buNone/>
            </a:pPr>
            <a:r>
              <a:rPr lang="en-US" sz="1500" b="1" dirty="0">
                <a:solidFill>
                  <a:srgbClr val="07152F"/>
                </a:solidFill>
                <a:latin typeface="Arial" pitchFamily="34" charset="0"/>
                <a:ea typeface="Arial" pitchFamily="34" charset="-122"/>
                <a:cs typeface="Arial" pitchFamily="34" charset="-120"/>
              </a:rPr>
              <a:t>5</a:t>
            </a:r>
            <a:endParaRPr lang="en-US" sz="1500" dirty="0"/>
          </a:p>
        </p:txBody>
      </p:sp>
      <p:sp>
        <p:nvSpPr>
          <p:cNvPr id="33" name="Text 31"/>
          <p:cNvSpPr/>
          <p:nvPr/>
        </p:nvSpPr>
        <p:spPr>
          <a:xfrm>
            <a:off x="9991100" y="2770632"/>
            <a:ext cx="1450787" cy="8229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Donnée</a:t>
            </a:r>
            <a:endParaRPr lang="en-US" sz="1700" dirty="0"/>
          </a:p>
        </p:txBody>
      </p:sp>
      <p:sp>
        <p:nvSpPr>
          <p:cNvPr id="34" name="Text 32"/>
          <p:cNvSpPr/>
          <p:nvPr/>
        </p:nvSpPr>
        <p:spPr>
          <a:xfrm>
            <a:off x="9991100" y="3611880"/>
            <a:ext cx="1450787" cy="132588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ce qui trancherait</a:t>
            </a:r>
            <a:endParaRPr lang="en-US" sz="1500" dirty="0"/>
          </a:p>
        </p:txBody>
      </p:sp>
      <p:sp>
        <p:nvSpPr>
          <p:cNvPr id="35" name="Shape 33"/>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6" name="Shape 34"/>
          <p:cNvSpPr/>
          <p:nvPr/>
        </p:nvSpPr>
        <p:spPr>
          <a:xfrm>
            <a:off x="694944" y="5733288"/>
            <a:ext cx="292608" cy="292608"/>
          </a:xfrm>
          <a:prstGeom prst="ellipse">
            <a:avLst/>
          </a:prstGeom>
          <a:solidFill>
            <a:srgbClr val="FF9A3C"/>
          </a:solidFill>
          <a:ln w="12700">
            <a:solidFill>
              <a:srgbClr val="FF9A3C"/>
            </a:solidFill>
            <a:prstDash val="solid"/>
          </a:ln>
        </p:spPr>
      </p:sp>
      <p:sp>
        <p:nvSpPr>
          <p:cNvPr id="37" name="Text 35"/>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8" name="Text 36"/>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Exemple : Sud à 7,40 % de retours… à cause d'un seul coffret de 1 240,000 TND.</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G</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G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Le catalogue des dix missions</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Une par binôme · même méthode, résultats propres</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73 / 87</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 CATALOGUE  ·  CATALOGUE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Dix entreprises · M01 à M05</a:t>
            </a:r>
            <a:endParaRPr lang="en-US" sz="3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797638"/>
                <a:gridCol w="2682963"/>
                <a:gridCol w="2247888"/>
                <a:gridCol w="5365926"/>
              </a:tblGrid>
              <a:tr h="713232">
                <a:tc>
                  <a:txBody>
                    <a:bodyPr/>
                    <a:lstStyle/>
                    <a:p>
                      <a:pP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Entreprise fictive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Grain</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La direction veut savoir…</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M01</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Carthage Market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ligne de ticket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quels magasins et produits portent ventes et marge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M02</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Souk Express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ligne de commande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quels canaux vendent vraiment, remises et remboursements ôtés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M03</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Medina Distribution</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ligne de facture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quels clients et produits font baisser la rentabilité</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M04</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Colis Rapide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colis livré</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où se concentrent retards, pénalités et coûts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M05</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Académie Nour</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présence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quelles sessions remplissent et encaissent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 CATALOGUE  ·  CATALOGUE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Dix entreprises · M06 à M10</a:t>
            </a:r>
            <a:endParaRPr lang="en-US" sz="30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797638"/>
                <a:gridCol w="2682963"/>
                <a:gridCol w="2247888"/>
                <a:gridCol w="5365926"/>
              </a:tblGrid>
              <a:tr h="713232">
                <a:tc>
                  <a:txBody>
                    <a:bodyPr/>
                    <a:lstStyle/>
                    <a:p>
                      <a:pP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Entreprise fictive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Grain</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La direction veut savoir…</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M06</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Dar Azur</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séjour (nuitées)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quelles maisons remplissent et gagnent de l'argent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M07</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FibreNet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facture mensuelle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combien d'abonnés et de MRR on gagne et perd</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M08</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TechniServ</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intervention</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si les contrats de maintenance sont rentables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M09</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Scène Libre</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billet vendu</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ce qui reste après annulations, remboursements, frais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713232">
                <a:tc>
                  <a:txBody>
                    <a:bodyPr/>
                    <a:lstStyle/>
                    <a:p>
                      <a:pPr indent="0" marL="0">
                        <a:buNone/>
                      </a:pPr>
                      <a:r>
                        <a:rPr lang="en-US" sz="1700" b="1" dirty="0">
                          <a:solidFill>
                            <a:srgbClr val="2B3180"/>
                          </a:solidFill>
                          <a:latin typeface="Arial" pitchFamily="34" charset="0"/>
                          <a:ea typeface="Arial" pitchFamily="34" charset="-122"/>
                          <a:cs typeface="Arial" pitchFamily="34" charset="-120"/>
                        </a:rPr>
                        <a:t>M10</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Pixel Studio</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ligne de temps</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700" dirty="0">
                          <a:solidFill>
                            <a:srgbClr val="1A1F4D"/>
                          </a:solidFill>
                          <a:latin typeface="Arial" pitchFamily="34" charset="0"/>
                          <a:ea typeface="Arial" pitchFamily="34" charset="-122"/>
                          <a:cs typeface="Arial" pitchFamily="34" charset="-120"/>
                        </a:rPr>
                        <a:t>quels projets rapportent vraiment</a:t>
                      </a:r>
                      <a:endParaRPr lang="en-US" sz="17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bl>
          </a:graphicData>
        </a:graphic>
      </p:graphicFrame>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LE CATALOGUE  ·  CATALOGUE</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Les règles communes</a:t>
            </a:r>
            <a:endParaRPr lang="en-US" sz="3000" dirty="0"/>
          </a:p>
        </p:txBody>
      </p:sp>
      <p:sp>
        <p:nvSpPr>
          <p:cNvPr id="6" name="Shape 4"/>
          <p:cNvSpPr/>
          <p:nvPr/>
        </p:nvSpPr>
        <p:spPr>
          <a:xfrm>
            <a:off x="548640" y="1737360"/>
            <a:ext cx="3564026" cy="1751076"/>
          </a:xfrm>
          <a:prstGeom prst="roundRect">
            <a:avLst>
              <a:gd name="adj" fmla="val 5222"/>
            </a:avLst>
          </a:prstGeom>
          <a:solidFill>
            <a:srgbClr val="F3F5FC"/>
          </a:solidFill>
          <a:ln w="9525">
            <a:solidFill>
              <a:srgbClr val="F3F5FC"/>
            </a:solidFill>
            <a:prstDash val="solid"/>
          </a:ln>
        </p:spPr>
      </p:sp>
      <p:sp>
        <p:nvSpPr>
          <p:cNvPr id="7" name="Shape 5"/>
          <p:cNvSpPr/>
          <p:nvPr/>
        </p:nvSpPr>
        <p:spPr>
          <a:xfrm>
            <a:off x="713232" y="1901952"/>
            <a:ext cx="457200" cy="457200"/>
          </a:xfrm>
          <a:prstGeom prst="ellipse">
            <a:avLst/>
          </a:prstGeom>
          <a:solidFill>
            <a:srgbClr val="2B3180"/>
          </a:solidFill>
          <a:ln w="12700">
            <a:solidFill>
              <a:srgbClr val="2B3180"/>
            </a:solidFill>
            <a:prstDash val="solid"/>
          </a:ln>
        </p:spPr>
      </p:sp>
      <p:sp>
        <p:nvSpPr>
          <p:cNvPr id="8" name="Text 6"/>
          <p:cNvSpPr/>
          <p:nvPr/>
        </p:nvSpPr>
        <p:spPr>
          <a:xfrm>
            <a:off x="713232"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9" name="Text 7"/>
          <p:cNvSpPr/>
          <p:nvPr/>
        </p:nvSpPr>
        <p:spPr>
          <a:xfrm>
            <a:off x="1298448" y="1883664"/>
            <a:ext cx="2667914"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sources</a:t>
            </a:r>
            <a:endParaRPr lang="en-US" sz="1800" dirty="0"/>
          </a:p>
        </p:txBody>
      </p:sp>
      <p:sp>
        <p:nvSpPr>
          <p:cNvPr id="10" name="Text 8"/>
          <p:cNvSpPr/>
          <p:nvPr/>
        </p:nvSpPr>
        <p:spPr>
          <a:xfrm>
            <a:off x="731520" y="2560320"/>
            <a:ext cx="3198266" cy="83667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CSV · Excel · JSON · SQLite opérationnelle</a:t>
            </a:r>
            <a:endParaRPr lang="en-US" sz="1600" dirty="0"/>
          </a:p>
        </p:txBody>
      </p:sp>
      <p:sp>
        <p:nvSpPr>
          <p:cNvPr id="11" name="Shape 9"/>
          <p:cNvSpPr/>
          <p:nvPr/>
        </p:nvSpPr>
        <p:spPr>
          <a:xfrm>
            <a:off x="4313834" y="1737360"/>
            <a:ext cx="3564026" cy="1751076"/>
          </a:xfrm>
          <a:prstGeom prst="roundRect">
            <a:avLst>
              <a:gd name="adj" fmla="val 5222"/>
            </a:avLst>
          </a:prstGeom>
          <a:solidFill>
            <a:srgbClr val="F3F5FC"/>
          </a:solidFill>
          <a:ln w="9525">
            <a:solidFill>
              <a:srgbClr val="F3F5FC"/>
            </a:solidFill>
            <a:prstDash val="solid"/>
          </a:ln>
        </p:spPr>
      </p:sp>
      <p:sp>
        <p:nvSpPr>
          <p:cNvPr id="12" name="Shape 10"/>
          <p:cNvSpPr/>
          <p:nvPr/>
        </p:nvSpPr>
        <p:spPr>
          <a:xfrm>
            <a:off x="4478426" y="1901952"/>
            <a:ext cx="457200" cy="457200"/>
          </a:xfrm>
          <a:prstGeom prst="ellipse">
            <a:avLst/>
          </a:prstGeom>
          <a:solidFill>
            <a:srgbClr val="2B3180"/>
          </a:solidFill>
          <a:ln w="12700">
            <a:solidFill>
              <a:srgbClr val="2B3180"/>
            </a:solidFill>
            <a:prstDash val="solid"/>
          </a:ln>
        </p:spPr>
      </p:sp>
      <p:sp>
        <p:nvSpPr>
          <p:cNvPr id="13" name="Text 11"/>
          <p:cNvSpPr/>
          <p:nvPr/>
        </p:nvSpPr>
        <p:spPr>
          <a:xfrm>
            <a:off x="4478426"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5063642" y="1883664"/>
            <a:ext cx="2667914"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lots + échantillon</a:t>
            </a:r>
            <a:endParaRPr lang="en-US" sz="1800" dirty="0"/>
          </a:p>
        </p:txBody>
      </p:sp>
      <p:sp>
        <p:nvSpPr>
          <p:cNvPr id="15" name="Text 13"/>
          <p:cNvSpPr/>
          <p:nvPr/>
        </p:nvSpPr>
        <p:spPr>
          <a:xfrm>
            <a:off x="4496714" y="2560320"/>
            <a:ext cx="3198266" cy="83667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initial, incrément ; ≤ 12 lignes à la main</a:t>
            </a:r>
            <a:endParaRPr lang="en-US" sz="1600" dirty="0"/>
          </a:p>
        </p:txBody>
      </p:sp>
      <p:sp>
        <p:nvSpPr>
          <p:cNvPr id="16" name="Shape 14"/>
          <p:cNvSpPr/>
          <p:nvPr/>
        </p:nvSpPr>
        <p:spPr>
          <a:xfrm>
            <a:off x="8079029" y="1737360"/>
            <a:ext cx="3564026" cy="1751076"/>
          </a:xfrm>
          <a:prstGeom prst="roundRect">
            <a:avLst>
              <a:gd name="adj" fmla="val 5222"/>
            </a:avLst>
          </a:prstGeom>
          <a:solidFill>
            <a:srgbClr val="F3F5FC"/>
          </a:solidFill>
          <a:ln w="9525">
            <a:solidFill>
              <a:srgbClr val="F3F5FC"/>
            </a:solidFill>
            <a:prstDash val="solid"/>
          </a:ln>
        </p:spPr>
      </p:sp>
      <p:sp>
        <p:nvSpPr>
          <p:cNvPr id="17" name="Shape 15"/>
          <p:cNvSpPr/>
          <p:nvPr/>
        </p:nvSpPr>
        <p:spPr>
          <a:xfrm>
            <a:off x="8243621" y="1901952"/>
            <a:ext cx="457200" cy="457200"/>
          </a:xfrm>
          <a:prstGeom prst="ellipse">
            <a:avLst/>
          </a:prstGeom>
          <a:solidFill>
            <a:srgbClr val="2B3180"/>
          </a:solidFill>
          <a:ln w="12700">
            <a:solidFill>
              <a:srgbClr val="2B3180"/>
            </a:solidFill>
            <a:prstDash val="solid"/>
          </a:ln>
        </p:spPr>
      </p:sp>
      <p:sp>
        <p:nvSpPr>
          <p:cNvPr id="18" name="Text 16"/>
          <p:cNvSpPr/>
          <p:nvPr/>
        </p:nvSpPr>
        <p:spPr>
          <a:xfrm>
            <a:off x="8243621" y="1901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9" name="Text 17"/>
          <p:cNvSpPr/>
          <p:nvPr/>
        </p:nvSpPr>
        <p:spPr>
          <a:xfrm>
            <a:off x="8828837" y="1883664"/>
            <a:ext cx="2667914"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dimension SCD2</a:t>
            </a:r>
            <a:endParaRPr lang="en-US" sz="1800" dirty="0"/>
          </a:p>
        </p:txBody>
      </p:sp>
      <p:sp>
        <p:nvSpPr>
          <p:cNvPr id="20" name="Text 18"/>
          <p:cNvSpPr/>
          <p:nvPr/>
        </p:nvSpPr>
        <p:spPr>
          <a:xfrm>
            <a:off x="8261909" y="2560320"/>
            <a:ext cx="3198266" cy="83667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changement daté du 15 juillet</a:t>
            </a:r>
            <a:endParaRPr lang="en-US" sz="1600" dirty="0"/>
          </a:p>
        </p:txBody>
      </p:sp>
      <p:sp>
        <p:nvSpPr>
          <p:cNvPr id="21" name="Shape 19"/>
          <p:cNvSpPr/>
          <p:nvPr/>
        </p:nvSpPr>
        <p:spPr>
          <a:xfrm>
            <a:off x="548640" y="3689604"/>
            <a:ext cx="3564026" cy="1751076"/>
          </a:xfrm>
          <a:prstGeom prst="roundRect">
            <a:avLst>
              <a:gd name="adj" fmla="val 5222"/>
            </a:avLst>
          </a:prstGeom>
          <a:solidFill>
            <a:srgbClr val="F3F5FC"/>
          </a:solidFill>
          <a:ln w="9525">
            <a:solidFill>
              <a:srgbClr val="F3F5FC"/>
            </a:solidFill>
            <a:prstDash val="solid"/>
          </a:ln>
        </p:spPr>
      </p:sp>
      <p:sp>
        <p:nvSpPr>
          <p:cNvPr id="22" name="Shape 20"/>
          <p:cNvSpPr/>
          <p:nvPr/>
        </p:nvSpPr>
        <p:spPr>
          <a:xfrm>
            <a:off x="713232" y="3854196"/>
            <a:ext cx="457200" cy="457200"/>
          </a:xfrm>
          <a:prstGeom prst="ellipse">
            <a:avLst/>
          </a:prstGeom>
          <a:solidFill>
            <a:srgbClr val="2B3180"/>
          </a:solidFill>
          <a:ln w="12700">
            <a:solidFill>
              <a:srgbClr val="2B3180"/>
            </a:solidFill>
            <a:prstDash val="solid"/>
          </a:ln>
        </p:spPr>
      </p:sp>
      <p:sp>
        <p:nvSpPr>
          <p:cNvPr id="23" name="Text 21"/>
          <p:cNvSpPr/>
          <p:nvPr/>
        </p:nvSpPr>
        <p:spPr>
          <a:xfrm>
            <a:off x="713232" y="38541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24" name="Text 22"/>
          <p:cNvSpPr/>
          <p:nvPr/>
        </p:nvSpPr>
        <p:spPr>
          <a:xfrm>
            <a:off x="1298448" y="3835908"/>
            <a:ext cx="2667914"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source modifiée</a:t>
            </a:r>
            <a:endParaRPr lang="en-US" sz="1800" dirty="0"/>
          </a:p>
        </p:txBody>
      </p:sp>
      <p:sp>
        <p:nvSpPr>
          <p:cNvPr id="25" name="Text 23"/>
          <p:cNvSpPr/>
          <p:nvPr/>
        </p:nvSpPr>
        <p:spPr>
          <a:xfrm>
            <a:off x="731520" y="4512564"/>
            <a:ext cx="3198266" cy="83667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rejets dans outputs/rejets.csv, avec motif</a:t>
            </a:r>
            <a:endParaRPr lang="en-US" sz="1600" dirty="0"/>
          </a:p>
        </p:txBody>
      </p:sp>
      <p:sp>
        <p:nvSpPr>
          <p:cNvPr id="26" name="Shape 24"/>
          <p:cNvSpPr/>
          <p:nvPr/>
        </p:nvSpPr>
        <p:spPr>
          <a:xfrm>
            <a:off x="4313834" y="3689604"/>
            <a:ext cx="3564026" cy="1751076"/>
          </a:xfrm>
          <a:prstGeom prst="roundRect">
            <a:avLst>
              <a:gd name="adj" fmla="val 5222"/>
            </a:avLst>
          </a:prstGeom>
          <a:solidFill>
            <a:srgbClr val="F3F5FC"/>
          </a:solidFill>
          <a:ln w="9525">
            <a:solidFill>
              <a:srgbClr val="F3F5FC"/>
            </a:solidFill>
            <a:prstDash val="solid"/>
          </a:ln>
        </p:spPr>
      </p:sp>
      <p:sp>
        <p:nvSpPr>
          <p:cNvPr id="27" name="Shape 25"/>
          <p:cNvSpPr/>
          <p:nvPr/>
        </p:nvSpPr>
        <p:spPr>
          <a:xfrm>
            <a:off x="4478426" y="3854196"/>
            <a:ext cx="457200" cy="457200"/>
          </a:xfrm>
          <a:prstGeom prst="ellipse">
            <a:avLst/>
          </a:prstGeom>
          <a:solidFill>
            <a:srgbClr val="2B3180"/>
          </a:solidFill>
          <a:ln w="12700">
            <a:solidFill>
              <a:srgbClr val="2B3180"/>
            </a:solidFill>
            <a:prstDash val="solid"/>
          </a:ln>
        </p:spPr>
      </p:sp>
      <p:sp>
        <p:nvSpPr>
          <p:cNvPr id="28" name="Text 26"/>
          <p:cNvSpPr/>
          <p:nvPr/>
        </p:nvSpPr>
        <p:spPr>
          <a:xfrm>
            <a:off x="4478426" y="38541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9" name="Text 27"/>
          <p:cNvSpPr/>
          <p:nvPr/>
        </p:nvSpPr>
        <p:spPr>
          <a:xfrm>
            <a:off x="5063642" y="3835908"/>
            <a:ext cx="2667914"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écrans d'app</a:t>
            </a:r>
            <a:endParaRPr lang="en-US" sz="1800" dirty="0"/>
          </a:p>
        </p:txBody>
      </p:sp>
      <p:sp>
        <p:nvSpPr>
          <p:cNvPr id="30" name="Text 28"/>
          <p:cNvSpPr/>
          <p:nvPr/>
        </p:nvSpPr>
        <p:spPr>
          <a:xfrm>
            <a:off x="4496714" y="4512564"/>
            <a:ext cx="3198266" cy="83667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vue direction · détail SCD2 · qualité</a:t>
            </a:r>
            <a:endParaRPr lang="en-US" sz="1600" dirty="0"/>
          </a:p>
        </p:txBody>
      </p:sp>
      <p:sp>
        <p:nvSpPr>
          <p:cNvPr id="31" name="Shape 29"/>
          <p:cNvSpPr/>
          <p:nvPr/>
        </p:nvSpPr>
        <p:spPr>
          <a:xfrm>
            <a:off x="8079029" y="3689604"/>
            <a:ext cx="3564026" cy="1751076"/>
          </a:xfrm>
          <a:prstGeom prst="roundRect">
            <a:avLst>
              <a:gd name="adj" fmla="val 5222"/>
            </a:avLst>
          </a:prstGeom>
          <a:solidFill>
            <a:srgbClr val="F3F5FC"/>
          </a:solidFill>
          <a:ln w="9525">
            <a:solidFill>
              <a:srgbClr val="F3F5FC"/>
            </a:solidFill>
            <a:prstDash val="solid"/>
          </a:ln>
        </p:spPr>
      </p:sp>
      <p:sp>
        <p:nvSpPr>
          <p:cNvPr id="32" name="Shape 30"/>
          <p:cNvSpPr/>
          <p:nvPr/>
        </p:nvSpPr>
        <p:spPr>
          <a:xfrm>
            <a:off x="8243621" y="3854196"/>
            <a:ext cx="457200" cy="457200"/>
          </a:xfrm>
          <a:prstGeom prst="ellipse">
            <a:avLst/>
          </a:prstGeom>
          <a:solidFill>
            <a:srgbClr val="2B3180"/>
          </a:solidFill>
          <a:ln w="12700">
            <a:solidFill>
              <a:srgbClr val="2B3180"/>
            </a:solidFill>
            <a:prstDash val="solid"/>
          </a:ln>
        </p:spPr>
      </p:sp>
      <p:sp>
        <p:nvSpPr>
          <p:cNvPr id="33" name="Text 31"/>
          <p:cNvSpPr/>
          <p:nvPr/>
        </p:nvSpPr>
        <p:spPr>
          <a:xfrm>
            <a:off x="8243621" y="38541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34" name="Text 32"/>
          <p:cNvSpPr/>
          <p:nvPr/>
        </p:nvSpPr>
        <p:spPr>
          <a:xfrm>
            <a:off x="8828837" y="3835908"/>
            <a:ext cx="2667914" cy="502920"/>
          </a:xfrm>
          <a:prstGeom prst="rect">
            <a:avLst/>
          </a:prstGeom>
          <a:noFill/>
          <a:ln/>
        </p:spPr>
        <p:txBody>
          <a:bodyPr wrap="square" lIns="0" tIns="0" rIns="0" bIns="0" rtlCol="0" anchor="ctr"/>
          <a:lstStyle/>
          <a:p>
            <a:pPr indent="0" marL="0">
              <a:buNone/>
            </a:pPr>
            <a:r>
              <a:rPr lang="en-US" sz="1800" b="1" dirty="0">
                <a:solidFill>
                  <a:srgbClr val="2B3180"/>
                </a:solidFill>
                <a:latin typeface="Arial" pitchFamily="34" charset="0"/>
                <a:ea typeface="Arial" pitchFamily="34" charset="-122"/>
                <a:cs typeface="Arial" pitchFamily="34" charset="-120"/>
              </a:rPr>
              <a:t>règle à clarifier</a:t>
            </a:r>
            <a:endParaRPr lang="en-US" sz="1800" dirty="0"/>
          </a:p>
        </p:txBody>
      </p:sp>
      <p:sp>
        <p:nvSpPr>
          <p:cNvPr id="35" name="Text 33"/>
          <p:cNvSpPr/>
          <p:nvPr/>
        </p:nvSpPr>
        <p:spPr>
          <a:xfrm>
            <a:off x="8261909" y="4512564"/>
            <a:ext cx="3198266" cy="836676"/>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tranchée par la direction, appliquée partout</a:t>
            </a:r>
            <a:endParaRPr lang="en-US" sz="1600" dirty="0"/>
          </a:p>
        </p:txBody>
      </p:sp>
      <p:sp>
        <p:nvSpPr>
          <p:cNvPr id="36" name="Shape 3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37" name="Shape 35"/>
          <p:cNvSpPr/>
          <p:nvPr/>
        </p:nvSpPr>
        <p:spPr>
          <a:xfrm>
            <a:off x="694944" y="5733288"/>
            <a:ext cx="292608" cy="292608"/>
          </a:xfrm>
          <a:prstGeom prst="ellipse">
            <a:avLst/>
          </a:prstGeom>
          <a:solidFill>
            <a:srgbClr val="FF9A3C"/>
          </a:solidFill>
          <a:ln w="12700">
            <a:solidFill>
              <a:srgbClr val="FF9A3C"/>
            </a:solidFill>
            <a:prstDash val="solid"/>
          </a:ln>
        </p:spPr>
      </p:sp>
      <p:sp>
        <p:nvSpPr>
          <p:cNvPr id="38" name="Text 3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39" name="Text 3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Millimes entiers · vérificateur = référence · PR relues · recommandation · Power BI.</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H</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H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Soutenance et critères annoncés</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Une démo à deux, des questions à chacun</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77 / 87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SOUTENANCE  ·  FORMAT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120 minutes à partager</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3114465"/>
          </a:xfrm>
          <a:prstGeom prst="roundRect">
            <a:avLst>
              <a:gd name="adj" fmla="val 1762"/>
            </a:avLst>
          </a:prstGeom>
          <a:solidFill>
            <a:srgbClr val="FFFFFF"/>
          </a:solidFill>
          <a:ln w="9525">
            <a:solidFill>
              <a:srgbClr val="DCE2F0"/>
            </a:solidFill>
            <a:prstDash val="solid"/>
          </a:ln>
        </p:spPr>
      </p:sp>
      <p:pic>
        <p:nvPicPr>
          <p:cNvPr id="9" name="Image 0" descr="120 minutes à partager">    </p:cNvPr>
          <p:cNvPicPr>
            <a:picLocks noChangeAspect="1"/>
          </p:cNvPicPr>
          <p:nvPr/>
        </p:nvPicPr>
        <p:blipFill>
          <a:blip r:embed="rId1"/>
          <a:srcRect l="0" r="0" t="15741" b="44136"/>
          <a:stretch/>
        </p:blipFill>
        <p:spPr>
          <a:xfrm>
            <a:off x="548640" y="1371600"/>
            <a:ext cx="11094415" cy="3004737"/>
          </a:xfrm>
          <a:prstGeom prst="rect">
            <a:avLst/>
          </a:prstGeom>
        </p:spPr>
      </p:pic>
      <p:sp>
        <p:nvSpPr>
          <p:cNvPr id="10" name="Shape 7"/>
          <p:cNvSpPr/>
          <p:nvPr/>
        </p:nvSpPr>
        <p:spPr>
          <a:xfrm>
            <a:off x="548640" y="4623225"/>
            <a:ext cx="365760" cy="365760"/>
          </a:xfrm>
          <a:prstGeom prst="ellipse">
            <a:avLst/>
          </a:prstGeom>
          <a:solidFill>
            <a:srgbClr val="FF9A3C"/>
          </a:solidFill>
          <a:ln w="12700">
            <a:solidFill>
              <a:srgbClr val="FF9A3C"/>
            </a:solidFill>
            <a:prstDash val="solid"/>
          </a:ln>
        </p:spPr>
      </p:sp>
      <p:sp>
        <p:nvSpPr>
          <p:cNvPr id="11" name="Text 8"/>
          <p:cNvSpPr/>
          <p:nvPr/>
        </p:nvSpPr>
        <p:spPr>
          <a:xfrm>
            <a:off x="548640" y="4623225"/>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4604937"/>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10 accueil + 100 binômes + 10 délibération.</a:t>
            </a:r>
            <a:endParaRPr lang="en-US" sz="1700" dirty="0"/>
          </a:p>
        </p:txBody>
      </p:sp>
      <p:sp>
        <p:nvSpPr>
          <p:cNvPr id="13" name="Shape 10"/>
          <p:cNvSpPr/>
          <p:nvPr/>
        </p:nvSpPr>
        <p:spPr>
          <a:xfrm>
            <a:off x="4353458" y="4623225"/>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4623225"/>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4604937"/>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Durée par binôme = 100 / N.</a:t>
            </a:r>
            <a:endParaRPr lang="en-US" sz="1700" dirty="0"/>
          </a:p>
        </p:txBody>
      </p:sp>
      <p:sp>
        <p:nvSpPr>
          <p:cNvPr id="16" name="Shape 13"/>
          <p:cNvSpPr/>
          <p:nvPr/>
        </p:nvSpPr>
        <p:spPr>
          <a:xfrm>
            <a:off x="8158277" y="4623225"/>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4623225"/>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4604937"/>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Préparez la version de 6 minutes.</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SOUTENANCE  ·  FORMAT</a:t>
            </a:r>
            <a:endParaRPr lang="en-US" sz="1400" dirty="0"/>
          </a:p>
        </p:txBody>
      </p:sp>
      <p:sp>
        <p:nvSpPr>
          <p:cNvPr id="5" name="Text 3"/>
          <p:cNvSpPr/>
          <p:nvPr/>
        </p:nvSpPr>
        <p:spPr>
          <a:xfrm>
            <a:off x="548640" y="676656"/>
            <a:ext cx="7665415" cy="548640"/>
          </a:xfrm>
          <a:prstGeom prst="rect">
            <a:avLst/>
          </a:prstGeom>
          <a:noFill/>
          <a:ln/>
        </p:spPr>
        <p:txBody>
          <a:bodyPr wrap="square" lIns="0" tIns="0" rIns="0" bIns="0" rtlCol="0" anchor="ctr"/>
          <a:lstStyle/>
          <a:p>
            <a:pPr indent="0" marL="0">
              <a:buNone/>
            </a:pPr>
            <a:r>
              <a:rPr lang="en-US" sz="2800" b="1" dirty="0">
                <a:solidFill>
                  <a:srgbClr val="1A1F4D"/>
                </a:solidFill>
                <a:latin typeface="Arial" pitchFamily="34" charset="0"/>
                <a:ea typeface="Arial" pitchFamily="34" charset="-122"/>
                <a:cs typeface="Arial" pitchFamily="34" charset="-120"/>
              </a:rPr>
              <a:t>Plus de binômes, moins de minutes</a:t>
            </a:r>
            <a:endParaRPr lang="en-US" sz="2800" dirty="0"/>
          </a:p>
        </p:txBody>
      </p:sp>
      <p:sp>
        <p:nvSpPr>
          <p:cNvPr id="6" name="Shape 4"/>
          <p:cNvSpPr/>
          <p:nvPr/>
        </p:nvSpPr>
        <p:spPr>
          <a:xfrm>
            <a:off x="8488375" y="768096"/>
            <a:ext cx="3154680" cy="365760"/>
          </a:xfrm>
          <a:prstGeom prst="roundRect">
            <a:avLst>
              <a:gd name="adj" fmla="val 50000"/>
            </a:avLst>
          </a:prstGeom>
          <a:solidFill>
            <a:srgbClr val="F3F5FC"/>
          </a:solidFill>
          <a:ln w="12700">
            <a:solidFill>
              <a:srgbClr val="F3F5FC"/>
            </a:solidFill>
            <a:prstDash val="solid"/>
          </a:ln>
        </p:spPr>
      </p:sp>
      <p:sp>
        <p:nvSpPr>
          <p:cNvPr id="7" name="Text 5"/>
          <p:cNvSpPr/>
          <p:nvPr/>
        </p:nvSpPr>
        <p:spPr>
          <a:xfrm>
            <a:off x="8488375" y="768096"/>
            <a:ext cx="3154680" cy="365760"/>
          </a:xfrm>
          <a:prstGeom prst="rect">
            <a:avLst/>
          </a:prstGeom>
          <a:noFill/>
          <a:ln/>
        </p:spPr>
        <p:txBody>
          <a:bodyPr wrap="square" lIns="0" tIns="0" rIns="0" bIns="0" rtlCol="0" anchor="ctr"/>
          <a:lstStyle/>
          <a:p>
            <a:pPr algn="ctr" indent="0" marL="0">
              <a:buNone/>
            </a:pPr>
            <a:r>
              <a:rPr lang="en-US" sz="1400" b="1" dirty="0">
                <a:solidFill>
                  <a:srgbClr val="2B3180"/>
                </a:solidFill>
                <a:latin typeface="Arial" pitchFamily="34" charset="0"/>
                <a:ea typeface="Arial" pitchFamily="34" charset="-122"/>
                <a:cs typeface="Arial" pitchFamily="34" charset="-120"/>
              </a:rPr>
              <a:t>SCHÉMA · pas une capture</a:t>
            </a:r>
            <a:endParaRPr lang="en-US" sz="1400" dirty="0"/>
          </a:p>
        </p:txBody>
      </p:sp>
      <p:sp>
        <p:nvSpPr>
          <p:cNvPr id="8" name="Shape 6"/>
          <p:cNvSpPr/>
          <p:nvPr/>
        </p:nvSpPr>
        <p:spPr>
          <a:xfrm>
            <a:off x="493776" y="1316736"/>
            <a:ext cx="11204143" cy="2998899"/>
          </a:xfrm>
          <a:prstGeom prst="roundRect">
            <a:avLst>
              <a:gd name="adj" fmla="val 1829"/>
            </a:avLst>
          </a:prstGeom>
          <a:solidFill>
            <a:srgbClr val="FFFFFF"/>
          </a:solidFill>
          <a:ln w="9525">
            <a:solidFill>
              <a:srgbClr val="DCE2F0"/>
            </a:solidFill>
            <a:prstDash val="solid"/>
          </a:ln>
        </p:spPr>
      </p:sp>
      <p:pic>
        <p:nvPicPr>
          <p:cNvPr id="9" name="Image 0" descr="Plus de binômes, moins de minutes">    </p:cNvPr>
          <p:cNvPicPr>
            <a:picLocks noChangeAspect="1"/>
          </p:cNvPicPr>
          <p:nvPr/>
        </p:nvPicPr>
        <p:blipFill>
          <a:blip r:embed="rId1"/>
          <a:srcRect l="0" r="0" t="55864" b="5556"/>
          <a:stretch/>
        </p:blipFill>
        <p:spPr>
          <a:xfrm>
            <a:off x="548640" y="1371600"/>
            <a:ext cx="11094415" cy="2889171"/>
          </a:xfrm>
          <a:prstGeom prst="rect">
            <a:avLst/>
          </a:prstGeom>
        </p:spPr>
      </p:pic>
      <p:sp>
        <p:nvSpPr>
          <p:cNvPr id="10" name="Shape 7"/>
          <p:cNvSpPr/>
          <p:nvPr/>
        </p:nvSpPr>
        <p:spPr>
          <a:xfrm>
            <a:off x="548640" y="4507659"/>
            <a:ext cx="365760" cy="365760"/>
          </a:xfrm>
          <a:prstGeom prst="ellipse">
            <a:avLst/>
          </a:prstGeom>
          <a:solidFill>
            <a:srgbClr val="FF9A3C"/>
          </a:solidFill>
          <a:ln w="12700">
            <a:solidFill>
              <a:srgbClr val="FF9A3C"/>
            </a:solidFill>
            <a:prstDash val="solid"/>
          </a:ln>
        </p:spPr>
      </p:sp>
      <p:sp>
        <p:nvSpPr>
          <p:cNvPr id="11" name="Text 8"/>
          <p:cNvSpPr/>
          <p:nvPr/>
        </p:nvSpPr>
        <p:spPr>
          <a:xfrm>
            <a:off x="548640" y="4507659"/>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024128" y="4489371"/>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N = 8 : 12,5 min par binôme.</a:t>
            </a:r>
            <a:endParaRPr lang="en-US" sz="1700" dirty="0"/>
          </a:p>
        </p:txBody>
      </p:sp>
      <p:sp>
        <p:nvSpPr>
          <p:cNvPr id="13" name="Shape 10"/>
          <p:cNvSpPr/>
          <p:nvPr/>
        </p:nvSpPr>
        <p:spPr>
          <a:xfrm>
            <a:off x="4353458" y="4507659"/>
            <a:ext cx="365760" cy="365760"/>
          </a:xfrm>
          <a:prstGeom prst="ellipse">
            <a:avLst/>
          </a:prstGeom>
          <a:solidFill>
            <a:srgbClr val="FF9A3C"/>
          </a:solidFill>
          <a:ln w="12700">
            <a:solidFill>
              <a:srgbClr val="FF9A3C"/>
            </a:solidFill>
            <a:prstDash val="solid"/>
          </a:ln>
        </p:spPr>
      </p:sp>
      <p:sp>
        <p:nvSpPr>
          <p:cNvPr id="14" name="Text 11"/>
          <p:cNvSpPr/>
          <p:nvPr/>
        </p:nvSpPr>
        <p:spPr>
          <a:xfrm>
            <a:off x="4353458" y="4507659"/>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4828946" y="4489371"/>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N ≥ 11 : ≈ 9 min, impossible en un créneau.</a:t>
            </a:r>
            <a:endParaRPr lang="en-US" sz="1700" dirty="0"/>
          </a:p>
        </p:txBody>
      </p:sp>
      <p:sp>
        <p:nvSpPr>
          <p:cNvPr id="16" name="Shape 13"/>
          <p:cNvSpPr/>
          <p:nvPr/>
        </p:nvSpPr>
        <p:spPr>
          <a:xfrm>
            <a:off x="8158277" y="4507659"/>
            <a:ext cx="365760" cy="365760"/>
          </a:xfrm>
          <a:prstGeom prst="ellipse">
            <a:avLst/>
          </a:prstGeom>
          <a:solidFill>
            <a:srgbClr val="FF9A3C"/>
          </a:solidFill>
          <a:ln w="12700">
            <a:solidFill>
              <a:srgbClr val="FF9A3C"/>
            </a:solidFill>
            <a:prstDash val="solid"/>
          </a:ln>
        </p:spPr>
      </p:sp>
      <p:sp>
        <p:nvSpPr>
          <p:cNvPr id="17" name="Text 14"/>
          <p:cNvSpPr/>
          <p:nvPr/>
        </p:nvSpPr>
        <p:spPr>
          <a:xfrm>
            <a:off x="8158277" y="4507659"/>
            <a:ext cx="365760" cy="365760"/>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33765" y="4489371"/>
            <a:ext cx="3009290" cy="960120"/>
          </a:xfrm>
          <a:prstGeom prst="rect">
            <a:avLst/>
          </a:prstGeom>
          <a:noFill/>
          <a:ln/>
        </p:spPr>
        <p:txBody>
          <a:bodyPr wrap="square" lIns="0" tIns="0" rIns="0" bIns="0" rtlCol="0" anchor="t"/>
          <a:lstStyle/>
          <a:p>
            <a:pPr indent="0" marL="0">
              <a:buNone/>
            </a:pPr>
            <a:r>
              <a:rPr lang="en-US" sz="1700" dirty="0">
                <a:solidFill>
                  <a:srgbClr val="1A1F4D"/>
                </a:solidFill>
                <a:latin typeface="Arial" pitchFamily="34" charset="0"/>
                <a:ea typeface="Arial" pitchFamily="34" charset="-122"/>
                <a:cs typeface="Arial" pitchFamily="34" charset="-120"/>
              </a:rPr>
              <a:t>Second créneau ou deux jurys : prévenir le professeur.</a:t>
            </a:r>
            <a:endParaRPr lang="en-US" sz="17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SOUTENANCE  ·  DÉMO</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 script de démonstration : 6 minutes</a:t>
            </a:r>
            <a:endParaRPr lang="en-US" sz="30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68364"/>
                <a:gridCol w="1073653"/>
                <a:gridCol w="8052398"/>
              </a:tblGrid>
              <a:tr h="535577">
                <a:tc>
                  <a:txBody>
                    <a:bodyPr/>
                    <a:lstStyle/>
                    <a:p>
                      <a:pPr indent="0" marL="0">
                        <a:buNone/>
                      </a:pPr>
                      <a:r>
                        <a:rPr lang="en-US" sz="1600" b="1" dirty="0">
                          <a:solidFill>
                            <a:srgbClr val="FFFFFF"/>
                          </a:solidFill>
                          <a:latin typeface="Arial" pitchFamily="34" charset="0"/>
                          <a:ea typeface="Arial" pitchFamily="34" charset="-122"/>
                          <a:cs typeface="Arial" pitchFamily="34" charset="-120"/>
                        </a:rPr>
                        <a:t>Minute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Qui</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Ce que vous montrez</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2B3180"/>
                    </a:solidFill>
                  </a:tcPr>
                </a:tc>
              </a:tr>
              <a:tr h="535577">
                <a:tc>
                  <a:txBody>
                    <a:bodyPr/>
                    <a:lstStyle/>
                    <a:p>
                      <a:pPr indent="0" marL="0">
                        <a:buNone/>
                      </a:pPr>
                      <a:r>
                        <a:rPr lang="en-US" sz="1600" b="1" dirty="0">
                          <a:solidFill>
                            <a:srgbClr val="2B3180"/>
                          </a:solidFill>
                          <a:latin typeface="Arial" pitchFamily="34" charset="0"/>
                          <a:ea typeface="Arial" pitchFamily="34" charset="-122"/>
                          <a:cs typeface="Arial" pitchFamily="34" charset="-120"/>
                        </a:rPr>
                        <a:t>0:00–0:30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A</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Le client, la question, le grain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535577">
                <a:tc>
                  <a:txBody>
                    <a:bodyPr/>
                    <a:lstStyle/>
                    <a:p>
                      <a:pPr indent="0" marL="0">
                        <a:buNone/>
                      </a:pPr>
                      <a:r>
                        <a:rPr lang="en-US" sz="1600" b="1" dirty="0">
                          <a:solidFill>
                            <a:srgbClr val="2B3180"/>
                          </a:solidFill>
                          <a:latin typeface="Arial" pitchFamily="34" charset="0"/>
                          <a:ea typeface="Arial" pitchFamily="34" charset="-122"/>
                          <a:cs typeface="Arial" pitchFamily="34" charset="-120"/>
                        </a:rPr>
                        <a:t>0:30–1:30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A</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Vérificateur vert, puis rejeu : aucune ligne ajoutée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535577">
                <a:tc>
                  <a:txBody>
                    <a:bodyPr/>
                    <a:lstStyle/>
                    <a:p>
                      <a:pPr indent="0" marL="0">
                        <a:buNone/>
                      </a:pPr>
                      <a:r>
                        <a:rPr lang="en-US" sz="1600" b="1" dirty="0">
                          <a:solidFill>
                            <a:srgbClr val="2B3180"/>
                          </a:solidFill>
                          <a:latin typeface="Arial" pitchFamily="34" charset="0"/>
                          <a:ea typeface="Arial" pitchFamily="34" charset="-122"/>
                          <a:cs typeface="Arial" pitchFamily="34" charset="-120"/>
                        </a:rPr>
                        <a:t>1:30–3:00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A</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L'app : vue direction, un filtre, détail, qualité</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535577">
                <a:tc>
                  <a:txBody>
                    <a:bodyPr/>
                    <a:lstStyle/>
                    <a:p>
                      <a:pPr indent="0" marL="0">
                        <a:buNone/>
                      </a:pPr>
                      <a:r>
                        <a:rPr lang="en-US" sz="1600" b="1" dirty="0">
                          <a:solidFill>
                            <a:srgbClr val="2B3180"/>
                          </a:solidFill>
                          <a:latin typeface="Arial" pitchFamily="34" charset="0"/>
                          <a:ea typeface="Arial" pitchFamily="34" charset="-122"/>
                          <a:cs typeface="Arial" pitchFamily="34" charset="-120"/>
                        </a:rPr>
                        <a:t>3:00–4:30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B</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Power BI : relations, une mesure, actualisation</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r h="535577">
                <a:tc>
                  <a:txBody>
                    <a:bodyPr/>
                    <a:lstStyle/>
                    <a:p>
                      <a:pPr indent="0" marL="0">
                        <a:buNone/>
                      </a:pPr>
                      <a:r>
                        <a:rPr lang="en-US" sz="1600" b="1" dirty="0">
                          <a:solidFill>
                            <a:srgbClr val="2B3180"/>
                          </a:solidFill>
                          <a:latin typeface="Arial" pitchFamily="34" charset="0"/>
                          <a:ea typeface="Arial" pitchFamily="34" charset="-122"/>
                          <a:cs typeface="Arial" pitchFamily="34" charset="-120"/>
                        </a:rPr>
                        <a:t>4:30–5:30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B</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La recommandation : constat → donnée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3F5FC"/>
                    </a:solidFill>
                  </a:tcPr>
                </a:tc>
              </a:tr>
              <a:tr h="535577">
                <a:tc>
                  <a:txBody>
                    <a:bodyPr/>
                    <a:lstStyle/>
                    <a:p>
                      <a:pPr indent="0" marL="0">
                        <a:buNone/>
                      </a:pPr>
                      <a:r>
                        <a:rPr lang="en-US" sz="1600" b="1" dirty="0">
                          <a:solidFill>
                            <a:srgbClr val="2B3180"/>
                          </a:solidFill>
                          <a:latin typeface="Arial" pitchFamily="34" charset="0"/>
                          <a:ea typeface="Arial" pitchFamily="34" charset="-122"/>
                          <a:cs typeface="Arial" pitchFamily="34" charset="-120"/>
                        </a:rPr>
                        <a:t>5:30–6:00</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B</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c>
                  <a:txBody>
                    <a:bodyPr/>
                    <a:lstStyle/>
                    <a:p>
                      <a:pPr indent="0" marL="0">
                        <a:buNone/>
                      </a:pPr>
                      <a:r>
                        <a:rPr lang="en-US" sz="1600" dirty="0">
                          <a:solidFill>
                            <a:srgbClr val="1A1F4D"/>
                          </a:solidFill>
                          <a:latin typeface="Arial" pitchFamily="34" charset="0"/>
                          <a:ea typeface="Arial" pitchFamily="34" charset="-122"/>
                          <a:cs typeface="Arial" pitchFamily="34" charset="-120"/>
                        </a:rPr>
                        <a:t>GitHub : PR, revues, CI verte</a:t>
                      </a:r>
                      <a:endParaRPr lang="en-US" sz="1600" dirty="0">
                        <a:latin typeface="Arial" charset="0"/>
                        <a:ea typeface="Arial" charset="0"/>
                        <a:cs typeface="Arial" charset="0"/>
                      </a:endParaRPr>
                    </a:p>
                  </a:txBody>
                  <a:tcPr marL="91440" marR="91440" marT="27432" marB="27432" anchor="ctr">
                    <a:lnL w="9525" cap="flat" cmpd="sng" algn="ctr">
                      <a:solidFill>
                        <a:srgbClr val="DCE2F0"/>
                      </a:solidFill>
                      <a:prstDash val="solid"/>
                      <a:round/>
                      <a:headEnd type="none" w="med" len="med"/>
                      <a:tailEnd type="none" w="med" len="med"/>
                    </a:lnL>
                    <a:lnR w="9525" cap="flat" cmpd="sng" algn="ctr">
                      <a:solidFill>
                        <a:srgbClr val="DCE2F0"/>
                      </a:solidFill>
                      <a:prstDash val="solid"/>
                      <a:round/>
                      <a:headEnd type="none" w="med" len="med"/>
                      <a:tailEnd type="none" w="med" len="med"/>
                    </a:lnR>
                    <a:lnT w="9525" cap="flat" cmpd="sng" algn="ctr">
                      <a:solidFill>
                        <a:srgbClr val="DCE2F0"/>
                      </a:solidFill>
                      <a:prstDash val="solid"/>
                      <a:round/>
                      <a:headEnd type="none" w="med" len="med"/>
                      <a:tailEnd type="none" w="med" len="med"/>
                    </a:lnT>
                    <a:lnB w="9525" cap="flat" cmpd="sng" algn="ctr">
                      <a:solidFill>
                        <a:srgbClr val="DCE2F0"/>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8" name="Shape 5"/>
          <p:cNvSpPr/>
          <p:nvPr/>
        </p:nvSpPr>
        <p:spPr>
          <a:xfrm>
            <a:off x="694944" y="5733288"/>
            <a:ext cx="292608" cy="292608"/>
          </a:xfrm>
          <a:prstGeom prst="ellipse">
            <a:avLst/>
          </a:prstGeom>
          <a:solidFill>
            <a:srgbClr val="FF9A3C"/>
          </a:solidFill>
          <a:ln w="12700">
            <a:solidFill>
              <a:srgbClr val="FF9A3C"/>
            </a:solidFill>
            <a:prstDash val="solid"/>
          </a:ln>
        </p:spPr>
      </p:sp>
      <p:sp>
        <p:nvSpPr>
          <p:cNvPr id="9" name="Text 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10" name="Text 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Tout est ouvert avant votre tour · un chiffre, une preuve · on ne lit pas.</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SOUTENANCE  ·  CRITÈRES PUBLICS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Les critères annoncés</a:t>
            </a:r>
            <a:endParaRPr lang="en-US" sz="3000" dirty="0"/>
          </a:p>
        </p:txBody>
      </p:sp>
      <p:sp>
        <p:nvSpPr>
          <p:cNvPr id="6" name="Shape 4"/>
          <p:cNvSpPr/>
          <p:nvPr/>
        </p:nvSpPr>
        <p:spPr>
          <a:xfrm>
            <a:off x="548640" y="1828800"/>
            <a:ext cx="2567864" cy="3429000"/>
          </a:xfrm>
          <a:prstGeom prst="roundRect">
            <a:avLst>
              <a:gd name="adj" fmla="val 3561"/>
            </a:avLst>
          </a:prstGeom>
          <a:solidFill>
            <a:srgbClr val="F3F5FC"/>
          </a:solidFill>
          <a:ln w="9525">
            <a:solidFill>
              <a:srgbClr val="F3F5FC"/>
            </a:solidFill>
            <a:prstDash val="solid"/>
          </a:ln>
        </p:spPr>
      </p:sp>
      <p:sp>
        <p:nvSpPr>
          <p:cNvPr id="7" name="Shape 5"/>
          <p:cNvSpPr/>
          <p:nvPr/>
        </p:nvSpPr>
        <p:spPr>
          <a:xfrm>
            <a:off x="777240" y="2084832"/>
            <a:ext cx="457200" cy="457200"/>
          </a:xfrm>
          <a:prstGeom prst="ellipse">
            <a:avLst/>
          </a:prstGeom>
          <a:solidFill>
            <a:srgbClr val="2B3180"/>
          </a:solidFill>
          <a:ln w="12700">
            <a:solidFill>
              <a:srgbClr val="2B3180"/>
            </a:solidFill>
            <a:prstDash val="solid"/>
          </a:ln>
        </p:spPr>
      </p:sp>
      <p:sp>
        <p:nvSpPr>
          <p:cNvPr id="8" name="Text 6"/>
          <p:cNvSpPr/>
          <p:nvPr/>
        </p:nvSpPr>
        <p:spPr>
          <a:xfrm>
            <a:off x="777240"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777240"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Résultats de la mission</a:t>
            </a:r>
            <a:endParaRPr lang="en-US" sz="1900" dirty="0"/>
          </a:p>
        </p:txBody>
      </p:sp>
      <p:sp>
        <p:nvSpPr>
          <p:cNvPr id="10" name="Text 8"/>
          <p:cNvSpPr/>
          <p:nvPr/>
        </p:nvSpPr>
        <p:spPr>
          <a:xfrm>
            <a:off x="777240"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chiffres = référence</a:t>
            </a:r>
            <a:endParaRPr lang="en-US" sz="1600" dirty="0"/>
          </a:p>
        </p:txBody>
      </p:sp>
      <p:sp>
        <p:nvSpPr>
          <p:cNvPr id="11" name="Shape 9"/>
          <p:cNvSpPr/>
          <p:nvPr/>
        </p:nvSpPr>
        <p:spPr>
          <a:xfrm>
            <a:off x="3390824" y="1828800"/>
            <a:ext cx="2567864" cy="3429000"/>
          </a:xfrm>
          <a:prstGeom prst="roundRect">
            <a:avLst>
              <a:gd name="adj" fmla="val 3561"/>
            </a:avLst>
          </a:prstGeom>
          <a:solidFill>
            <a:srgbClr val="F3F5FC"/>
          </a:solidFill>
          <a:ln w="9525">
            <a:solidFill>
              <a:srgbClr val="F3F5FC"/>
            </a:solidFill>
            <a:prstDash val="solid"/>
          </a:ln>
        </p:spPr>
      </p:sp>
      <p:sp>
        <p:nvSpPr>
          <p:cNvPr id="12" name="Shape 10"/>
          <p:cNvSpPr/>
          <p:nvPr/>
        </p:nvSpPr>
        <p:spPr>
          <a:xfrm>
            <a:off x="3619424" y="2084832"/>
            <a:ext cx="457200" cy="457200"/>
          </a:xfrm>
          <a:prstGeom prst="ellipse">
            <a:avLst/>
          </a:prstGeom>
          <a:solidFill>
            <a:srgbClr val="2B3180"/>
          </a:solidFill>
          <a:ln w="12700">
            <a:solidFill>
              <a:srgbClr val="2B3180"/>
            </a:solidFill>
            <a:prstDash val="solid"/>
          </a:ln>
        </p:spPr>
      </p:sp>
      <p:sp>
        <p:nvSpPr>
          <p:cNvPr id="13" name="Text 11"/>
          <p:cNvSpPr/>
          <p:nvPr/>
        </p:nvSpPr>
        <p:spPr>
          <a:xfrm>
            <a:off x="3619424"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3619424"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Entrepôt et historique</a:t>
            </a:r>
            <a:endParaRPr lang="en-US" sz="1900" dirty="0"/>
          </a:p>
        </p:txBody>
      </p:sp>
      <p:sp>
        <p:nvSpPr>
          <p:cNvPr id="15" name="Text 13"/>
          <p:cNvSpPr/>
          <p:nvPr/>
        </p:nvSpPr>
        <p:spPr>
          <a:xfrm>
            <a:off x="3619424"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étoile, SCD2, rejeu</a:t>
            </a:r>
            <a:endParaRPr lang="en-US" sz="1600" dirty="0"/>
          </a:p>
        </p:txBody>
      </p:sp>
      <p:sp>
        <p:nvSpPr>
          <p:cNvPr id="16" name="Shape 14"/>
          <p:cNvSpPr/>
          <p:nvPr/>
        </p:nvSpPr>
        <p:spPr>
          <a:xfrm>
            <a:off x="6233008" y="1828800"/>
            <a:ext cx="2567864" cy="3429000"/>
          </a:xfrm>
          <a:prstGeom prst="roundRect">
            <a:avLst>
              <a:gd name="adj" fmla="val 3561"/>
            </a:avLst>
          </a:prstGeom>
          <a:solidFill>
            <a:srgbClr val="F3F5FC"/>
          </a:solidFill>
          <a:ln w="9525">
            <a:solidFill>
              <a:srgbClr val="F3F5FC"/>
            </a:solidFill>
            <a:prstDash val="solid"/>
          </a:ln>
        </p:spPr>
      </p:sp>
      <p:sp>
        <p:nvSpPr>
          <p:cNvPr id="17" name="Shape 15"/>
          <p:cNvSpPr/>
          <p:nvPr/>
        </p:nvSpPr>
        <p:spPr>
          <a:xfrm>
            <a:off x="6461608" y="2084832"/>
            <a:ext cx="457200" cy="457200"/>
          </a:xfrm>
          <a:prstGeom prst="ellipse">
            <a:avLst/>
          </a:prstGeom>
          <a:solidFill>
            <a:srgbClr val="2B3180"/>
          </a:solidFill>
          <a:ln w="12700">
            <a:solidFill>
              <a:srgbClr val="2B3180"/>
            </a:solidFill>
            <a:prstDash val="solid"/>
          </a:ln>
        </p:spPr>
      </p:sp>
      <p:sp>
        <p:nvSpPr>
          <p:cNvPr id="18" name="Text 16"/>
          <p:cNvSpPr/>
          <p:nvPr/>
        </p:nvSpPr>
        <p:spPr>
          <a:xfrm>
            <a:off x="6461608"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6461608"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Livraison lisible</a:t>
            </a:r>
            <a:endParaRPr lang="en-US" sz="1900" dirty="0"/>
          </a:p>
        </p:txBody>
      </p:sp>
      <p:sp>
        <p:nvSpPr>
          <p:cNvPr id="20" name="Text 18"/>
          <p:cNvSpPr/>
          <p:nvPr/>
        </p:nvSpPr>
        <p:spPr>
          <a:xfrm>
            <a:off x="6461608"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app, Power BI, recommandation</a:t>
            </a:r>
            <a:endParaRPr lang="en-US" sz="1600" dirty="0"/>
          </a:p>
        </p:txBody>
      </p:sp>
      <p:sp>
        <p:nvSpPr>
          <p:cNvPr id="21" name="Shape 19"/>
          <p:cNvSpPr/>
          <p:nvPr/>
        </p:nvSpPr>
        <p:spPr>
          <a:xfrm>
            <a:off x="9075191" y="1828800"/>
            <a:ext cx="2567864" cy="3429000"/>
          </a:xfrm>
          <a:prstGeom prst="roundRect">
            <a:avLst>
              <a:gd name="adj" fmla="val 3561"/>
            </a:avLst>
          </a:prstGeom>
          <a:solidFill>
            <a:srgbClr val="F3F5FC"/>
          </a:solidFill>
          <a:ln w="9525">
            <a:solidFill>
              <a:srgbClr val="F3F5FC"/>
            </a:solidFill>
            <a:prstDash val="solid"/>
          </a:ln>
        </p:spPr>
      </p:sp>
      <p:sp>
        <p:nvSpPr>
          <p:cNvPr id="22" name="Shape 20"/>
          <p:cNvSpPr/>
          <p:nvPr/>
        </p:nvSpPr>
        <p:spPr>
          <a:xfrm>
            <a:off x="9303791" y="2084832"/>
            <a:ext cx="457200" cy="457200"/>
          </a:xfrm>
          <a:prstGeom prst="ellipse">
            <a:avLst/>
          </a:prstGeom>
          <a:solidFill>
            <a:srgbClr val="2B3180"/>
          </a:solidFill>
          <a:ln w="12700">
            <a:solidFill>
              <a:srgbClr val="2B3180"/>
            </a:solidFill>
            <a:prstDash val="solid"/>
          </a:ln>
        </p:spPr>
      </p:sp>
      <p:sp>
        <p:nvSpPr>
          <p:cNvPr id="23" name="Text 21"/>
          <p:cNvSpPr/>
          <p:nvPr/>
        </p:nvSpPr>
        <p:spPr>
          <a:xfrm>
            <a:off x="9303791"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9303791" y="2697480"/>
            <a:ext cx="2110664" cy="685800"/>
          </a:xfrm>
          <a:prstGeom prst="rect">
            <a:avLst/>
          </a:prstGeom>
          <a:noFill/>
          <a:ln/>
        </p:spPr>
        <p:txBody>
          <a:bodyPr wrap="square" lIns="0" tIns="0" rIns="0" bIns="0" rtlCol="0" anchor="t"/>
          <a:lstStyle/>
          <a:p>
            <a:pPr indent="0" marL="0">
              <a:buNone/>
            </a:pPr>
            <a:r>
              <a:rPr lang="en-US" sz="1900" b="1" dirty="0">
                <a:solidFill>
                  <a:srgbClr val="2B3180"/>
                </a:solidFill>
                <a:latin typeface="Arial" pitchFamily="34" charset="0"/>
                <a:ea typeface="Arial" pitchFamily="34" charset="-122"/>
                <a:cs typeface="Arial" pitchFamily="34" charset="-120"/>
              </a:rPr>
              <a:t>Collaboration Git</a:t>
            </a:r>
            <a:endParaRPr lang="en-US" sz="1900" dirty="0"/>
          </a:p>
        </p:txBody>
      </p:sp>
      <p:sp>
        <p:nvSpPr>
          <p:cNvPr id="25" name="Text 23"/>
          <p:cNvSpPr/>
          <p:nvPr/>
        </p:nvSpPr>
        <p:spPr>
          <a:xfrm>
            <a:off x="9303791" y="3429000"/>
            <a:ext cx="2110664" cy="1645920"/>
          </a:xfrm>
          <a:prstGeom prst="rect">
            <a:avLst/>
          </a:prstGeom>
          <a:noFill/>
          <a:ln/>
        </p:spPr>
        <p:txBody>
          <a:bodyPr wrap="square" lIns="0" tIns="0" rIns="0" bIns="0" rtlCol="0" anchor="t"/>
          <a:lstStyle/>
          <a:p>
            <a:pPr indent="0" marL="0">
              <a:buNone/>
            </a:pPr>
            <a:r>
              <a:rPr lang="en-US" sz="1600" dirty="0">
                <a:solidFill>
                  <a:srgbClr val="1A1F4D"/>
                </a:solidFill>
                <a:latin typeface="Arial" pitchFamily="34" charset="0"/>
                <a:ea typeface="Arial" pitchFamily="34" charset="-122"/>
                <a:cs typeface="Arial" pitchFamily="34" charset="-120"/>
              </a:rPr>
              <a:t>PR, revues, CI</a:t>
            </a:r>
            <a:endParaRPr lang="en-US" sz="1600" dirty="0"/>
          </a:p>
        </p:txBody>
      </p:sp>
      <p:sp>
        <p:nvSpPr>
          <p:cNvPr id="26" name="Shape 24"/>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7" name="Shape 25"/>
          <p:cNvSpPr/>
          <p:nvPr/>
        </p:nvSpPr>
        <p:spPr>
          <a:xfrm>
            <a:off x="694944" y="5733288"/>
            <a:ext cx="292608" cy="292608"/>
          </a:xfrm>
          <a:prstGeom prst="ellipse">
            <a:avLst/>
          </a:prstGeom>
          <a:solidFill>
            <a:srgbClr val="FF9A3C"/>
          </a:solidFill>
          <a:ln w="12700">
            <a:solidFill>
              <a:srgbClr val="FF9A3C"/>
            </a:solidFill>
            <a:prstDash val="solid"/>
          </a:ln>
        </p:spPr>
      </p:sp>
      <p:sp>
        <p:nvSpPr>
          <p:cNvPr id="28" name="Text 26"/>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9" name="Text 27"/>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S'y ajoutent les questions individuelles : chacun répond seul.</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SOUTENANCE  ·  CRITÈRES PUBLICS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Les questions individuelles</a:t>
            </a:r>
            <a:endParaRPr lang="en-US" sz="3000" dirty="0"/>
          </a:p>
        </p:txBody>
      </p:sp>
      <p:sp>
        <p:nvSpPr>
          <p:cNvPr id="6" name="Shape 4"/>
          <p:cNvSpPr/>
          <p:nvPr/>
        </p:nvSpPr>
        <p:spPr>
          <a:xfrm>
            <a:off x="548640" y="1737360"/>
            <a:ext cx="3564026" cy="1359408"/>
          </a:xfrm>
          <a:prstGeom prst="roundRect">
            <a:avLst>
              <a:gd name="adj" fmla="val 6726"/>
            </a:avLst>
          </a:prstGeom>
          <a:solidFill>
            <a:srgbClr val="F3F5FC"/>
          </a:solidFill>
          <a:ln w="9525">
            <a:solidFill>
              <a:srgbClr val="F3F5FC"/>
            </a:solidFill>
            <a:prstDash val="solid"/>
          </a:ln>
        </p:spPr>
      </p:sp>
      <p:sp>
        <p:nvSpPr>
          <p:cNvPr id="7" name="Shape 5"/>
          <p:cNvSpPr/>
          <p:nvPr/>
        </p:nvSpPr>
        <p:spPr>
          <a:xfrm>
            <a:off x="713232" y="1901952"/>
            <a:ext cx="384048" cy="384048"/>
          </a:xfrm>
          <a:prstGeom prst="ellipse">
            <a:avLst/>
          </a:prstGeom>
          <a:solidFill>
            <a:srgbClr val="2B3180"/>
          </a:solidFill>
          <a:ln w="12700">
            <a:solidFill>
              <a:srgbClr val="2B3180"/>
            </a:solidFill>
            <a:prstDash val="solid"/>
          </a:ln>
        </p:spPr>
      </p:sp>
      <p:sp>
        <p:nvSpPr>
          <p:cNvPr id="8" name="Text 6"/>
          <p:cNvSpPr/>
          <p:nvPr/>
        </p:nvSpPr>
        <p:spPr>
          <a:xfrm>
            <a:off x="713232" y="1901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07008" y="1883664"/>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Un indicateur</a:t>
            </a:r>
            <a:endParaRPr lang="en-US" sz="1600" dirty="0"/>
          </a:p>
        </p:txBody>
      </p:sp>
      <p:sp>
        <p:nvSpPr>
          <p:cNvPr id="10" name="Text 8"/>
          <p:cNvSpPr/>
          <p:nvPr/>
        </p:nvSpPr>
        <p:spPr>
          <a:xfrm>
            <a:off x="731520" y="2395728"/>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ce qu'il mesure, son unité</a:t>
            </a:r>
            <a:endParaRPr lang="en-US" sz="1400" dirty="0"/>
          </a:p>
        </p:txBody>
      </p:sp>
      <p:sp>
        <p:nvSpPr>
          <p:cNvPr id="11" name="Shape 9"/>
          <p:cNvSpPr/>
          <p:nvPr/>
        </p:nvSpPr>
        <p:spPr>
          <a:xfrm>
            <a:off x="4313834" y="1737360"/>
            <a:ext cx="3564026" cy="1359408"/>
          </a:xfrm>
          <a:prstGeom prst="roundRect">
            <a:avLst>
              <a:gd name="adj" fmla="val 6726"/>
            </a:avLst>
          </a:prstGeom>
          <a:solidFill>
            <a:srgbClr val="F3F5FC"/>
          </a:solidFill>
          <a:ln w="9525">
            <a:solidFill>
              <a:srgbClr val="F3F5FC"/>
            </a:solidFill>
            <a:prstDash val="solid"/>
          </a:ln>
        </p:spPr>
      </p:sp>
      <p:sp>
        <p:nvSpPr>
          <p:cNvPr id="12" name="Shape 10"/>
          <p:cNvSpPr/>
          <p:nvPr/>
        </p:nvSpPr>
        <p:spPr>
          <a:xfrm>
            <a:off x="4478426" y="1901952"/>
            <a:ext cx="384048" cy="384048"/>
          </a:xfrm>
          <a:prstGeom prst="ellipse">
            <a:avLst/>
          </a:prstGeom>
          <a:solidFill>
            <a:srgbClr val="2B3180"/>
          </a:solidFill>
          <a:ln w="12700">
            <a:solidFill>
              <a:srgbClr val="2B3180"/>
            </a:solidFill>
            <a:prstDash val="solid"/>
          </a:ln>
        </p:spPr>
      </p:sp>
      <p:sp>
        <p:nvSpPr>
          <p:cNvPr id="13" name="Text 11"/>
          <p:cNvSpPr/>
          <p:nvPr/>
        </p:nvSpPr>
        <p:spPr>
          <a:xfrm>
            <a:off x="4478426" y="1901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4972202" y="1883664"/>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Prévoir</a:t>
            </a:r>
            <a:endParaRPr lang="en-US" sz="1600" dirty="0"/>
          </a:p>
        </p:txBody>
      </p:sp>
      <p:sp>
        <p:nvSpPr>
          <p:cNvPr id="15" name="Text 13"/>
          <p:cNvSpPr/>
          <p:nvPr/>
        </p:nvSpPr>
        <p:spPr>
          <a:xfrm>
            <a:off x="4496714" y="2395728"/>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le résultat d'un filtre</a:t>
            </a:r>
            <a:endParaRPr lang="en-US" sz="1400" dirty="0"/>
          </a:p>
        </p:txBody>
      </p:sp>
      <p:sp>
        <p:nvSpPr>
          <p:cNvPr id="16" name="Shape 14"/>
          <p:cNvSpPr/>
          <p:nvPr/>
        </p:nvSpPr>
        <p:spPr>
          <a:xfrm>
            <a:off x="8079029" y="1737360"/>
            <a:ext cx="3564026" cy="1359408"/>
          </a:xfrm>
          <a:prstGeom prst="roundRect">
            <a:avLst>
              <a:gd name="adj" fmla="val 6726"/>
            </a:avLst>
          </a:prstGeom>
          <a:solidFill>
            <a:srgbClr val="F3F5FC"/>
          </a:solidFill>
          <a:ln w="9525">
            <a:solidFill>
              <a:srgbClr val="F3F5FC"/>
            </a:solidFill>
            <a:prstDash val="solid"/>
          </a:ln>
        </p:spPr>
      </p:sp>
      <p:sp>
        <p:nvSpPr>
          <p:cNvPr id="17" name="Shape 15"/>
          <p:cNvSpPr/>
          <p:nvPr/>
        </p:nvSpPr>
        <p:spPr>
          <a:xfrm>
            <a:off x="8243621" y="1901952"/>
            <a:ext cx="384048" cy="384048"/>
          </a:xfrm>
          <a:prstGeom prst="ellipse">
            <a:avLst/>
          </a:prstGeom>
          <a:solidFill>
            <a:srgbClr val="2B3180"/>
          </a:solidFill>
          <a:ln w="12700">
            <a:solidFill>
              <a:srgbClr val="2B3180"/>
            </a:solidFill>
            <a:prstDash val="solid"/>
          </a:ln>
        </p:spPr>
      </p:sp>
      <p:sp>
        <p:nvSpPr>
          <p:cNvPr id="18" name="Text 16"/>
          <p:cNvSpPr/>
          <p:nvPr/>
        </p:nvSpPr>
        <p:spPr>
          <a:xfrm>
            <a:off x="8243621" y="1901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8737397" y="1883664"/>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Suivre une ligne</a:t>
            </a:r>
            <a:endParaRPr lang="en-US" sz="1600" dirty="0"/>
          </a:p>
        </p:txBody>
      </p:sp>
      <p:sp>
        <p:nvSpPr>
          <p:cNvPr id="20" name="Text 18"/>
          <p:cNvSpPr/>
          <p:nvPr/>
        </p:nvSpPr>
        <p:spPr>
          <a:xfrm>
            <a:off x="8261909" y="2395728"/>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de la source au graphique</a:t>
            </a:r>
            <a:endParaRPr lang="en-US" sz="1400" dirty="0"/>
          </a:p>
        </p:txBody>
      </p:sp>
      <p:sp>
        <p:nvSpPr>
          <p:cNvPr id="21" name="Shape 19"/>
          <p:cNvSpPr/>
          <p:nvPr/>
        </p:nvSpPr>
        <p:spPr>
          <a:xfrm>
            <a:off x="548640" y="3297936"/>
            <a:ext cx="3564026" cy="1359408"/>
          </a:xfrm>
          <a:prstGeom prst="roundRect">
            <a:avLst>
              <a:gd name="adj" fmla="val 6726"/>
            </a:avLst>
          </a:prstGeom>
          <a:solidFill>
            <a:srgbClr val="F3F5FC"/>
          </a:solidFill>
          <a:ln w="9525">
            <a:solidFill>
              <a:srgbClr val="F3F5FC"/>
            </a:solidFill>
            <a:prstDash val="solid"/>
          </a:ln>
        </p:spPr>
      </p:sp>
      <p:sp>
        <p:nvSpPr>
          <p:cNvPr id="22" name="Shape 20"/>
          <p:cNvSpPr/>
          <p:nvPr/>
        </p:nvSpPr>
        <p:spPr>
          <a:xfrm>
            <a:off x="713232" y="3462528"/>
            <a:ext cx="384048" cy="384048"/>
          </a:xfrm>
          <a:prstGeom prst="ellipse">
            <a:avLst/>
          </a:prstGeom>
          <a:solidFill>
            <a:srgbClr val="2B3180"/>
          </a:solidFill>
          <a:ln w="12700">
            <a:solidFill>
              <a:srgbClr val="2B3180"/>
            </a:solidFill>
            <a:prstDash val="solid"/>
          </a:ln>
        </p:spPr>
      </p:sp>
      <p:sp>
        <p:nvSpPr>
          <p:cNvPr id="23" name="Text 21"/>
          <p:cNvSpPr/>
          <p:nvPr/>
        </p:nvSpPr>
        <p:spPr>
          <a:xfrm>
            <a:off x="713232" y="3462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07008" y="3444240"/>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Rejet et version</a:t>
            </a:r>
            <a:endParaRPr lang="en-US" sz="1600" dirty="0"/>
          </a:p>
        </p:txBody>
      </p:sp>
      <p:sp>
        <p:nvSpPr>
          <p:cNvPr id="25" name="Text 23"/>
          <p:cNvSpPr/>
          <p:nvPr/>
        </p:nvSpPr>
        <p:spPr>
          <a:xfrm>
            <a:off x="731520" y="3956304"/>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id_conflit ; NBE le 14 juillet</a:t>
            </a:r>
            <a:endParaRPr lang="en-US" sz="1400" dirty="0"/>
          </a:p>
        </p:txBody>
      </p:sp>
      <p:sp>
        <p:nvSpPr>
          <p:cNvPr id="26" name="Shape 24"/>
          <p:cNvSpPr/>
          <p:nvPr/>
        </p:nvSpPr>
        <p:spPr>
          <a:xfrm>
            <a:off x="4313834" y="3297936"/>
            <a:ext cx="3564026" cy="1359408"/>
          </a:xfrm>
          <a:prstGeom prst="roundRect">
            <a:avLst>
              <a:gd name="adj" fmla="val 6726"/>
            </a:avLst>
          </a:prstGeom>
          <a:solidFill>
            <a:srgbClr val="F3F5FC"/>
          </a:solidFill>
          <a:ln w="9525">
            <a:solidFill>
              <a:srgbClr val="F3F5FC"/>
            </a:solidFill>
            <a:prstDash val="solid"/>
          </a:ln>
        </p:spPr>
      </p:sp>
      <p:sp>
        <p:nvSpPr>
          <p:cNvPr id="27" name="Shape 25"/>
          <p:cNvSpPr/>
          <p:nvPr/>
        </p:nvSpPr>
        <p:spPr>
          <a:xfrm>
            <a:off x="4478426" y="3462528"/>
            <a:ext cx="384048" cy="384048"/>
          </a:xfrm>
          <a:prstGeom prst="ellipse">
            <a:avLst/>
          </a:prstGeom>
          <a:solidFill>
            <a:srgbClr val="2B3180"/>
          </a:solidFill>
          <a:ln w="12700">
            <a:solidFill>
              <a:srgbClr val="2B3180"/>
            </a:solidFill>
            <a:prstDash val="solid"/>
          </a:ln>
        </p:spPr>
      </p:sp>
      <p:sp>
        <p:nvSpPr>
          <p:cNvPr id="28" name="Text 26"/>
          <p:cNvSpPr/>
          <p:nvPr/>
        </p:nvSpPr>
        <p:spPr>
          <a:xfrm>
            <a:off x="4478426" y="3462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4972202" y="3444240"/>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Revue</a:t>
            </a:r>
            <a:endParaRPr lang="en-US" sz="1600" dirty="0"/>
          </a:p>
        </p:txBody>
      </p:sp>
      <p:sp>
        <p:nvSpPr>
          <p:cNvPr id="30" name="Text 28"/>
          <p:cNvSpPr/>
          <p:nvPr/>
        </p:nvSpPr>
        <p:spPr>
          <a:xfrm>
            <a:off x="4496714" y="3956304"/>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un défaut et son commit</a:t>
            </a:r>
            <a:endParaRPr lang="en-US" sz="1400" dirty="0"/>
          </a:p>
        </p:txBody>
      </p:sp>
      <p:sp>
        <p:nvSpPr>
          <p:cNvPr id="31" name="Shape 29"/>
          <p:cNvSpPr/>
          <p:nvPr/>
        </p:nvSpPr>
        <p:spPr>
          <a:xfrm>
            <a:off x="8079029" y="3297936"/>
            <a:ext cx="3564026" cy="1359408"/>
          </a:xfrm>
          <a:prstGeom prst="roundRect">
            <a:avLst>
              <a:gd name="adj" fmla="val 6726"/>
            </a:avLst>
          </a:prstGeom>
          <a:solidFill>
            <a:srgbClr val="F3F5FC"/>
          </a:solidFill>
          <a:ln w="9525">
            <a:solidFill>
              <a:srgbClr val="F3F5FC"/>
            </a:solidFill>
            <a:prstDash val="solid"/>
          </a:ln>
        </p:spPr>
      </p:sp>
      <p:sp>
        <p:nvSpPr>
          <p:cNvPr id="32" name="Shape 30"/>
          <p:cNvSpPr/>
          <p:nvPr/>
        </p:nvSpPr>
        <p:spPr>
          <a:xfrm>
            <a:off x="8243621" y="3462528"/>
            <a:ext cx="384048" cy="384048"/>
          </a:xfrm>
          <a:prstGeom prst="ellipse">
            <a:avLst/>
          </a:prstGeom>
          <a:solidFill>
            <a:srgbClr val="2B3180"/>
          </a:solidFill>
          <a:ln w="12700">
            <a:solidFill>
              <a:srgbClr val="2B3180"/>
            </a:solidFill>
            <a:prstDash val="solid"/>
          </a:ln>
        </p:spPr>
      </p:sp>
      <p:sp>
        <p:nvSpPr>
          <p:cNvPr id="33" name="Text 31"/>
          <p:cNvSpPr/>
          <p:nvPr/>
        </p:nvSpPr>
        <p:spPr>
          <a:xfrm>
            <a:off x="8243621" y="3462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2"/>
          <p:cNvSpPr/>
          <p:nvPr/>
        </p:nvSpPr>
        <p:spPr>
          <a:xfrm>
            <a:off x="8737397" y="3444240"/>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Rejeu</a:t>
            </a:r>
            <a:endParaRPr lang="en-US" sz="1600" dirty="0"/>
          </a:p>
        </p:txBody>
      </p:sp>
      <p:sp>
        <p:nvSpPr>
          <p:cNvPr id="35" name="Text 33"/>
          <p:cNvSpPr/>
          <p:nvPr/>
        </p:nvSpPr>
        <p:spPr>
          <a:xfrm>
            <a:off x="8261909" y="3956304"/>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relancer : rien ne change</a:t>
            </a:r>
            <a:endParaRPr lang="en-US" sz="1400" dirty="0"/>
          </a:p>
        </p:txBody>
      </p:sp>
      <p:sp>
        <p:nvSpPr>
          <p:cNvPr id="36" name="Shape 34"/>
          <p:cNvSpPr/>
          <p:nvPr/>
        </p:nvSpPr>
        <p:spPr>
          <a:xfrm>
            <a:off x="548640" y="4858512"/>
            <a:ext cx="3564026" cy="1359408"/>
          </a:xfrm>
          <a:prstGeom prst="roundRect">
            <a:avLst>
              <a:gd name="adj" fmla="val 6726"/>
            </a:avLst>
          </a:prstGeom>
          <a:solidFill>
            <a:srgbClr val="F3F5FC"/>
          </a:solidFill>
          <a:ln w="9525">
            <a:solidFill>
              <a:srgbClr val="F3F5FC"/>
            </a:solidFill>
            <a:prstDash val="solid"/>
          </a:ln>
        </p:spPr>
      </p:sp>
      <p:sp>
        <p:nvSpPr>
          <p:cNvPr id="37" name="Shape 35"/>
          <p:cNvSpPr/>
          <p:nvPr/>
        </p:nvSpPr>
        <p:spPr>
          <a:xfrm>
            <a:off x="713232" y="5023104"/>
            <a:ext cx="384048" cy="384048"/>
          </a:xfrm>
          <a:prstGeom prst="ellipse">
            <a:avLst/>
          </a:prstGeom>
          <a:solidFill>
            <a:srgbClr val="2B3180"/>
          </a:solidFill>
          <a:ln w="12700">
            <a:solidFill>
              <a:srgbClr val="2B3180"/>
            </a:solidFill>
            <a:prstDash val="solid"/>
          </a:ln>
        </p:spPr>
      </p:sp>
      <p:sp>
        <p:nvSpPr>
          <p:cNvPr id="38" name="Text 36"/>
          <p:cNvSpPr/>
          <p:nvPr/>
        </p:nvSpPr>
        <p:spPr>
          <a:xfrm>
            <a:off x="713232" y="5023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9" name="Text 37"/>
          <p:cNvSpPr/>
          <p:nvPr/>
        </p:nvSpPr>
        <p:spPr>
          <a:xfrm>
            <a:off x="1207008" y="5004816"/>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Contribution Git</a:t>
            </a:r>
            <a:endParaRPr lang="en-US" sz="1600" dirty="0"/>
          </a:p>
        </p:txBody>
      </p:sp>
      <p:sp>
        <p:nvSpPr>
          <p:cNvPr id="40" name="Text 38"/>
          <p:cNvSpPr/>
          <p:nvPr/>
        </p:nvSpPr>
        <p:spPr>
          <a:xfrm>
            <a:off x="731520" y="5516880"/>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une PR écrite, une relue</a:t>
            </a:r>
            <a:endParaRPr lang="en-US" sz="1400" dirty="0"/>
          </a:p>
        </p:txBody>
      </p:sp>
      <p:sp>
        <p:nvSpPr>
          <p:cNvPr id="41" name="Shape 39"/>
          <p:cNvSpPr/>
          <p:nvPr/>
        </p:nvSpPr>
        <p:spPr>
          <a:xfrm>
            <a:off x="4313834" y="4858512"/>
            <a:ext cx="3564026" cy="1359408"/>
          </a:xfrm>
          <a:prstGeom prst="roundRect">
            <a:avLst>
              <a:gd name="adj" fmla="val 6726"/>
            </a:avLst>
          </a:prstGeom>
          <a:solidFill>
            <a:srgbClr val="F3F5FC"/>
          </a:solidFill>
          <a:ln w="9525">
            <a:solidFill>
              <a:srgbClr val="F3F5FC"/>
            </a:solidFill>
            <a:prstDash val="solid"/>
          </a:ln>
        </p:spPr>
      </p:sp>
      <p:sp>
        <p:nvSpPr>
          <p:cNvPr id="42" name="Shape 40"/>
          <p:cNvSpPr/>
          <p:nvPr/>
        </p:nvSpPr>
        <p:spPr>
          <a:xfrm>
            <a:off x="4478426" y="5023104"/>
            <a:ext cx="384048" cy="384048"/>
          </a:xfrm>
          <a:prstGeom prst="ellipse">
            <a:avLst/>
          </a:prstGeom>
          <a:solidFill>
            <a:srgbClr val="2B3180"/>
          </a:solidFill>
          <a:ln w="12700">
            <a:solidFill>
              <a:srgbClr val="2B3180"/>
            </a:solidFill>
            <a:prstDash val="solid"/>
          </a:ln>
        </p:spPr>
      </p:sp>
      <p:sp>
        <p:nvSpPr>
          <p:cNvPr id="43" name="Text 41"/>
          <p:cNvSpPr/>
          <p:nvPr/>
        </p:nvSpPr>
        <p:spPr>
          <a:xfrm>
            <a:off x="4478426" y="5023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44" name="Text 42"/>
          <p:cNvSpPr/>
          <p:nvPr/>
        </p:nvSpPr>
        <p:spPr>
          <a:xfrm>
            <a:off x="4972202" y="5004816"/>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Recommandation</a:t>
            </a:r>
            <a:endParaRPr lang="en-US" sz="1600" dirty="0"/>
          </a:p>
        </p:txBody>
      </p:sp>
      <p:sp>
        <p:nvSpPr>
          <p:cNvPr id="45" name="Text 43"/>
          <p:cNvSpPr/>
          <p:nvPr/>
        </p:nvSpPr>
        <p:spPr>
          <a:xfrm>
            <a:off x="4496714" y="5516880"/>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la défendre, avec sa limite</a:t>
            </a:r>
            <a:endParaRPr lang="en-US" sz="1400" dirty="0"/>
          </a:p>
        </p:txBody>
      </p:sp>
      <p:sp>
        <p:nvSpPr>
          <p:cNvPr id="46" name="Shape 44"/>
          <p:cNvSpPr/>
          <p:nvPr/>
        </p:nvSpPr>
        <p:spPr>
          <a:xfrm>
            <a:off x="8079029" y="4858512"/>
            <a:ext cx="3564026" cy="1359408"/>
          </a:xfrm>
          <a:prstGeom prst="roundRect">
            <a:avLst>
              <a:gd name="adj" fmla="val 6726"/>
            </a:avLst>
          </a:prstGeom>
          <a:solidFill>
            <a:srgbClr val="F3F5FC"/>
          </a:solidFill>
          <a:ln w="9525">
            <a:solidFill>
              <a:srgbClr val="F3F5FC"/>
            </a:solidFill>
            <a:prstDash val="solid"/>
          </a:ln>
        </p:spPr>
      </p:sp>
      <p:sp>
        <p:nvSpPr>
          <p:cNvPr id="47" name="Shape 45"/>
          <p:cNvSpPr/>
          <p:nvPr/>
        </p:nvSpPr>
        <p:spPr>
          <a:xfrm>
            <a:off x="8243621" y="5023104"/>
            <a:ext cx="384048" cy="384048"/>
          </a:xfrm>
          <a:prstGeom prst="ellipse">
            <a:avLst/>
          </a:prstGeom>
          <a:solidFill>
            <a:srgbClr val="2B3180"/>
          </a:solidFill>
          <a:ln w="12700">
            <a:solidFill>
              <a:srgbClr val="2B3180"/>
            </a:solidFill>
            <a:prstDash val="solid"/>
          </a:ln>
        </p:spPr>
      </p:sp>
      <p:sp>
        <p:nvSpPr>
          <p:cNvPr id="48" name="Text 46"/>
          <p:cNvSpPr/>
          <p:nvPr/>
        </p:nvSpPr>
        <p:spPr>
          <a:xfrm>
            <a:off x="8243621" y="5023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49" name="Text 47"/>
          <p:cNvSpPr/>
          <p:nvPr/>
        </p:nvSpPr>
        <p:spPr>
          <a:xfrm>
            <a:off x="8737397" y="5004816"/>
            <a:ext cx="2786786" cy="420624"/>
          </a:xfrm>
          <a:prstGeom prst="rect">
            <a:avLst/>
          </a:prstGeom>
          <a:noFill/>
          <a:ln/>
        </p:spPr>
        <p:txBody>
          <a:bodyPr wrap="square" lIns="0" tIns="0" rIns="0" bIns="0" rtlCol="0" anchor="ctr"/>
          <a:lstStyle/>
          <a:p>
            <a:pPr indent="0" marL="0">
              <a:buNone/>
            </a:pPr>
            <a:r>
              <a:rPr lang="en-US" sz="1600" b="1" dirty="0">
                <a:solidFill>
                  <a:srgbClr val="2B3180"/>
                </a:solidFill>
                <a:latin typeface="Arial" pitchFamily="34" charset="0"/>
                <a:ea typeface="Arial" pitchFamily="34" charset="-122"/>
                <a:cs typeface="Arial" pitchFamily="34" charset="-120"/>
              </a:rPr>
              <a:t>Variation</a:t>
            </a:r>
            <a:endParaRPr lang="en-US" sz="1600" dirty="0"/>
          </a:p>
        </p:txBody>
      </p:sp>
      <p:sp>
        <p:nvSpPr>
          <p:cNvPr id="50" name="Text 48"/>
          <p:cNvSpPr/>
          <p:nvPr/>
        </p:nvSpPr>
        <p:spPr>
          <a:xfrm>
            <a:off x="8261909" y="5516880"/>
            <a:ext cx="3198266" cy="627888"/>
          </a:xfrm>
          <a:prstGeom prst="rect">
            <a:avLst/>
          </a:prstGeom>
          <a:noFill/>
          <a:ln/>
        </p:spPr>
        <p:txBody>
          <a:bodyPr wrap="square" lIns="0" tIns="0" rIns="0" bIns="0" rtlCol="0" anchor="t"/>
          <a:lstStyle/>
          <a:p>
            <a:pPr indent="0" marL="0">
              <a:buNone/>
            </a:pPr>
            <a:r>
              <a:rPr lang="en-US" sz="1400" dirty="0">
                <a:solidFill>
                  <a:srgbClr val="1A1F4D"/>
                </a:solidFill>
                <a:latin typeface="Arial" pitchFamily="34" charset="0"/>
                <a:ea typeface="Arial" pitchFamily="34" charset="-122"/>
                <a:cs typeface="Arial" pitchFamily="34" charset="-120"/>
              </a:rPr>
              <a:t>avec Codex, puis contrôlée</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1417320"/>
            <a:ext cx="1097280" cy="1097280"/>
          </a:xfrm>
          <a:prstGeom prst="ellipse">
            <a:avLst/>
          </a:prstGeom>
          <a:solidFill>
            <a:srgbClr val="FF9A3C"/>
          </a:solidFill>
          <a:ln w="12700">
            <a:solidFill>
              <a:srgbClr val="FF9A3C"/>
            </a:solidFill>
            <a:prstDash val="solid"/>
          </a:ln>
        </p:spPr>
      </p:sp>
      <p:sp>
        <p:nvSpPr>
          <p:cNvPr id="3" name="Text 1"/>
          <p:cNvSpPr/>
          <p:nvPr/>
        </p:nvSpPr>
        <p:spPr>
          <a:xfrm>
            <a:off x="685800" y="1417320"/>
            <a:ext cx="1097280" cy="1097280"/>
          </a:xfrm>
          <a:prstGeom prst="rect">
            <a:avLst/>
          </a:prstGeom>
          <a:noFill/>
          <a:ln/>
        </p:spPr>
        <p:txBody>
          <a:bodyPr wrap="square" lIns="0" tIns="0" rIns="0" bIns="0" rtlCol="0" anchor="ctr"/>
          <a:lstStyle/>
          <a:p>
            <a:pPr algn="ctr" indent="0" marL="0">
              <a:buNone/>
            </a:pPr>
            <a:r>
              <a:rPr lang="en-US" sz="4400" b="1" dirty="0">
                <a:solidFill>
                  <a:srgbClr val="07152F"/>
                </a:solidFill>
                <a:latin typeface="Arial" pitchFamily="34" charset="0"/>
                <a:ea typeface="Arial" pitchFamily="34" charset="-122"/>
                <a:cs typeface="Arial" pitchFamily="34" charset="-120"/>
              </a:rPr>
              <a:t>I</a:t>
            </a:r>
            <a:endParaRPr lang="en-US" sz="4400" dirty="0"/>
          </a:p>
        </p:txBody>
      </p:sp>
      <p:sp>
        <p:nvSpPr>
          <p:cNvPr id="4" name="Text 2"/>
          <p:cNvSpPr/>
          <p:nvPr/>
        </p:nvSpPr>
        <p:spPr>
          <a:xfrm>
            <a:off x="2057400" y="1463040"/>
            <a:ext cx="7315200" cy="365760"/>
          </a:xfrm>
          <a:prstGeom prst="rect">
            <a:avLst/>
          </a:prstGeom>
          <a:noFill/>
          <a:ln/>
        </p:spPr>
        <p:txBody>
          <a:bodyPr wrap="square" lIns="0" tIns="0" rIns="0" bIns="0" rtlCol="0" anchor="ctr"/>
          <a:lstStyle/>
          <a:p>
            <a:pPr indent="0" marL="0">
              <a:buNone/>
            </a:pPr>
            <a:r>
              <a:rPr lang="en-US" sz="1400" b="1" spc="150" kern="0" dirty="0">
                <a:solidFill>
                  <a:srgbClr val="FF9A3C"/>
                </a:solidFill>
                <a:latin typeface="Arial" pitchFamily="34" charset="0"/>
                <a:ea typeface="Arial" pitchFamily="34" charset="-122"/>
                <a:cs typeface="Arial" pitchFamily="34" charset="-120"/>
              </a:rPr>
              <a:t>PARTIE I / I</a:t>
            </a:r>
            <a:endParaRPr lang="en-US" sz="1400" dirty="0"/>
          </a:p>
        </p:txBody>
      </p:sp>
      <p:sp>
        <p:nvSpPr>
          <p:cNvPr id="5" name="Text 3"/>
          <p:cNvSpPr/>
          <p:nvPr/>
        </p:nvSpPr>
        <p:spPr>
          <a:xfrm>
            <a:off x="2057400" y="1874520"/>
            <a:ext cx="932688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Sources et licences</a:t>
            </a:r>
            <a:endParaRPr lang="en-US" sz="4000" dirty="0"/>
          </a:p>
        </p:txBody>
      </p:sp>
      <p:sp>
        <p:nvSpPr>
          <p:cNvPr id="6" name="Text 4"/>
          <p:cNvSpPr/>
          <p:nvPr/>
        </p:nvSpPr>
        <p:spPr>
          <a:xfrm>
            <a:off x="2057400" y="3246120"/>
            <a:ext cx="914400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Pages officielles vérifiées le 28/10/2026</a:t>
            </a:r>
            <a:endParaRPr lang="en-US" sz="2200" dirty="0"/>
          </a:p>
        </p:txBody>
      </p:sp>
      <p:sp>
        <p:nvSpPr>
          <p:cNvPr id="7" name="Shape 5"/>
          <p:cNvSpPr/>
          <p:nvPr/>
        </p:nvSpPr>
        <p:spPr>
          <a:xfrm>
            <a:off x="685800" y="5715000"/>
            <a:ext cx="1285320" cy="713232"/>
          </a:xfrm>
          <a:prstGeom prst="roundRect">
            <a:avLst>
              <a:gd name="adj" fmla="val 17949"/>
            </a:avLst>
          </a:prstGeom>
          <a:solidFill>
            <a:srgbClr val="FFFFFF"/>
          </a:solidFill>
          <a:ln w="12700">
            <a:solidFill>
              <a:srgbClr val="FFFFFF"/>
            </a:solidFill>
            <a:prstDash val="solid"/>
          </a:ln>
        </p:spPr>
      </p:sp>
      <p:pic>
        <p:nvPicPr>
          <p:cNvPr id="8" name="Image 0" descr="Logo fourni : Solen Digital">    </p:cNvPr>
          <p:cNvPicPr>
            <a:picLocks noChangeAspect="1"/>
          </p:cNvPicPr>
          <p:nvPr/>
        </p:nvPicPr>
        <p:blipFill>
          <a:blip r:embed="rId1"/>
          <a:stretch>
            <a:fillRect/>
          </a:stretch>
        </p:blipFill>
        <p:spPr>
          <a:xfrm>
            <a:off x="850392" y="5879592"/>
            <a:ext cx="956136" cy="384048"/>
          </a:xfrm>
          <a:prstGeom prst="rect">
            <a:avLst/>
          </a:prstGeom>
        </p:spPr>
      </p:pic>
      <p:pic>
        <p:nvPicPr>
          <p:cNvPr id="9" name="Image 1" descr="Logo fourni : Leaders University">    </p:cNvPr>
          <p:cNvPicPr>
            <a:picLocks noChangeAspect="1"/>
          </p:cNvPicPr>
          <p:nvPr/>
        </p:nvPicPr>
        <p:blipFill>
          <a:blip r:embed="rId2"/>
          <a:stretch>
            <a:fillRect/>
          </a:stretch>
        </p:blipFill>
        <p:spPr>
          <a:xfrm>
            <a:off x="2199720" y="5715000"/>
            <a:ext cx="713232" cy="713232"/>
          </a:xfrm>
          <a:prstGeom prst="rect">
            <a:avLst/>
          </a:prstGeom>
        </p:spPr>
      </p:pic>
      <p:sp>
        <p:nvSpPr>
          <p:cNvPr id="10" name="Text 6"/>
          <p:cNvSpPr/>
          <p:nvPr/>
        </p:nvSpPr>
        <p:spPr>
          <a:xfrm>
            <a:off x="10271455" y="6437376"/>
            <a:ext cx="1371600" cy="256032"/>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83 / 87</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SOURCES ET LICENCES  ·  SOURCES · VÉRIFIÉES LE 28/10/2026</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Codex et ChatGPT · OpenAI</a:t>
            </a:r>
            <a:endParaRPr lang="en-US" sz="3000" dirty="0"/>
          </a:p>
        </p:txBody>
      </p:sp>
      <p:sp>
        <p:nvSpPr>
          <p:cNvPr id="6" name="Shape 4"/>
          <p:cNvSpPr/>
          <p:nvPr/>
        </p:nvSpPr>
        <p:spPr>
          <a:xfrm>
            <a:off x="548640" y="1691640"/>
            <a:ext cx="5364328" cy="758952"/>
          </a:xfrm>
          <a:prstGeom prst="roundRect">
            <a:avLst>
              <a:gd name="adj" fmla="val 7229"/>
            </a:avLst>
          </a:prstGeom>
          <a:solidFill>
            <a:srgbClr val="F3F5FC"/>
          </a:solidFill>
          <a:ln w="9525">
            <a:solidFill>
              <a:srgbClr val="DCE2F0"/>
            </a:solidFill>
            <a:prstDash val="solid"/>
          </a:ln>
        </p:spPr>
      </p:sp>
      <p:sp>
        <p:nvSpPr>
          <p:cNvPr id="7" name="Text 5"/>
          <p:cNvSpPr/>
          <p:nvPr/>
        </p:nvSpPr>
        <p:spPr>
          <a:xfrm>
            <a:off x="777240" y="174650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1" invalidUrl="" action="" tgtFrame="" tooltip="https://learn.chatgpt.com/docs/pricing" history="1" highlightClick="0" endSnd="0">
                  <a:extLst>
                    <a:ext uri="{A12FA001-AC4F-418D-AE19-62706E023703}">
                      <ahyp:hlinkClr xmlns:ahyp="http://schemas.microsoft.com/office/drawing/2018/hyperlinkcolor" val="tx"/>
                    </a:ext>
                  </a:extLst>
                </a:hlinkClick>
              </a:rPr>
              <a:t>Pricing (offre Free)</a:t>
            </a:r>
            <a:endParaRPr lang="en-US" sz="1800" dirty="0"/>
          </a:p>
        </p:txBody>
      </p:sp>
      <p:sp>
        <p:nvSpPr>
          <p:cNvPr id="8" name="Text 6"/>
          <p:cNvSpPr/>
          <p:nvPr/>
        </p:nvSpPr>
        <p:spPr>
          <a:xfrm>
            <a:off x="777240" y="209397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9" name="Shape 7"/>
          <p:cNvSpPr/>
          <p:nvPr/>
        </p:nvSpPr>
        <p:spPr>
          <a:xfrm>
            <a:off x="548640" y="2560320"/>
            <a:ext cx="5364328" cy="758952"/>
          </a:xfrm>
          <a:prstGeom prst="roundRect">
            <a:avLst>
              <a:gd name="adj" fmla="val 7229"/>
            </a:avLst>
          </a:prstGeom>
          <a:solidFill>
            <a:srgbClr val="FFFFFF"/>
          </a:solidFill>
          <a:ln w="9525">
            <a:solidFill>
              <a:srgbClr val="DCE2F0"/>
            </a:solidFill>
            <a:prstDash val="solid"/>
          </a:ln>
        </p:spPr>
      </p:sp>
      <p:sp>
        <p:nvSpPr>
          <p:cNvPr id="10" name="Text 8"/>
          <p:cNvSpPr/>
          <p:nvPr/>
        </p:nvSpPr>
        <p:spPr>
          <a:xfrm>
            <a:off x="777240" y="261518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2" invalidUrl="" action="" tgtFrame="" tooltip="https://learn.chatgpt.com/docs/models" history="1" highlightClick="0" endSnd="0">
                  <a:extLst>
                    <a:ext uri="{A12FA001-AC4F-418D-AE19-62706E023703}">
                      <ahyp:hlinkClr xmlns:ahyp="http://schemas.microsoft.com/office/drawing/2018/hyperlinkcolor" val="tx"/>
                    </a:ext>
                  </a:extLst>
                </a:hlinkClick>
              </a:rPr>
              <a:t>Models (efforts, Luna)</a:t>
            </a:r>
            <a:endParaRPr lang="en-US" sz="1800" dirty="0"/>
          </a:p>
        </p:txBody>
      </p:sp>
      <p:sp>
        <p:nvSpPr>
          <p:cNvPr id="11" name="Text 9"/>
          <p:cNvSpPr/>
          <p:nvPr/>
        </p:nvSpPr>
        <p:spPr>
          <a:xfrm>
            <a:off x="777240" y="296265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12" name="Shape 10"/>
          <p:cNvSpPr/>
          <p:nvPr/>
        </p:nvSpPr>
        <p:spPr>
          <a:xfrm>
            <a:off x="548640" y="3429000"/>
            <a:ext cx="5364328" cy="758952"/>
          </a:xfrm>
          <a:prstGeom prst="roundRect">
            <a:avLst>
              <a:gd name="adj" fmla="val 7229"/>
            </a:avLst>
          </a:prstGeom>
          <a:solidFill>
            <a:srgbClr val="F3F5FC"/>
          </a:solidFill>
          <a:ln w="9525">
            <a:solidFill>
              <a:srgbClr val="DCE2F0"/>
            </a:solidFill>
            <a:prstDash val="solid"/>
          </a:ln>
        </p:spPr>
      </p:sp>
      <p:sp>
        <p:nvSpPr>
          <p:cNvPr id="13" name="Text 11"/>
          <p:cNvSpPr/>
          <p:nvPr/>
        </p:nvSpPr>
        <p:spPr>
          <a:xfrm>
            <a:off x="777240" y="348386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3" invalidUrl="" action="" tgtFrame="" tooltip="https://learn.chatgpt.com/docs/app/windows" history="1" highlightClick="0" endSnd="0">
                  <a:extLst>
                    <a:ext uri="{A12FA001-AC4F-418D-AE19-62706E023703}">
                      <ahyp:hlinkClr xmlns:ahyp="http://schemas.microsoft.com/office/drawing/2018/hyperlinkcolor" val="tx"/>
                    </a:ext>
                  </a:extLst>
                </a:hlinkClick>
              </a:rPr>
              <a:t>Desktop app for Windows</a:t>
            </a:r>
            <a:endParaRPr lang="en-US" sz="1800" dirty="0"/>
          </a:p>
        </p:txBody>
      </p:sp>
      <p:sp>
        <p:nvSpPr>
          <p:cNvPr id="14" name="Text 12"/>
          <p:cNvSpPr/>
          <p:nvPr/>
        </p:nvSpPr>
        <p:spPr>
          <a:xfrm>
            <a:off x="777240" y="383133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15" name="Shape 13"/>
          <p:cNvSpPr/>
          <p:nvPr/>
        </p:nvSpPr>
        <p:spPr>
          <a:xfrm>
            <a:off x="548640" y="4297680"/>
            <a:ext cx="5364328" cy="758952"/>
          </a:xfrm>
          <a:prstGeom prst="roundRect">
            <a:avLst>
              <a:gd name="adj" fmla="val 7229"/>
            </a:avLst>
          </a:prstGeom>
          <a:solidFill>
            <a:srgbClr val="FFFFFF"/>
          </a:solidFill>
          <a:ln w="9525">
            <a:solidFill>
              <a:srgbClr val="DCE2F0"/>
            </a:solidFill>
            <a:prstDash val="solid"/>
          </a:ln>
        </p:spPr>
      </p:sp>
      <p:sp>
        <p:nvSpPr>
          <p:cNvPr id="16" name="Text 14"/>
          <p:cNvSpPr/>
          <p:nvPr/>
        </p:nvSpPr>
        <p:spPr>
          <a:xfrm>
            <a:off x="777240" y="435254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4" invalidUrl="" action="" tgtFrame="" tooltip="https://learn.chatgpt.com/docs/windows/wsl" history="1" highlightClick="0" endSnd="0">
                  <a:extLst>
                    <a:ext uri="{A12FA001-AC4F-418D-AE19-62706E023703}">
                      <ahyp:hlinkClr xmlns:ahyp="http://schemas.microsoft.com/office/drawing/2018/hyperlinkcolor" val="tx"/>
                    </a:ext>
                  </a:extLst>
                </a:hlinkClick>
              </a:rPr>
              <a:t>WSL</a:t>
            </a:r>
            <a:endParaRPr lang="en-US" sz="1800" dirty="0"/>
          </a:p>
        </p:txBody>
      </p:sp>
      <p:sp>
        <p:nvSpPr>
          <p:cNvPr id="17" name="Text 15"/>
          <p:cNvSpPr/>
          <p:nvPr/>
        </p:nvSpPr>
        <p:spPr>
          <a:xfrm>
            <a:off x="777240" y="470001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18" name="Shape 16"/>
          <p:cNvSpPr/>
          <p:nvPr/>
        </p:nvSpPr>
        <p:spPr>
          <a:xfrm>
            <a:off x="548640" y="5166360"/>
            <a:ext cx="5364328" cy="758952"/>
          </a:xfrm>
          <a:prstGeom prst="roundRect">
            <a:avLst>
              <a:gd name="adj" fmla="val 7229"/>
            </a:avLst>
          </a:prstGeom>
          <a:solidFill>
            <a:srgbClr val="F3F5FC"/>
          </a:solidFill>
          <a:ln w="9525">
            <a:solidFill>
              <a:srgbClr val="DCE2F0"/>
            </a:solidFill>
            <a:prstDash val="solid"/>
          </a:ln>
        </p:spPr>
      </p:sp>
      <p:sp>
        <p:nvSpPr>
          <p:cNvPr id="19" name="Text 17"/>
          <p:cNvSpPr/>
          <p:nvPr/>
        </p:nvSpPr>
        <p:spPr>
          <a:xfrm>
            <a:off x="777240" y="522122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5" invalidUrl="" action="" tgtFrame="" tooltip="https://learn.chatgpt.com/docs/linux/linux-app" history="1" highlightClick="0" endSnd="0">
                  <a:extLst>
                    <a:ext uri="{A12FA001-AC4F-418D-AE19-62706E023703}">
                      <ahyp:hlinkClr xmlns:ahyp="http://schemas.microsoft.com/office/drawing/2018/hyperlinkcolor" val="tx"/>
                    </a:ext>
                  </a:extLst>
                </a:hlinkClick>
              </a:rPr>
              <a:t>Desktop app for Linux</a:t>
            </a:r>
            <a:endParaRPr lang="en-US" sz="1800" dirty="0"/>
          </a:p>
        </p:txBody>
      </p:sp>
      <p:sp>
        <p:nvSpPr>
          <p:cNvPr id="20" name="Text 18"/>
          <p:cNvSpPr/>
          <p:nvPr/>
        </p:nvSpPr>
        <p:spPr>
          <a:xfrm>
            <a:off x="777240" y="556869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21" name="Shape 19"/>
          <p:cNvSpPr/>
          <p:nvPr/>
        </p:nvSpPr>
        <p:spPr>
          <a:xfrm>
            <a:off x="6278728" y="1691640"/>
            <a:ext cx="5364328" cy="758952"/>
          </a:xfrm>
          <a:prstGeom prst="roundRect">
            <a:avLst>
              <a:gd name="adj" fmla="val 7229"/>
            </a:avLst>
          </a:prstGeom>
          <a:solidFill>
            <a:srgbClr val="FFFFFF"/>
          </a:solidFill>
          <a:ln w="9525">
            <a:solidFill>
              <a:srgbClr val="DCE2F0"/>
            </a:solidFill>
            <a:prstDash val="solid"/>
          </a:ln>
        </p:spPr>
      </p:sp>
      <p:sp>
        <p:nvSpPr>
          <p:cNvPr id="22" name="Text 20"/>
          <p:cNvSpPr/>
          <p:nvPr/>
        </p:nvSpPr>
        <p:spPr>
          <a:xfrm>
            <a:off x="6507328" y="174650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6" invalidUrl="" action="" tgtFrame="" tooltip="https://learn.chatgpt.com/codex/reference/slash-commands" history="1" highlightClick="0" endSnd="0">
                  <a:extLst>
                    <a:ext uri="{A12FA001-AC4F-418D-AE19-62706E023703}">
                      <ahyp:hlinkClr xmlns:ahyp="http://schemas.microsoft.com/office/drawing/2018/hyperlinkcolor" val="tx"/>
                    </a:ext>
                  </a:extLst>
                </a:hlinkClick>
              </a:rPr>
              <a:t>Slash commands</a:t>
            </a:r>
            <a:endParaRPr lang="en-US" sz="1800" dirty="0"/>
          </a:p>
        </p:txBody>
      </p:sp>
      <p:sp>
        <p:nvSpPr>
          <p:cNvPr id="23" name="Text 21"/>
          <p:cNvSpPr/>
          <p:nvPr/>
        </p:nvSpPr>
        <p:spPr>
          <a:xfrm>
            <a:off x="6507328" y="209397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24" name="Shape 22"/>
          <p:cNvSpPr/>
          <p:nvPr/>
        </p:nvSpPr>
        <p:spPr>
          <a:xfrm>
            <a:off x="6278728" y="2560320"/>
            <a:ext cx="5364328" cy="758952"/>
          </a:xfrm>
          <a:prstGeom prst="roundRect">
            <a:avLst>
              <a:gd name="adj" fmla="val 7229"/>
            </a:avLst>
          </a:prstGeom>
          <a:solidFill>
            <a:srgbClr val="F3F5FC"/>
          </a:solidFill>
          <a:ln w="9525">
            <a:solidFill>
              <a:srgbClr val="DCE2F0"/>
            </a:solidFill>
            <a:prstDash val="solid"/>
          </a:ln>
        </p:spPr>
      </p:sp>
      <p:sp>
        <p:nvSpPr>
          <p:cNvPr id="25" name="Text 23"/>
          <p:cNvSpPr/>
          <p:nvPr/>
        </p:nvSpPr>
        <p:spPr>
          <a:xfrm>
            <a:off x="6507328" y="261518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7" invalidUrl="" action="" tgtFrame="" tooltip="https://learn.chatgpt.com/docs/agent-configuration/agents-md" history="1" highlightClick="0" endSnd="0">
                  <a:extLst>
                    <a:ext uri="{A12FA001-AC4F-418D-AE19-62706E023703}">
                      <ahyp:hlinkClr xmlns:ahyp="http://schemas.microsoft.com/office/drawing/2018/hyperlinkcolor" val="tx"/>
                    </a:ext>
                  </a:extLst>
                </a:hlinkClick>
              </a:rPr>
              <a:t>AGENTS.md</a:t>
            </a:r>
            <a:endParaRPr lang="en-US" sz="1800" dirty="0"/>
          </a:p>
        </p:txBody>
      </p:sp>
      <p:sp>
        <p:nvSpPr>
          <p:cNvPr id="26" name="Text 24"/>
          <p:cNvSpPr/>
          <p:nvPr/>
        </p:nvSpPr>
        <p:spPr>
          <a:xfrm>
            <a:off x="6507328" y="296265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27" name="Shape 25"/>
          <p:cNvSpPr/>
          <p:nvPr/>
        </p:nvSpPr>
        <p:spPr>
          <a:xfrm>
            <a:off x="6278728" y="3429000"/>
            <a:ext cx="5364328" cy="758952"/>
          </a:xfrm>
          <a:prstGeom prst="roundRect">
            <a:avLst>
              <a:gd name="adj" fmla="val 7229"/>
            </a:avLst>
          </a:prstGeom>
          <a:solidFill>
            <a:srgbClr val="FFFFFF"/>
          </a:solidFill>
          <a:ln w="9525">
            <a:solidFill>
              <a:srgbClr val="DCE2F0"/>
            </a:solidFill>
            <a:prstDash val="solid"/>
          </a:ln>
        </p:spPr>
      </p:sp>
      <p:sp>
        <p:nvSpPr>
          <p:cNvPr id="28" name="Text 26"/>
          <p:cNvSpPr/>
          <p:nvPr/>
        </p:nvSpPr>
        <p:spPr>
          <a:xfrm>
            <a:off x="6507328" y="348386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8" invalidUrl="" action="" tgtFrame="" tooltip="https://learn.chatgpt.com/docs/build-skills" history="1" highlightClick="0" endSnd="0">
                  <a:extLst>
                    <a:ext uri="{A12FA001-AC4F-418D-AE19-62706E023703}">
                      <ahyp:hlinkClr xmlns:ahyp="http://schemas.microsoft.com/office/drawing/2018/hyperlinkcolor" val="tx"/>
                    </a:ext>
                  </a:extLst>
                </a:hlinkClick>
              </a:rPr>
              <a:t>Build skills</a:t>
            </a:r>
            <a:endParaRPr lang="en-US" sz="1800" dirty="0"/>
          </a:p>
        </p:txBody>
      </p:sp>
      <p:sp>
        <p:nvSpPr>
          <p:cNvPr id="29" name="Text 27"/>
          <p:cNvSpPr/>
          <p:nvPr/>
        </p:nvSpPr>
        <p:spPr>
          <a:xfrm>
            <a:off x="6507328" y="383133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30" name="Shape 28"/>
          <p:cNvSpPr/>
          <p:nvPr/>
        </p:nvSpPr>
        <p:spPr>
          <a:xfrm>
            <a:off x="6278728" y="4297680"/>
            <a:ext cx="5364328" cy="758952"/>
          </a:xfrm>
          <a:prstGeom prst="roundRect">
            <a:avLst>
              <a:gd name="adj" fmla="val 7229"/>
            </a:avLst>
          </a:prstGeom>
          <a:solidFill>
            <a:srgbClr val="F3F5FC"/>
          </a:solidFill>
          <a:ln w="9525">
            <a:solidFill>
              <a:srgbClr val="DCE2F0"/>
            </a:solidFill>
            <a:prstDash val="solid"/>
          </a:ln>
        </p:spPr>
      </p:sp>
      <p:sp>
        <p:nvSpPr>
          <p:cNvPr id="31" name="Text 29"/>
          <p:cNvSpPr/>
          <p:nvPr/>
        </p:nvSpPr>
        <p:spPr>
          <a:xfrm>
            <a:off x="6507328" y="435254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9" invalidUrl="" action="" tgtFrame="" tooltip="https://learn.chatgpt.com/docs/agent-configuration/subagents" history="1" highlightClick="0" endSnd="0">
                  <a:extLst>
                    <a:ext uri="{A12FA001-AC4F-418D-AE19-62706E023703}">
                      <ahyp:hlinkClr xmlns:ahyp="http://schemas.microsoft.com/office/drawing/2018/hyperlinkcolor" val="tx"/>
                    </a:ext>
                  </a:extLst>
                </a:hlinkClick>
              </a:rPr>
              <a:t>Subagents</a:t>
            </a:r>
            <a:endParaRPr lang="en-US" sz="1800" dirty="0"/>
          </a:p>
        </p:txBody>
      </p:sp>
      <p:sp>
        <p:nvSpPr>
          <p:cNvPr id="32" name="Text 30"/>
          <p:cNvSpPr/>
          <p:nvPr/>
        </p:nvSpPr>
        <p:spPr>
          <a:xfrm>
            <a:off x="6507328" y="470001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33" name="Shape 31"/>
          <p:cNvSpPr/>
          <p:nvPr/>
        </p:nvSpPr>
        <p:spPr>
          <a:xfrm>
            <a:off x="6278728" y="5166360"/>
            <a:ext cx="5364328" cy="758952"/>
          </a:xfrm>
          <a:prstGeom prst="roundRect">
            <a:avLst>
              <a:gd name="adj" fmla="val 7229"/>
            </a:avLst>
          </a:prstGeom>
          <a:solidFill>
            <a:srgbClr val="FFFFFF"/>
          </a:solidFill>
          <a:ln w="9525">
            <a:solidFill>
              <a:srgbClr val="DCE2F0"/>
            </a:solidFill>
            <a:prstDash val="solid"/>
          </a:ln>
        </p:spPr>
      </p:sp>
      <p:sp>
        <p:nvSpPr>
          <p:cNvPr id="34" name="Text 32"/>
          <p:cNvSpPr/>
          <p:nvPr/>
        </p:nvSpPr>
        <p:spPr>
          <a:xfrm>
            <a:off x="6507328" y="522122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10" invalidUrl="" action="" tgtFrame="" tooltip="https://learn.chatgpt.com/docs/codex/cli" history="1" highlightClick="0" endSnd="0">
                  <a:extLst>
                    <a:ext uri="{A12FA001-AC4F-418D-AE19-62706E023703}">
                      <ahyp:hlinkClr xmlns:ahyp="http://schemas.microsoft.com/office/drawing/2018/hyperlinkcolor" val="tx"/>
                    </a:ext>
                  </a:extLst>
                </a:hlinkClick>
              </a:rPr>
              <a:t>Codex CLI (annexe facultative)</a:t>
            </a:r>
            <a:endParaRPr lang="en-US" sz="1800" dirty="0"/>
          </a:p>
        </p:txBody>
      </p:sp>
      <p:sp>
        <p:nvSpPr>
          <p:cNvPr id="35" name="Text 33"/>
          <p:cNvSpPr/>
          <p:nvPr/>
        </p:nvSpPr>
        <p:spPr>
          <a:xfrm>
            <a:off x="6507328" y="556869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learn.chatgpt.com</a:t>
            </a:r>
            <a:endParaRPr lang="en-US" sz="1400" dirty="0"/>
          </a:p>
        </p:txBody>
      </p:sp>
      <p:sp>
        <p:nvSpPr>
          <p:cNvPr id="36" name="Text 34"/>
          <p:cNvSpPr/>
          <p:nvPr/>
        </p:nvSpPr>
        <p:spPr>
          <a:xfrm>
            <a:off x="548640" y="6053328"/>
            <a:ext cx="11094415" cy="274320"/>
          </a:xfrm>
          <a:prstGeom prst="rect">
            <a:avLst/>
          </a:prstGeom>
          <a:noFill/>
          <a:ln/>
        </p:spPr>
        <p:txBody>
          <a:bodyPr wrap="square" lIns="0" tIns="0" rIns="0" bIns="0" rtlCol="0" anchor="ctr"/>
          <a:lstStyle/>
          <a:p>
            <a:pPr indent="0" marL="0">
              <a:buNone/>
            </a:pPr>
            <a:r>
              <a:rPr lang="en-US" sz="1400" i="1" dirty="0">
                <a:solidFill>
                  <a:srgbClr val="5A6478"/>
                </a:solidFill>
                <a:latin typeface="Arial" pitchFamily="34" charset="0"/>
                <a:ea typeface="Arial" pitchFamily="34" charset="-122"/>
                <a:cs typeface="Arial" pitchFamily="34" charset="-120"/>
              </a:rPr>
              <a:t>Adresses complètes dans les notes du présentateur et dans docs/setup/sources.json.</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SOURCES ET LICENCES  ·  SOURCES · VÉRIFIÉES LE 28/10/2026</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GitHub, Microsoft, Python, Ubuntu</a:t>
            </a:r>
            <a:endParaRPr lang="en-US" sz="3000" dirty="0"/>
          </a:p>
        </p:txBody>
      </p:sp>
      <p:sp>
        <p:nvSpPr>
          <p:cNvPr id="6" name="Shape 4"/>
          <p:cNvSpPr/>
          <p:nvPr/>
        </p:nvSpPr>
        <p:spPr>
          <a:xfrm>
            <a:off x="548640" y="1691640"/>
            <a:ext cx="5364328" cy="758952"/>
          </a:xfrm>
          <a:prstGeom prst="roundRect">
            <a:avLst>
              <a:gd name="adj" fmla="val 7229"/>
            </a:avLst>
          </a:prstGeom>
          <a:solidFill>
            <a:srgbClr val="F3F5FC"/>
          </a:solidFill>
          <a:ln w="9525">
            <a:solidFill>
              <a:srgbClr val="DCE2F0"/>
            </a:solidFill>
            <a:prstDash val="solid"/>
          </a:ln>
        </p:spPr>
      </p:sp>
      <p:sp>
        <p:nvSpPr>
          <p:cNvPr id="7" name="Text 5"/>
          <p:cNvSpPr/>
          <p:nvPr/>
        </p:nvSpPr>
        <p:spPr>
          <a:xfrm>
            <a:off x="777240" y="174650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1" invalidUrl="" action="" tgtFrame="" tooltip="https://docs.github.com/en/get-started/learning-about-github/githubs-plans" history="1" highlightClick="0" endSnd="0">
                  <a:extLst>
                    <a:ext uri="{A12FA001-AC4F-418D-AE19-62706E023703}">
                      <ahyp:hlinkClr xmlns:ahyp="http://schemas.microsoft.com/office/drawing/2018/hyperlinkcolor" val="tx"/>
                    </a:ext>
                  </a:extLst>
                </a:hlinkClick>
              </a:rPr>
              <a:t>GitHub’s plans</a:t>
            </a:r>
            <a:endParaRPr lang="en-US" sz="1800" dirty="0"/>
          </a:p>
        </p:txBody>
      </p:sp>
      <p:sp>
        <p:nvSpPr>
          <p:cNvPr id="8" name="Text 6"/>
          <p:cNvSpPr/>
          <p:nvPr/>
        </p:nvSpPr>
        <p:spPr>
          <a:xfrm>
            <a:off x="777240" y="209397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docs.github.com</a:t>
            </a:r>
            <a:endParaRPr lang="en-US" sz="1400" dirty="0"/>
          </a:p>
        </p:txBody>
      </p:sp>
      <p:sp>
        <p:nvSpPr>
          <p:cNvPr id="9" name="Shape 7"/>
          <p:cNvSpPr/>
          <p:nvPr/>
        </p:nvSpPr>
        <p:spPr>
          <a:xfrm>
            <a:off x="548640" y="2560320"/>
            <a:ext cx="5364328" cy="758952"/>
          </a:xfrm>
          <a:prstGeom prst="roundRect">
            <a:avLst>
              <a:gd name="adj" fmla="val 7229"/>
            </a:avLst>
          </a:prstGeom>
          <a:solidFill>
            <a:srgbClr val="FFFFFF"/>
          </a:solidFill>
          <a:ln w="9525">
            <a:solidFill>
              <a:srgbClr val="DCE2F0"/>
            </a:solidFill>
            <a:prstDash val="solid"/>
          </a:ln>
        </p:spPr>
      </p:sp>
      <p:sp>
        <p:nvSpPr>
          <p:cNvPr id="10" name="Text 8"/>
          <p:cNvSpPr/>
          <p:nvPr/>
        </p:nvSpPr>
        <p:spPr>
          <a:xfrm>
            <a:off x="777240" y="261518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2" invalidUrl="" action="" tgtFrame="" tooltip="https://docs.github.com/en/billing/concepts/product-billing/github-actions" history="1" highlightClick="0" endSnd="0">
                  <a:extLst>
                    <a:ext uri="{A12FA001-AC4F-418D-AE19-62706E023703}">
                      <ahyp:hlinkClr xmlns:ahyp="http://schemas.microsoft.com/office/drawing/2018/hyperlinkcolor" val="tx"/>
                    </a:ext>
                  </a:extLst>
                </a:hlinkClick>
              </a:rPr>
              <a:t>GitHub Actions billing</a:t>
            </a:r>
            <a:endParaRPr lang="en-US" sz="1800" dirty="0"/>
          </a:p>
        </p:txBody>
      </p:sp>
      <p:sp>
        <p:nvSpPr>
          <p:cNvPr id="11" name="Text 9"/>
          <p:cNvSpPr/>
          <p:nvPr/>
        </p:nvSpPr>
        <p:spPr>
          <a:xfrm>
            <a:off x="777240" y="296265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docs.github.com</a:t>
            </a:r>
            <a:endParaRPr lang="en-US" sz="1400" dirty="0"/>
          </a:p>
        </p:txBody>
      </p:sp>
      <p:sp>
        <p:nvSpPr>
          <p:cNvPr id="12" name="Shape 10"/>
          <p:cNvSpPr/>
          <p:nvPr/>
        </p:nvSpPr>
        <p:spPr>
          <a:xfrm>
            <a:off x="548640" y="3429000"/>
            <a:ext cx="5364328" cy="758952"/>
          </a:xfrm>
          <a:prstGeom prst="roundRect">
            <a:avLst>
              <a:gd name="adj" fmla="val 7229"/>
            </a:avLst>
          </a:prstGeom>
          <a:solidFill>
            <a:srgbClr val="F3F5FC"/>
          </a:solidFill>
          <a:ln w="9525">
            <a:solidFill>
              <a:srgbClr val="DCE2F0"/>
            </a:solidFill>
            <a:prstDash val="solid"/>
          </a:ln>
        </p:spPr>
      </p:sp>
      <p:sp>
        <p:nvSpPr>
          <p:cNvPr id="13" name="Text 11"/>
          <p:cNvSpPr/>
          <p:nvPr/>
        </p:nvSpPr>
        <p:spPr>
          <a:xfrm>
            <a:off x="777240" y="348386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3" invalidUrl="" action="" tgtFrame="" tooltip="https://docs.github.com/en/pull-requests/collaborating-with-pull-requests/proposing-changes-to-your-work-with-pull-requests/creating-a-pull-request" history="1" highlightClick="0" endSnd="0">
                  <a:extLst>
                    <a:ext uri="{A12FA001-AC4F-418D-AE19-62706E023703}">
                      <ahyp:hlinkClr xmlns:ahyp="http://schemas.microsoft.com/office/drawing/2018/hyperlinkcolor" val="tx"/>
                    </a:ext>
                  </a:extLst>
                </a:hlinkClick>
              </a:rPr>
              <a:t>Creating a pull request</a:t>
            </a:r>
            <a:endParaRPr lang="en-US" sz="1800" dirty="0"/>
          </a:p>
        </p:txBody>
      </p:sp>
      <p:sp>
        <p:nvSpPr>
          <p:cNvPr id="14" name="Text 12"/>
          <p:cNvSpPr/>
          <p:nvPr/>
        </p:nvSpPr>
        <p:spPr>
          <a:xfrm>
            <a:off x="777240" y="383133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docs.github.com</a:t>
            </a:r>
            <a:endParaRPr lang="en-US" sz="1400" dirty="0"/>
          </a:p>
        </p:txBody>
      </p:sp>
      <p:sp>
        <p:nvSpPr>
          <p:cNvPr id="15" name="Shape 13"/>
          <p:cNvSpPr/>
          <p:nvPr/>
        </p:nvSpPr>
        <p:spPr>
          <a:xfrm>
            <a:off x="548640" y="4297680"/>
            <a:ext cx="5364328" cy="758952"/>
          </a:xfrm>
          <a:prstGeom prst="roundRect">
            <a:avLst>
              <a:gd name="adj" fmla="val 7229"/>
            </a:avLst>
          </a:prstGeom>
          <a:solidFill>
            <a:srgbClr val="FFFFFF"/>
          </a:solidFill>
          <a:ln w="9525">
            <a:solidFill>
              <a:srgbClr val="DCE2F0"/>
            </a:solidFill>
            <a:prstDash val="solid"/>
          </a:ln>
        </p:spPr>
      </p:sp>
      <p:sp>
        <p:nvSpPr>
          <p:cNvPr id="16" name="Text 14"/>
          <p:cNvSpPr/>
          <p:nvPr/>
        </p:nvSpPr>
        <p:spPr>
          <a:xfrm>
            <a:off x="777240" y="435254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4" invalidUrl="" action="" tgtFrame="" tooltip="https://docs.github.com/en/pull-requests/collaborating-with-pull-requests/reviewing-changes-in-pull-requests/reviewing-proposed-changes-in-a-pull-request" history="1" highlightClick="0" endSnd="0">
                  <a:extLst>
                    <a:ext uri="{A12FA001-AC4F-418D-AE19-62706E023703}">
                      <ahyp:hlinkClr xmlns:ahyp="http://schemas.microsoft.com/office/drawing/2018/hyperlinkcolor" val="tx"/>
                    </a:ext>
                  </a:extLst>
                </a:hlinkClick>
              </a:rPr>
              <a:t>Reviewing proposed changes</a:t>
            </a:r>
            <a:endParaRPr lang="en-US" sz="1800" dirty="0"/>
          </a:p>
        </p:txBody>
      </p:sp>
      <p:sp>
        <p:nvSpPr>
          <p:cNvPr id="17" name="Text 15"/>
          <p:cNvSpPr/>
          <p:nvPr/>
        </p:nvSpPr>
        <p:spPr>
          <a:xfrm>
            <a:off x="777240" y="470001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docs.github.com</a:t>
            </a:r>
            <a:endParaRPr lang="en-US" sz="1400" dirty="0"/>
          </a:p>
        </p:txBody>
      </p:sp>
      <p:sp>
        <p:nvSpPr>
          <p:cNvPr id="18" name="Shape 16"/>
          <p:cNvSpPr/>
          <p:nvPr/>
        </p:nvSpPr>
        <p:spPr>
          <a:xfrm>
            <a:off x="548640" y="5166360"/>
            <a:ext cx="5364328" cy="758952"/>
          </a:xfrm>
          <a:prstGeom prst="roundRect">
            <a:avLst>
              <a:gd name="adj" fmla="val 7229"/>
            </a:avLst>
          </a:prstGeom>
          <a:solidFill>
            <a:srgbClr val="F3F5FC"/>
          </a:solidFill>
          <a:ln w="9525">
            <a:solidFill>
              <a:srgbClr val="DCE2F0"/>
            </a:solidFill>
            <a:prstDash val="solid"/>
          </a:ln>
        </p:spPr>
      </p:sp>
      <p:sp>
        <p:nvSpPr>
          <p:cNvPr id="19" name="Text 17"/>
          <p:cNvSpPr/>
          <p:nvPr/>
        </p:nvSpPr>
        <p:spPr>
          <a:xfrm>
            <a:off x="777240" y="522122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5" invalidUrl="" action="" tgtFrame="" tooltip="https://docs.github.com/en/pull-requests/collaborating-with-pull-requests/addressing-merge-conflicts/resolving-a-merge-conflict-on-github" history="1" highlightClick="0" endSnd="0">
                  <a:extLst>
                    <a:ext uri="{A12FA001-AC4F-418D-AE19-62706E023703}">
                      <ahyp:hlinkClr xmlns:ahyp="http://schemas.microsoft.com/office/drawing/2018/hyperlinkcolor" val="tx"/>
                    </a:ext>
                  </a:extLst>
                </a:hlinkClick>
              </a:rPr>
              <a:t>Resolving a merge conflict</a:t>
            </a:r>
            <a:endParaRPr lang="en-US" sz="1800" dirty="0"/>
          </a:p>
        </p:txBody>
      </p:sp>
      <p:sp>
        <p:nvSpPr>
          <p:cNvPr id="20" name="Text 18"/>
          <p:cNvSpPr/>
          <p:nvPr/>
        </p:nvSpPr>
        <p:spPr>
          <a:xfrm>
            <a:off x="777240" y="556869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docs.github.com</a:t>
            </a:r>
            <a:endParaRPr lang="en-US" sz="1400" dirty="0"/>
          </a:p>
        </p:txBody>
      </p:sp>
      <p:sp>
        <p:nvSpPr>
          <p:cNvPr id="21" name="Shape 19"/>
          <p:cNvSpPr/>
          <p:nvPr/>
        </p:nvSpPr>
        <p:spPr>
          <a:xfrm>
            <a:off x="6278728" y="1691640"/>
            <a:ext cx="5364328" cy="758952"/>
          </a:xfrm>
          <a:prstGeom prst="roundRect">
            <a:avLst>
              <a:gd name="adj" fmla="val 7229"/>
            </a:avLst>
          </a:prstGeom>
          <a:solidFill>
            <a:srgbClr val="FFFFFF"/>
          </a:solidFill>
          <a:ln w="9525">
            <a:solidFill>
              <a:srgbClr val="DCE2F0"/>
            </a:solidFill>
            <a:prstDash val="solid"/>
          </a:ln>
        </p:spPr>
      </p:sp>
      <p:sp>
        <p:nvSpPr>
          <p:cNvPr id="22" name="Text 20"/>
          <p:cNvSpPr/>
          <p:nvPr/>
        </p:nvSpPr>
        <p:spPr>
          <a:xfrm>
            <a:off x="6507328" y="174650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6" invalidUrl="" action="" tgtFrame="" tooltip="https://cli.github.com/manual/gh_auth_login" history="1" highlightClick="0" endSnd="0">
                  <a:extLst>
                    <a:ext uri="{A12FA001-AC4F-418D-AE19-62706E023703}">
                      <ahyp:hlinkClr xmlns:ahyp="http://schemas.microsoft.com/office/drawing/2018/hyperlinkcolor" val="tx"/>
                    </a:ext>
                  </a:extLst>
                </a:hlinkClick>
              </a:rPr>
              <a:t>gh auth login</a:t>
            </a:r>
            <a:endParaRPr lang="en-US" sz="1800" dirty="0"/>
          </a:p>
        </p:txBody>
      </p:sp>
      <p:sp>
        <p:nvSpPr>
          <p:cNvPr id="23" name="Text 21"/>
          <p:cNvSpPr/>
          <p:nvPr/>
        </p:nvSpPr>
        <p:spPr>
          <a:xfrm>
            <a:off x="6507328" y="209397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cli.github.com</a:t>
            </a:r>
            <a:endParaRPr lang="en-US" sz="1400" dirty="0"/>
          </a:p>
        </p:txBody>
      </p:sp>
      <p:sp>
        <p:nvSpPr>
          <p:cNvPr id="24" name="Shape 22"/>
          <p:cNvSpPr/>
          <p:nvPr/>
        </p:nvSpPr>
        <p:spPr>
          <a:xfrm>
            <a:off x="6278728" y="2560320"/>
            <a:ext cx="5364328" cy="758952"/>
          </a:xfrm>
          <a:prstGeom prst="roundRect">
            <a:avLst>
              <a:gd name="adj" fmla="val 7229"/>
            </a:avLst>
          </a:prstGeom>
          <a:solidFill>
            <a:srgbClr val="F3F5FC"/>
          </a:solidFill>
          <a:ln w="9525">
            <a:solidFill>
              <a:srgbClr val="DCE2F0"/>
            </a:solidFill>
            <a:prstDash val="solid"/>
          </a:ln>
        </p:spPr>
      </p:sp>
      <p:sp>
        <p:nvSpPr>
          <p:cNvPr id="25" name="Text 23"/>
          <p:cNvSpPr/>
          <p:nvPr/>
        </p:nvSpPr>
        <p:spPr>
          <a:xfrm>
            <a:off x="6507328" y="261518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7" invalidUrl="" action="" tgtFrame="" tooltip="https://learn.microsoft.com/en-us/windows/wsl/install" history="1" highlightClick="0" endSnd="0">
                  <a:extLst>
                    <a:ext uri="{A12FA001-AC4F-418D-AE19-62706E023703}">
                      <ahyp:hlinkClr xmlns:ahyp="http://schemas.microsoft.com/office/drawing/2018/hyperlinkcolor" val="tx"/>
                    </a:ext>
                  </a:extLst>
                </a:hlinkClick>
              </a:rPr>
              <a:t>Install WSL (Microsoft)</a:t>
            </a:r>
            <a:endParaRPr lang="en-US" sz="1800" dirty="0"/>
          </a:p>
        </p:txBody>
      </p:sp>
      <p:sp>
        <p:nvSpPr>
          <p:cNvPr id="26" name="Text 24"/>
          <p:cNvSpPr/>
          <p:nvPr/>
        </p:nvSpPr>
        <p:spPr>
          <a:xfrm>
            <a:off x="6507328" y="296265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learn.microsoft.com</a:t>
            </a:r>
            <a:endParaRPr lang="en-US" sz="1400" dirty="0"/>
          </a:p>
        </p:txBody>
      </p:sp>
      <p:sp>
        <p:nvSpPr>
          <p:cNvPr id="27" name="Shape 25"/>
          <p:cNvSpPr/>
          <p:nvPr/>
        </p:nvSpPr>
        <p:spPr>
          <a:xfrm>
            <a:off x="6278728" y="3429000"/>
            <a:ext cx="5364328" cy="758952"/>
          </a:xfrm>
          <a:prstGeom prst="roundRect">
            <a:avLst>
              <a:gd name="adj" fmla="val 7229"/>
            </a:avLst>
          </a:prstGeom>
          <a:solidFill>
            <a:srgbClr val="FFFFFF"/>
          </a:solidFill>
          <a:ln w="9525">
            <a:solidFill>
              <a:srgbClr val="DCE2F0"/>
            </a:solidFill>
            <a:prstDash val="solid"/>
          </a:ln>
        </p:spPr>
      </p:sp>
      <p:sp>
        <p:nvSpPr>
          <p:cNvPr id="28" name="Text 26"/>
          <p:cNvSpPr/>
          <p:nvPr/>
        </p:nvSpPr>
        <p:spPr>
          <a:xfrm>
            <a:off x="6507328" y="348386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8" invalidUrl="" action="" tgtFrame="" tooltip="https://learn.microsoft.com/en-us/power-bi/fundamentals/desktop-get-the-desktop" history="1" highlightClick="0" endSnd="0">
                  <a:extLst>
                    <a:ext uri="{A12FA001-AC4F-418D-AE19-62706E023703}">
                      <ahyp:hlinkClr xmlns:ahyp="http://schemas.microsoft.com/office/drawing/2018/hyperlinkcolor" val="tx"/>
                    </a:ext>
                  </a:extLst>
                </a:hlinkClick>
              </a:rPr>
              <a:t>Download Power BI Desktop</a:t>
            </a:r>
            <a:endParaRPr lang="en-US" sz="1800" dirty="0"/>
          </a:p>
        </p:txBody>
      </p:sp>
      <p:sp>
        <p:nvSpPr>
          <p:cNvPr id="29" name="Text 27"/>
          <p:cNvSpPr/>
          <p:nvPr/>
        </p:nvSpPr>
        <p:spPr>
          <a:xfrm>
            <a:off x="6507328" y="383133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learn.microsoft.com</a:t>
            </a:r>
            <a:endParaRPr lang="en-US" sz="1400" dirty="0"/>
          </a:p>
        </p:txBody>
      </p:sp>
      <p:sp>
        <p:nvSpPr>
          <p:cNvPr id="30" name="Shape 28"/>
          <p:cNvSpPr/>
          <p:nvPr/>
        </p:nvSpPr>
        <p:spPr>
          <a:xfrm>
            <a:off x="6278728" y="4297680"/>
            <a:ext cx="5364328" cy="758952"/>
          </a:xfrm>
          <a:prstGeom prst="roundRect">
            <a:avLst>
              <a:gd name="adj" fmla="val 7229"/>
            </a:avLst>
          </a:prstGeom>
          <a:solidFill>
            <a:srgbClr val="F3F5FC"/>
          </a:solidFill>
          <a:ln w="9525">
            <a:solidFill>
              <a:srgbClr val="DCE2F0"/>
            </a:solidFill>
            <a:prstDash val="solid"/>
          </a:ln>
        </p:spPr>
      </p:sp>
      <p:sp>
        <p:nvSpPr>
          <p:cNvPr id="31" name="Text 29"/>
          <p:cNvSpPr/>
          <p:nvPr/>
        </p:nvSpPr>
        <p:spPr>
          <a:xfrm>
            <a:off x="6507328" y="435254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9" invalidUrl="" action="" tgtFrame="" tooltip="https://docs.python.org/3/library/venv.html" history="1" highlightClick="0" endSnd="0">
                  <a:extLst>
                    <a:ext uri="{A12FA001-AC4F-418D-AE19-62706E023703}">
                      <ahyp:hlinkClr xmlns:ahyp="http://schemas.microsoft.com/office/drawing/2018/hyperlinkcolor" val="tx"/>
                    </a:ext>
                  </a:extLst>
                </a:hlinkClick>
              </a:rPr>
              <a:t>venv (Python)</a:t>
            </a:r>
            <a:endParaRPr lang="en-US" sz="1800" dirty="0"/>
          </a:p>
        </p:txBody>
      </p:sp>
      <p:sp>
        <p:nvSpPr>
          <p:cNvPr id="32" name="Text 30"/>
          <p:cNvSpPr/>
          <p:nvPr/>
        </p:nvSpPr>
        <p:spPr>
          <a:xfrm>
            <a:off x="6507328" y="470001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docs.python.org</a:t>
            </a:r>
            <a:endParaRPr lang="en-US" sz="1400" dirty="0"/>
          </a:p>
        </p:txBody>
      </p:sp>
      <p:sp>
        <p:nvSpPr>
          <p:cNvPr id="33" name="Shape 31"/>
          <p:cNvSpPr/>
          <p:nvPr/>
        </p:nvSpPr>
        <p:spPr>
          <a:xfrm>
            <a:off x="6278728" y="5166360"/>
            <a:ext cx="5364328" cy="758952"/>
          </a:xfrm>
          <a:prstGeom prst="roundRect">
            <a:avLst>
              <a:gd name="adj" fmla="val 7229"/>
            </a:avLst>
          </a:prstGeom>
          <a:solidFill>
            <a:srgbClr val="FFFFFF"/>
          </a:solidFill>
          <a:ln w="9525">
            <a:solidFill>
              <a:srgbClr val="DCE2F0"/>
            </a:solidFill>
            <a:prstDash val="solid"/>
          </a:ln>
        </p:spPr>
      </p:sp>
      <p:sp>
        <p:nvSpPr>
          <p:cNvPr id="34" name="Text 32"/>
          <p:cNvSpPr/>
          <p:nvPr/>
        </p:nvSpPr>
        <p:spPr>
          <a:xfrm>
            <a:off x="6507328" y="5221224"/>
            <a:ext cx="4907128" cy="384048"/>
          </a:xfrm>
          <a:prstGeom prst="rect">
            <a:avLst/>
          </a:prstGeom>
          <a:noFill/>
          <a:ln/>
        </p:spPr>
        <p:txBody>
          <a:bodyPr wrap="square" lIns="0" tIns="0" rIns="0" bIns="0" rtlCol="0" anchor="ctr"/>
          <a:lstStyle/>
          <a:p>
            <a:pPr indent="0" marL="0">
              <a:buNone/>
            </a:pPr>
            <a:r>
              <a:rPr lang="en-US" sz="1800" b="1" u="sng" dirty="0">
                <a:solidFill>
                  <a:srgbClr val="2B3180"/>
                </a:solidFill>
                <a:latin typeface="Arial" pitchFamily="34" charset="0"/>
                <a:ea typeface="Arial" pitchFamily="34" charset="-122"/>
                <a:cs typeface="Arial" pitchFamily="34" charset="-120"/>
                <a:hlinkClick r:id="rId10" invalidUrl="" action="" tgtFrame="" tooltip="https://ubuntu.com/developers/docs/howto/python-setup/" history="1" highlightClick="0" endSnd="0">
                  <a:extLst>
                    <a:ext uri="{A12FA001-AC4F-418D-AE19-62706E023703}">
                      <ahyp:hlinkClr xmlns:ahyp="http://schemas.microsoft.com/office/drawing/2018/hyperlinkcolor" val="tx"/>
                    </a:ext>
                  </a:extLst>
                </a:hlinkClick>
              </a:rPr>
              <a:t>Python on Ubuntu (Canonical)</a:t>
            </a:r>
            <a:endParaRPr lang="en-US" sz="1800" dirty="0"/>
          </a:p>
        </p:txBody>
      </p:sp>
      <p:sp>
        <p:nvSpPr>
          <p:cNvPr id="35" name="Text 33"/>
          <p:cNvSpPr/>
          <p:nvPr/>
        </p:nvSpPr>
        <p:spPr>
          <a:xfrm>
            <a:off x="6507328" y="5568696"/>
            <a:ext cx="4907128" cy="320040"/>
          </a:xfrm>
          <a:prstGeom prst="rect">
            <a:avLst/>
          </a:prstGeom>
          <a:noFill/>
          <a:ln/>
        </p:spPr>
        <p:txBody>
          <a:bodyPr wrap="square" lIns="0" tIns="0" rIns="0" bIns="0" rtlCol="0" anchor="ctr"/>
          <a:lstStyle/>
          <a:p>
            <a:pPr indent="0" marL="0">
              <a:buNone/>
            </a:pPr>
            <a:r>
              <a:rPr lang="en-US" sz="1400" dirty="0">
                <a:solidFill>
                  <a:srgbClr val="5A6478"/>
                </a:solidFill>
                <a:latin typeface="Arial" pitchFamily="34" charset="0"/>
                <a:ea typeface="Arial" pitchFamily="34" charset="-122"/>
                <a:cs typeface="Arial" pitchFamily="34" charset="-120"/>
              </a:rPr>
              <a:t>ubuntu.com</a:t>
            </a:r>
            <a:endParaRPr lang="en-US" sz="1400" dirty="0"/>
          </a:p>
        </p:txBody>
      </p:sp>
      <p:sp>
        <p:nvSpPr>
          <p:cNvPr id="36" name="Text 34"/>
          <p:cNvSpPr/>
          <p:nvPr/>
        </p:nvSpPr>
        <p:spPr>
          <a:xfrm>
            <a:off x="548640" y="6053328"/>
            <a:ext cx="11094415" cy="274320"/>
          </a:xfrm>
          <a:prstGeom prst="rect">
            <a:avLst/>
          </a:prstGeom>
          <a:noFill/>
          <a:ln/>
        </p:spPr>
        <p:txBody>
          <a:bodyPr wrap="square" lIns="0" tIns="0" rIns="0" bIns="0" rtlCol="0" anchor="ctr"/>
          <a:lstStyle/>
          <a:p>
            <a:pPr indent="0" marL="0">
              <a:buNone/>
            </a:pPr>
            <a:r>
              <a:rPr lang="en-US" sz="1400" i="1" dirty="0">
                <a:solidFill>
                  <a:srgbClr val="5A6478"/>
                </a:solidFill>
                <a:latin typeface="Arial" pitchFamily="34" charset="0"/>
                <a:ea typeface="Arial" pitchFamily="34" charset="-122"/>
                <a:cs typeface="Arial" pitchFamily="34" charset="-120"/>
              </a:rPr>
              <a:t>Adresses complètes dans les notes du présentateur et dans docs/setup/sources.json.</a:t>
            </a:r>
            <a:endParaRPr lang="en-US" sz="14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548640" y="274320"/>
            <a:ext cx="329184" cy="329184"/>
          </a:xfrm>
          <a:prstGeom prst="ellipse">
            <a:avLst/>
          </a:prstGeom>
          <a:solidFill>
            <a:srgbClr val="2B3180"/>
          </a:solidFill>
          <a:ln w="12700">
            <a:solidFill>
              <a:srgbClr val="2B3180"/>
            </a:solidFill>
            <a:prstDash val="solid"/>
          </a:ln>
        </p:spPr>
      </p:sp>
      <p:sp>
        <p:nvSpPr>
          <p:cNvPr id="3" name="Text 1"/>
          <p:cNvSpPr/>
          <p:nvPr/>
        </p:nvSpPr>
        <p:spPr>
          <a:xfrm>
            <a:off x="548640" y="2743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a:t>
            </a:r>
            <a:endParaRPr lang="en-US" sz="1400" dirty="0"/>
          </a:p>
        </p:txBody>
      </p:sp>
      <p:sp>
        <p:nvSpPr>
          <p:cNvPr id="4" name="Text 2"/>
          <p:cNvSpPr/>
          <p:nvPr/>
        </p:nvSpPr>
        <p:spPr>
          <a:xfrm>
            <a:off x="1005840" y="274320"/>
            <a:ext cx="8229600" cy="329184"/>
          </a:xfrm>
          <a:prstGeom prst="rect">
            <a:avLst/>
          </a:prstGeom>
          <a:noFill/>
          <a:ln/>
        </p:spPr>
        <p:txBody>
          <a:bodyPr wrap="square" lIns="0" tIns="0" rIns="0" bIns="0" rtlCol="0" anchor="ctr"/>
          <a:lstStyle/>
          <a:p>
            <a:pPr indent="0" marL="0">
              <a:buNone/>
            </a:pPr>
            <a:r>
              <a:rPr lang="en-US" sz="1400" b="1" spc="50" kern="0" dirty="0">
                <a:solidFill>
                  <a:srgbClr val="2B3180"/>
                </a:solidFill>
                <a:latin typeface="Arial" pitchFamily="34" charset="0"/>
                <a:ea typeface="Arial" pitchFamily="34" charset="-122"/>
                <a:cs typeface="Arial" pitchFamily="34" charset="-120"/>
              </a:rPr>
              <a:t>SOURCES ET LICENCES  ·  LICENCES</a:t>
            </a:r>
            <a:endParaRPr lang="en-US" sz="1400" dirty="0"/>
          </a:p>
        </p:txBody>
      </p:sp>
      <p:sp>
        <p:nvSpPr>
          <p:cNvPr id="5" name="Text 3"/>
          <p:cNvSpPr/>
          <p:nvPr/>
        </p:nvSpPr>
        <p:spPr>
          <a:xfrm>
            <a:off x="548640" y="713232"/>
            <a:ext cx="9692640" cy="777240"/>
          </a:xfrm>
          <a:prstGeom prst="rect">
            <a:avLst/>
          </a:prstGeom>
          <a:noFill/>
          <a:ln/>
        </p:spPr>
        <p:txBody>
          <a:bodyPr wrap="square" lIns="0" tIns="0" rIns="0" bIns="0" rtlCol="0" anchor="ctr"/>
          <a:lstStyle/>
          <a:p>
            <a:pPr indent="0" marL="0">
              <a:buNone/>
            </a:pPr>
            <a:r>
              <a:rPr lang="en-US" sz="3000" b="1" dirty="0">
                <a:solidFill>
                  <a:srgbClr val="1A1F4D"/>
                </a:solidFill>
                <a:latin typeface="Arial" pitchFamily="34" charset="0"/>
                <a:ea typeface="Arial" pitchFamily="34" charset="-122"/>
                <a:cs typeface="Arial" pitchFamily="34" charset="-120"/>
              </a:rPr>
              <a:t>Licences et provenance</a:t>
            </a:r>
            <a:endParaRPr lang="en-US" sz="3000" dirty="0"/>
          </a:p>
        </p:txBody>
      </p:sp>
      <p:sp>
        <p:nvSpPr>
          <p:cNvPr id="6" name="Shape 4"/>
          <p:cNvSpPr/>
          <p:nvPr/>
        </p:nvSpPr>
        <p:spPr>
          <a:xfrm>
            <a:off x="548640" y="1828800"/>
            <a:ext cx="3515258" cy="3429000"/>
          </a:xfrm>
          <a:prstGeom prst="roundRect">
            <a:avLst>
              <a:gd name="adj" fmla="val 2667"/>
            </a:avLst>
          </a:prstGeom>
          <a:solidFill>
            <a:srgbClr val="F3F5FC"/>
          </a:solidFill>
          <a:ln w="9525">
            <a:solidFill>
              <a:srgbClr val="F3F5FC"/>
            </a:solidFill>
            <a:prstDash val="solid"/>
          </a:ln>
        </p:spPr>
      </p:sp>
      <p:sp>
        <p:nvSpPr>
          <p:cNvPr id="7" name="Shape 5"/>
          <p:cNvSpPr/>
          <p:nvPr/>
        </p:nvSpPr>
        <p:spPr>
          <a:xfrm>
            <a:off x="777240" y="2084832"/>
            <a:ext cx="457200" cy="457200"/>
          </a:xfrm>
          <a:prstGeom prst="ellipse">
            <a:avLst/>
          </a:prstGeom>
          <a:solidFill>
            <a:srgbClr val="2B3180"/>
          </a:solidFill>
          <a:ln w="12700">
            <a:solidFill>
              <a:srgbClr val="2B3180"/>
            </a:solidFill>
            <a:prstDash val="solid"/>
          </a:ln>
        </p:spPr>
      </p:sp>
      <p:sp>
        <p:nvSpPr>
          <p:cNvPr id="8" name="Text 6"/>
          <p:cNvSpPr/>
          <p:nvPr/>
        </p:nvSpPr>
        <p:spPr>
          <a:xfrm>
            <a:off x="777240"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777240"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Polices</a:t>
            </a:r>
            <a:endParaRPr lang="en-US" sz="2200" dirty="0"/>
          </a:p>
        </p:txBody>
      </p:sp>
      <p:sp>
        <p:nvSpPr>
          <p:cNvPr id="10" name="Text 8"/>
          <p:cNvSpPr/>
          <p:nvPr/>
        </p:nvSpPr>
        <p:spPr>
          <a:xfrm>
            <a:off x="777240"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Inter et Plus Jakarta Sans : SIL OFL 1.1 (schémas). Arial et Courier New ici.</a:t>
            </a:r>
            <a:endParaRPr lang="en-US" sz="1800" dirty="0"/>
          </a:p>
        </p:txBody>
      </p:sp>
      <p:sp>
        <p:nvSpPr>
          <p:cNvPr id="11" name="Shape 9"/>
          <p:cNvSpPr/>
          <p:nvPr/>
        </p:nvSpPr>
        <p:spPr>
          <a:xfrm>
            <a:off x="4338218" y="1828800"/>
            <a:ext cx="3515258" cy="3429000"/>
          </a:xfrm>
          <a:prstGeom prst="roundRect">
            <a:avLst>
              <a:gd name="adj" fmla="val 2667"/>
            </a:avLst>
          </a:prstGeom>
          <a:solidFill>
            <a:srgbClr val="F3F5FC"/>
          </a:solidFill>
          <a:ln w="9525">
            <a:solidFill>
              <a:srgbClr val="F3F5FC"/>
            </a:solidFill>
            <a:prstDash val="solid"/>
          </a:ln>
        </p:spPr>
      </p:sp>
      <p:sp>
        <p:nvSpPr>
          <p:cNvPr id="12" name="Shape 10"/>
          <p:cNvSpPr/>
          <p:nvPr/>
        </p:nvSpPr>
        <p:spPr>
          <a:xfrm>
            <a:off x="4566818" y="2084832"/>
            <a:ext cx="457200" cy="457200"/>
          </a:xfrm>
          <a:prstGeom prst="ellipse">
            <a:avLst/>
          </a:prstGeom>
          <a:solidFill>
            <a:srgbClr val="2B3180"/>
          </a:solidFill>
          <a:ln w="12700">
            <a:solidFill>
              <a:srgbClr val="2B3180"/>
            </a:solidFill>
            <a:prstDash val="solid"/>
          </a:ln>
        </p:spPr>
      </p:sp>
      <p:sp>
        <p:nvSpPr>
          <p:cNvPr id="13" name="Text 11"/>
          <p:cNvSpPr/>
          <p:nvPr/>
        </p:nvSpPr>
        <p:spPr>
          <a:xfrm>
            <a:off x="4566818"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4566818"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Logos</a:t>
            </a:r>
            <a:endParaRPr lang="en-US" sz="2200" dirty="0"/>
          </a:p>
        </p:txBody>
      </p:sp>
      <p:sp>
        <p:nvSpPr>
          <p:cNvPr id="15" name="Text 13"/>
          <p:cNvSpPr/>
          <p:nvPr/>
        </p:nvSpPr>
        <p:spPr>
          <a:xfrm>
            <a:off x="4566818"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Leaders et Solen Digital tels que fournis, proportions gardées.</a:t>
            </a:r>
            <a:endParaRPr lang="en-US" sz="1800" dirty="0"/>
          </a:p>
        </p:txBody>
      </p:sp>
      <p:sp>
        <p:nvSpPr>
          <p:cNvPr id="16" name="Shape 14"/>
          <p:cNvSpPr/>
          <p:nvPr/>
        </p:nvSpPr>
        <p:spPr>
          <a:xfrm>
            <a:off x="8127797" y="1828800"/>
            <a:ext cx="3515258" cy="3429000"/>
          </a:xfrm>
          <a:prstGeom prst="roundRect">
            <a:avLst>
              <a:gd name="adj" fmla="val 2667"/>
            </a:avLst>
          </a:prstGeom>
          <a:solidFill>
            <a:srgbClr val="F3F5FC"/>
          </a:solidFill>
          <a:ln w="9525">
            <a:solidFill>
              <a:srgbClr val="F3F5FC"/>
            </a:solidFill>
            <a:prstDash val="solid"/>
          </a:ln>
        </p:spPr>
      </p:sp>
      <p:sp>
        <p:nvSpPr>
          <p:cNvPr id="17" name="Shape 15"/>
          <p:cNvSpPr/>
          <p:nvPr/>
        </p:nvSpPr>
        <p:spPr>
          <a:xfrm>
            <a:off x="8356397" y="2084832"/>
            <a:ext cx="457200" cy="457200"/>
          </a:xfrm>
          <a:prstGeom prst="ellipse">
            <a:avLst/>
          </a:prstGeom>
          <a:solidFill>
            <a:srgbClr val="2B3180"/>
          </a:solidFill>
          <a:ln w="12700">
            <a:solidFill>
              <a:srgbClr val="2B3180"/>
            </a:solidFill>
            <a:prstDash val="solid"/>
          </a:ln>
        </p:spPr>
      </p:sp>
      <p:sp>
        <p:nvSpPr>
          <p:cNvPr id="18" name="Text 16"/>
          <p:cNvSpPr/>
          <p:nvPr/>
        </p:nvSpPr>
        <p:spPr>
          <a:xfrm>
            <a:off x="8356397"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8356397" y="2697480"/>
            <a:ext cx="3058058" cy="685800"/>
          </a:xfrm>
          <a:prstGeom prst="rect">
            <a:avLst/>
          </a:prstGeom>
          <a:noFill/>
          <a:ln/>
        </p:spPr>
        <p:txBody>
          <a:bodyPr wrap="square" lIns="0" tIns="0" rIns="0" bIns="0" rtlCol="0" anchor="t"/>
          <a:lstStyle/>
          <a:p>
            <a:pPr indent="0" marL="0">
              <a:buNone/>
            </a:pPr>
            <a:r>
              <a:rPr lang="en-US" sz="2200" b="1" dirty="0">
                <a:solidFill>
                  <a:srgbClr val="2B3180"/>
                </a:solidFill>
                <a:latin typeface="Arial" pitchFamily="34" charset="0"/>
                <a:ea typeface="Arial" pitchFamily="34" charset="-122"/>
                <a:cs typeface="Arial" pitchFamily="34" charset="-120"/>
              </a:rPr>
              <a:t>Visuels</a:t>
            </a:r>
            <a:endParaRPr lang="en-US" sz="2200" dirty="0"/>
          </a:p>
        </p:txBody>
      </p:sp>
      <p:sp>
        <p:nvSpPr>
          <p:cNvPr id="20" name="Text 18"/>
          <p:cNvSpPr/>
          <p:nvPr/>
        </p:nvSpPr>
        <p:spPr>
          <a:xfrm>
            <a:off x="8356397" y="3429000"/>
            <a:ext cx="3058058" cy="1645920"/>
          </a:xfrm>
          <a:prstGeom prst="rect">
            <a:avLst/>
          </a:prstGeom>
          <a:noFill/>
          <a:ln/>
        </p:spPr>
        <p:txBody>
          <a:bodyPr wrap="square" lIns="0" tIns="0" rIns="0" bIns="0" rtlCol="0" anchor="t"/>
          <a:lstStyle/>
          <a:p>
            <a:pPr indent="0" marL="0">
              <a:buNone/>
            </a:pPr>
            <a:r>
              <a:rPr lang="en-US" sz="1800" dirty="0">
                <a:solidFill>
                  <a:srgbClr val="1A1F4D"/>
                </a:solidFill>
                <a:latin typeface="Arial" pitchFamily="34" charset="0"/>
                <a:ea typeface="Arial" pitchFamily="34" charset="-122"/>
                <a:cs typeface="Arial" pitchFamily="34" charset="-120"/>
              </a:rPr>
              <a:t>Schémas originaux · 2 captures réelles macOS · aucune interface simulée.</a:t>
            </a:r>
            <a:endParaRPr lang="en-US" sz="1800" dirty="0"/>
          </a:p>
        </p:txBody>
      </p:sp>
      <p:sp>
        <p:nvSpPr>
          <p:cNvPr id="21" name="Shape 19"/>
          <p:cNvSpPr/>
          <p:nvPr/>
        </p:nvSpPr>
        <p:spPr>
          <a:xfrm>
            <a:off x="548640" y="5596128"/>
            <a:ext cx="11094415" cy="566928"/>
          </a:xfrm>
          <a:prstGeom prst="roundRect">
            <a:avLst>
              <a:gd name="adj" fmla="val 12903"/>
            </a:avLst>
          </a:prstGeom>
          <a:solidFill>
            <a:srgbClr val="F3F5FC"/>
          </a:solidFill>
          <a:ln w="9525">
            <a:solidFill>
              <a:srgbClr val="F3F5FC"/>
            </a:solidFill>
            <a:prstDash val="solid"/>
          </a:ln>
        </p:spPr>
      </p:sp>
      <p:sp>
        <p:nvSpPr>
          <p:cNvPr id="22" name="Shape 20"/>
          <p:cNvSpPr/>
          <p:nvPr/>
        </p:nvSpPr>
        <p:spPr>
          <a:xfrm>
            <a:off x="694944" y="5733288"/>
            <a:ext cx="292608" cy="292608"/>
          </a:xfrm>
          <a:prstGeom prst="ellipse">
            <a:avLst/>
          </a:prstGeom>
          <a:solidFill>
            <a:srgbClr val="FF9A3C"/>
          </a:solidFill>
          <a:ln w="12700">
            <a:solidFill>
              <a:srgbClr val="FF9A3C"/>
            </a:solidFill>
            <a:prstDash val="solid"/>
          </a:ln>
        </p:spPr>
      </p:sp>
      <p:sp>
        <p:nvSpPr>
          <p:cNvPr id="23" name="Text 21"/>
          <p:cNvSpPr/>
          <p:nvPr/>
        </p:nvSpPr>
        <p:spPr>
          <a:xfrm>
            <a:off x="694944" y="5733288"/>
            <a:ext cx="292608" cy="292608"/>
          </a:xfrm>
          <a:prstGeom prst="rect">
            <a:avLst/>
          </a:prstGeom>
          <a:noFill/>
          <a:ln/>
        </p:spPr>
        <p:txBody>
          <a:bodyPr wrap="square" lIns="0" tIns="0" rIns="0" bIns="0" rtlCol="0" anchor="ctr"/>
          <a:lstStyle/>
          <a:p>
            <a:pPr algn="ctr" indent="0" marL="0">
              <a:buNone/>
            </a:pPr>
            <a:r>
              <a:rPr lang="en-US" sz="1400" b="1" dirty="0">
                <a:solidFill>
                  <a:srgbClr val="07152F"/>
                </a:solidFill>
                <a:latin typeface="Arial" pitchFamily="34" charset="0"/>
                <a:ea typeface="Arial" pitchFamily="34" charset="-122"/>
                <a:cs typeface="Arial" pitchFamily="34" charset="-120"/>
              </a:rPr>
              <a:t>i</a:t>
            </a:r>
            <a:endParaRPr lang="en-US" sz="1400" dirty="0"/>
          </a:p>
        </p:txBody>
      </p:sp>
      <p:sp>
        <p:nvSpPr>
          <p:cNvPr id="24" name="Text 22"/>
          <p:cNvSpPr/>
          <p:nvPr/>
        </p:nvSpPr>
        <p:spPr>
          <a:xfrm>
            <a:off x="1143000" y="5623560"/>
            <a:ext cx="10317175" cy="512064"/>
          </a:xfrm>
          <a:prstGeom prst="rect">
            <a:avLst/>
          </a:prstGeom>
          <a:noFill/>
          <a:ln/>
        </p:spPr>
        <p:txBody>
          <a:bodyPr wrap="square" lIns="0" tIns="0" rIns="0" bIns="0" rtlCol="0" anchor="ctr"/>
          <a:lstStyle/>
          <a:p>
            <a:pPr indent="0" marL="0">
              <a:buNone/>
            </a:pPr>
            <a:r>
              <a:rPr lang="en-US" sz="1500" b="1" dirty="0">
                <a:solidFill>
                  <a:srgbClr val="2B3180"/>
                </a:solidFill>
                <a:latin typeface="Arial" pitchFamily="34" charset="0"/>
                <a:ea typeface="Arial" pitchFamily="34" charset="-122"/>
                <a:cs typeface="Arial" pitchFamily="34" charset="-120"/>
              </a:rPr>
              <a:t>Données 100 % synthétiques · entreprises et personnes fictives · registre des captures : docs/images/captures/REGISTRE.json.</a:t>
            </a:r>
            <a:endParaRPr lang="en-US" sz="1500" dirty="0"/>
          </a:p>
        </p:txBody>
      </p:sp>
      <p:sp>
        <p:nvSpPr>
          <p:cNvPr id="25" name="Slide Number Placeholder 0"/>
          <p:cNvSpPr>
            <a:spLocks noGrp="1"/>
          </p:cNvSpPr>
          <p:nvPr>
            <p:ph type="sldNum" sz="quarter" idx="4294967295"/>
          </p:nvPr>
        </p:nvSpPr>
        <p:spPr>
          <a:xfrm>
            <a:off x="10911535" y="6455664"/>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6478"/>
                </a:solidFill>
                <a:latin typeface="Arial"/>
                <a:ea typeface="Arial"/>
                <a:cs typeface="Arial"/>
              </a:defRPr>
            </a:lvl1pPr>
          </a:lstStyle>
          <a:p>
            <a:pPr algn="r"/>
            <a:fld id="{F7021451-1387-4CA6-816F-3879F97B5CBC}" type="slidenum">
              <a:rPr b="1"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7152F"/>
        </a:solidFill>
      </p:bgPr>
    </p:bg>
    <p:spTree>
      <p:nvGrpSpPr>
        <p:cNvPr id="1" name=""/>
        <p:cNvGrpSpPr/>
        <p:nvPr/>
      </p:nvGrpSpPr>
      <p:grpSpPr>
        <a:xfrm>
          <a:off x="0" y="0"/>
          <a:ext cx="0" cy="0"/>
          <a:chOff x="0" y="0"/>
          <a:chExt cx="0" cy="0"/>
        </a:xfrm>
      </p:grpSpPr>
      <p:sp>
        <p:nvSpPr>
          <p:cNvPr id="2" name="Shape 0"/>
          <p:cNvSpPr/>
          <p:nvPr/>
        </p:nvSpPr>
        <p:spPr>
          <a:xfrm>
            <a:off x="685800" y="548640"/>
            <a:ext cx="1581267" cy="832104"/>
          </a:xfrm>
          <a:prstGeom prst="roundRect">
            <a:avLst>
              <a:gd name="adj" fmla="val 15385"/>
            </a:avLst>
          </a:prstGeom>
          <a:solidFill>
            <a:srgbClr val="FFFFFF"/>
          </a:solidFill>
          <a:ln w="12700">
            <a:solidFill>
              <a:srgbClr val="FFFFFF"/>
            </a:solidFill>
            <a:prstDash val="solid"/>
          </a:ln>
        </p:spPr>
      </p:sp>
      <p:pic>
        <p:nvPicPr>
          <p:cNvPr id="3" name="Image 0" descr="Logo fourni : Solen Digital">    </p:cNvPr>
          <p:cNvPicPr>
            <a:picLocks noChangeAspect="1"/>
          </p:cNvPicPr>
          <p:nvPr/>
        </p:nvPicPr>
        <p:blipFill>
          <a:blip r:embed="rId1"/>
          <a:stretch>
            <a:fillRect/>
          </a:stretch>
        </p:blipFill>
        <p:spPr>
          <a:xfrm>
            <a:off x="850392" y="713232"/>
            <a:ext cx="1252083" cy="502920"/>
          </a:xfrm>
          <a:prstGeom prst="rect">
            <a:avLst/>
          </a:prstGeom>
        </p:spPr>
      </p:pic>
      <p:pic>
        <p:nvPicPr>
          <p:cNvPr id="4" name="Image 1" descr="Logo fourni : Leaders University">    </p:cNvPr>
          <p:cNvPicPr>
            <a:picLocks noChangeAspect="1"/>
          </p:cNvPicPr>
          <p:nvPr/>
        </p:nvPicPr>
        <p:blipFill>
          <a:blip r:embed="rId2"/>
          <a:stretch>
            <a:fillRect/>
          </a:stretch>
        </p:blipFill>
        <p:spPr>
          <a:xfrm>
            <a:off x="2541387" y="548640"/>
            <a:ext cx="822960" cy="822960"/>
          </a:xfrm>
          <a:prstGeom prst="rect">
            <a:avLst/>
          </a:prstGeom>
        </p:spPr>
      </p:pic>
      <p:sp>
        <p:nvSpPr>
          <p:cNvPr id="5" name="Text 1"/>
          <p:cNvSpPr/>
          <p:nvPr/>
        </p:nvSpPr>
        <p:spPr>
          <a:xfrm>
            <a:off x="685800" y="1783080"/>
            <a:ext cx="10515600" cy="10972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Lundi, 9 h : votre première mission commence</a:t>
            </a:r>
            <a:endParaRPr lang="en-US" sz="3800" dirty="0"/>
          </a:p>
        </p:txBody>
      </p:sp>
      <p:sp>
        <p:nvSpPr>
          <p:cNvPr id="6" name="Shape 2"/>
          <p:cNvSpPr/>
          <p:nvPr/>
        </p:nvSpPr>
        <p:spPr>
          <a:xfrm>
            <a:off x="731520" y="3246120"/>
            <a:ext cx="457200" cy="457200"/>
          </a:xfrm>
          <a:prstGeom prst="ellipse">
            <a:avLst/>
          </a:prstGeom>
          <a:solidFill>
            <a:srgbClr val="FF9A3C"/>
          </a:solidFill>
          <a:ln w="12700">
            <a:solidFill>
              <a:srgbClr val="FF9A3C"/>
            </a:solidFill>
            <a:prstDash val="solid"/>
          </a:ln>
        </p:spPr>
      </p:sp>
      <p:sp>
        <p:nvSpPr>
          <p:cNvPr id="7" name="Text 3"/>
          <p:cNvSpPr/>
          <p:nvPr/>
        </p:nvSpPr>
        <p:spPr>
          <a:xfrm>
            <a:off x="731520" y="3246120"/>
            <a:ext cx="457200" cy="457200"/>
          </a:xfrm>
          <a:prstGeom prst="rect">
            <a:avLst/>
          </a:prstGeom>
          <a:noFill/>
          <a:ln/>
        </p:spPr>
        <p:txBody>
          <a:bodyPr wrap="square" lIns="0" tIns="0" rIns="0" bIns="0" rtlCol="0" anchor="ctr"/>
          <a:lstStyle/>
          <a:p>
            <a:pPr algn="ctr" indent="0" marL="0">
              <a:buNone/>
            </a:pPr>
            <a:r>
              <a:rPr lang="en-US" sz="1800" b="1" dirty="0">
                <a:solidFill>
                  <a:srgbClr val="07152F"/>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1417320" y="3246120"/>
            <a:ext cx="9601200" cy="4572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Séance 0 (≈ 2 h, chez vous) : livret 00, puis 01 parties A–C.</a:t>
            </a:r>
            <a:endParaRPr lang="en-US" sz="2200" dirty="0"/>
          </a:p>
        </p:txBody>
      </p:sp>
      <p:sp>
        <p:nvSpPr>
          <p:cNvPr id="9" name="Shape 5"/>
          <p:cNvSpPr/>
          <p:nvPr/>
        </p:nvSpPr>
        <p:spPr>
          <a:xfrm>
            <a:off x="731520" y="4023360"/>
            <a:ext cx="457200" cy="457200"/>
          </a:xfrm>
          <a:prstGeom prst="ellipse">
            <a:avLst/>
          </a:prstGeom>
          <a:solidFill>
            <a:srgbClr val="FF9A3C"/>
          </a:solidFill>
          <a:ln w="12700">
            <a:solidFill>
              <a:srgbClr val="FF9A3C"/>
            </a:solidFill>
            <a:prstDash val="solid"/>
          </a:ln>
        </p:spPr>
      </p:sp>
      <p:sp>
        <p:nvSpPr>
          <p:cNvPr id="10" name="Text 6"/>
          <p:cNvSpPr/>
          <p:nvPr/>
        </p:nvSpPr>
        <p:spPr>
          <a:xfrm>
            <a:off x="731520" y="4023360"/>
            <a:ext cx="457200" cy="457200"/>
          </a:xfrm>
          <a:prstGeom prst="rect">
            <a:avLst/>
          </a:prstGeom>
          <a:noFill/>
          <a:ln/>
        </p:spPr>
        <p:txBody>
          <a:bodyPr wrap="square" lIns="0" tIns="0" rIns="0" bIns="0" rtlCol="0" anchor="ctr"/>
          <a:lstStyle/>
          <a:p>
            <a:pPr algn="ctr" indent="0" marL="0">
              <a:buNone/>
            </a:pPr>
            <a:r>
              <a:rPr lang="en-US" sz="1800" b="1" dirty="0">
                <a:solidFill>
                  <a:srgbClr val="07152F"/>
                </a:solidFill>
                <a:latin typeface="Arial" pitchFamily="34" charset="0"/>
                <a:ea typeface="Arial" pitchFamily="34" charset="-122"/>
                <a:cs typeface="Arial" pitchFamily="34" charset="-120"/>
              </a:rPr>
              <a:t>2</a:t>
            </a:r>
            <a:endParaRPr lang="en-US" sz="1800" dirty="0"/>
          </a:p>
        </p:txBody>
      </p:sp>
      <p:sp>
        <p:nvSpPr>
          <p:cNvPr id="11" name="Text 7"/>
          <p:cNvSpPr/>
          <p:nvPr/>
        </p:nvSpPr>
        <p:spPr>
          <a:xfrm>
            <a:off x="1417320" y="4023360"/>
            <a:ext cx="9601200" cy="4572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Installer Ubuntu, Python, Git et l'app Codex ; créer vos comptes GitHub et ChatGPT (Free).</a:t>
            </a:r>
            <a:endParaRPr lang="en-US" sz="2200" dirty="0"/>
          </a:p>
        </p:txBody>
      </p:sp>
      <p:sp>
        <p:nvSpPr>
          <p:cNvPr id="12" name="Shape 8"/>
          <p:cNvSpPr/>
          <p:nvPr/>
        </p:nvSpPr>
        <p:spPr>
          <a:xfrm>
            <a:off x="731520" y="4800600"/>
            <a:ext cx="457200" cy="457200"/>
          </a:xfrm>
          <a:prstGeom prst="ellipse">
            <a:avLst/>
          </a:prstGeom>
          <a:solidFill>
            <a:srgbClr val="FF9A3C"/>
          </a:solidFill>
          <a:ln w="12700">
            <a:solidFill>
              <a:srgbClr val="FF9A3C"/>
            </a:solidFill>
            <a:prstDash val="solid"/>
          </a:ln>
        </p:spPr>
      </p:sp>
      <p:sp>
        <p:nvSpPr>
          <p:cNvPr id="13" name="Text 9"/>
          <p:cNvSpPr/>
          <p:nvPr/>
        </p:nvSpPr>
        <p:spPr>
          <a:xfrm>
            <a:off x="731520" y="4800600"/>
            <a:ext cx="457200" cy="457200"/>
          </a:xfrm>
          <a:prstGeom prst="rect">
            <a:avLst/>
          </a:prstGeom>
          <a:noFill/>
          <a:ln/>
        </p:spPr>
        <p:txBody>
          <a:bodyPr wrap="square" lIns="0" tIns="0" rIns="0" bIns="0" rtlCol="0" anchor="ctr"/>
          <a:lstStyle/>
          <a:p>
            <a:pPr algn="ctr" indent="0" marL="0">
              <a:buNone/>
            </a:pPr>
            <a:r>
              <a:rPr lang="en-US" sz="1800" b="1" dirty="0">
                <a:solidFill>
                  <a:srgbClr val="07152F"/>
                </a:solidFill>
                <a:latin typeface="Arial" pitchFamily="34" charset="0"/>
                <a:ea typeface="Arial" pitchFamily="34" charset="-122"/>
                <a:cs typeface="Arial" pitchFamily="34" charset="-120"/>
              </a:rPr>
              <a:t>3</a:t>
            </a:r>
            <a:endParaRPr lang="en-US" sz="1800" dirty="0"/>
          </a:p>
        </p:txBody>
      </p:sp>
      <p:sp>
        <p:nvSpPr>
          <p:cNvPr id="14" name="Text 10"/>
          <p:cNvSpPr/>
          <p:nvPr/>
        </p:nvSpPr>
        <p:spPr>
          <a:xfrm>
            <a:off x="1417320" y="4800600"/>
            <a:ext cx="9601200" cy="4572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Venir avec une question : « où passe la marge ? »</a:t>
            </a:r>
            <a:endParaRPr lang="en-US" sz="2200" dirty="0"/>
          </a:p>
        </p:txBody>
      </p:sp>
      <p:sp>
        <p:nvSpPr>
          <p:cNvPr id="15" name="Text 11"/>
          <p:cNvSpPr/>
          <p:nvPr/>
        </p:nvSpPr>
        <p:spPr>
          <a:xfrm>
            <a:off x="731520" y="5897880"/>
            <a:ext cx="10515600" cy="411480"/>
          </a:xfrm>
          <a:prstGeom prst="rect">
            <a:avLst/>
          </a:prstGeom>
          <a:noFill/>
          <a:ln/>
        </p:spPr>
        <p:txBody>
          <a:bodyPr wrap="square" lIns="0" tIns="0" rIns="0" bIns="0" rtlCol="0" anchor="ctr"/>
          <a:lstStyle/>
          <a:p>
            <a:pPr indent="0" marL="0">
              <a:buNone/>
            </a:pPr>
            <a:r>
              <a:rPr lang="en-US" sz="2000" b="1" dirty="0">
                <a:solidFill>
                  <a:srgbClr val="FF9A3C"/>
                </a:solidFill>
                <a:latin typeface="Arial" pitchFamily="34" charset="0"/>
                <a:ea typeface="Arial" pitchFamily="34" charset="-122"/>
                <a:cs typeface="Arial" pitchFamily="34" charset="-120"/>
              </a:rPr>
              <a:t>Codex écrit le code. Vous décidez, vous contrôlez, vous expliquez.</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Leaders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Langage avancé : IA, Codex et BI — votre première mission chez Solen Digital</dc:title>
  <dc:subject>Langage avancé : IA, Codex et BI · Solen BI 22 h · V7</dc:subject>
  <dc:creator>Youssef Douma</dc:creator>
  <cp:lastModifiedBy>Youssef Douma</cp:lastModifiedBy>
  <cp:revision>1</cp:revision>
  <dcterms:created xsi:type="dcterms:W3CDTF">2026-10-28T19:28:52Z</dcterms:created>
  <dcterms:modified xsi:type="dcterms:W3CDTF">2026-10-28T19:28:52Z</dcterms:modified>
</cp:coreProperties>
</file>