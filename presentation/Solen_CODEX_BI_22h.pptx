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Ventes nettes (millimes, affichées en TND)</c:v>
                </c:pt>
              </c:strCache>
            </c:strRef>
          </c:tx>
          <c:spPr>
            <a:solidFill>
              <a:srgbClr val="2B3180"/>
            </a:solidFill>
            <a:effectLst/>
          </c:spPr>
          <c:invertIfNegative val="0"/>
          <c:dLbls>
            <c:numFmt formatCode="#\ ###\,###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2B318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Grand Tunis</c:v>
                  </c:pt>
                  <c:pt idx="1">
                    <c:v>Sud</c:v>
                  </c:pt>
                  <c:pt idx="2">
                    <c:v>Cap Bon</c:v>
                  </c:pt>
                  <c:pt idx="3">
                    <c:v>Nord-Est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40887210</c:v>
                </c:pt>
                <c:pt idx="1">
                  <c:v>26579870</c:v>
                </c:pt>
                <c:pt idx="2">
                  <c:v>19653980</c:v>
                </c:pt>
                <c:pt idx="3">
                  <c:v>4323400</c:v>
                </c:pt>
              </c:numCache>
            </c:numRef>
          </c:val>
        </c:ser>
        <c:dLbls>
          <c:numFmt formatCode="#\ ###\,###" sourceLinked="0"/>
          <c:txPr>
            <a:bodyPr/>
            <a:lstStyle/>
            <a:p>
              <a:pPr>
                <a:defRPr b="1" i="0" strike="noStrike" sz="1500" u="none">
                  <a:solidFill>
                    <a:srgbClr val="2B318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F4D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  <c:majorUnit val="1000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Titre figé du contrat d'édition V7 (formateur/fable-v7-solen-22h/design/CONTRAT_EDITION.md §1). Solen Digital est une société fictive : seuls son nom et ses logos fournis sont utilisés. Durées = estimations de conception, à confirmer par un essai humain. Version des faits officiels :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 conducteur du contrat §2. Personnages fictifs : Lamia Ben Salah (directrice), Karim Jaziri (responsable BI). Maison Zitouna vend huile d'olive, olives, dattes, savons et coffrets : Tunis Centre (TUN, Grand Tunis), Nabeul (NBE, Cap Bon), Sfax (SFX, Sud) — livret 02, « La mission en une page ». Tous les noms de clients sont inventés.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Texte abrégé du mail de l'épisode 1 (livret 02, séance 1). Le mail complet précise que les chiffres du premier semestre doivent rester dans Cap Bon : c'est l'annonce du SCD2 de la séance 4. La question « où passe la marge ? » sert de fil rouge jusqu'à la recommandation de S5.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v7-direction-decision (authoring/visuals/manifest.json). Chaîne : direction → question métier → données → indicateur → décision. Si l'indicateur ne répond pas à la question, on revient à la question métier. C'est aussi la structure de la recommandation de S5.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§1 (Équipes) et §8 (cycle). Les rôles s'inversent à chaque cycle : S1 et S2 A auteur, S3 B auteur, S4 revue d'un défaut planté et conflit contrôlé. L'auteur ne fusionne jamais sa propre PR. On ne partage jamais un compte.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§1 et §3 : séance de 240 min = 2 pauses de 10 min + 220 min actives ≈ 66 min d'explications + 154 min de pratique (70 %). Total actif 1 100 min ≈ 330 explications / 770 pratique. Travail personnel ≈ 8 h : lecture 1 h, mission du catalogue 5 h, finition et oral 2 h. Ce sont des estimations de conception, pas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v7-seances. Épisodes Solen : S1 demande et cadrage, S2 premier résultat faux, S3 anomalies et étoile, S4 changement de besoin et revue, S5 livraison ; ≈ 8 h personnelles ; soutenance 2 h pour la promotion. Contrat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§1 (Code) et livret 03 §1 : « Trois règles qui ne changent jamais ». Codex ne modifie jamais les sources, reference/ ni controles/ ; il ne commit pas, ne pousse pas, n'ouvre ni ne fusionne de PR. « 26 rejets » annoncé par Codex reste une promesse tant que la ligne du vérificateur n'a pas été 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v7-codex-controle. Un contrôle rouge ou un écart renvoie à Codex avec une demande plus précise. La revue Codex est en lecture seule ; elle ne remplace pas la revue humaine.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00, « La route A → B → C ». Fichiers : 00_lire_moi, 01_demarrer, 02_tronc_commun, 03_diriger_codex_et_git, 04_catalogue_missions (fin S3), 05_livrer_soutenir, 06_aide_memoire. Dossier prompts/ : 18 fiches prêtes à adapter (prompts/README.md).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v7-postes-wsl. Contrat §1 (OS). Windows : agent « Windows Subsystem for Linux » choisi dans Settings de l'app, puis redémarrage (OpenAI, Desktop app for Windows, https://learn.chatgpt.com/docs/app/windows, lu le 28/10/2026). Dépôts sous /home (OpenAI WSL, https://learn.chatgpt.com/docs/windows/wsl, lu le 28/10/2026). Ubuntu 24.04/26.04 : app Linux en preview, .deb (https://learn.chatgpt.com/docs/linux/linux-app, lu le 28/10/2026). Power BI Desktop uniquement sur Windows (Microsoft, lu le 28/10/2026). Pas de Docker.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 du PROMPT_FABLE §3 (formateur) : dix thèmes, aucun seulement cité. Objectif final : transformer des données brutes en indicateurs utiles à la décision, en sachant piloter l'IA et contrôler sa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Formulation reprise du programme (PROMPT_FABLE §3) et du livret 00 (« Ce que vous saurez faire à la fin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dix thèmes du programme (PROMPT_FABLE §3) placés sur la progression du contrat §7. Python : on reconnaît et explique le code écrit par Codex, on ne le tape pas. Le thème 10 traverse toutes les séances.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Matrice demandée par le programme. Chiffres : rejets lot 1 = 26 (reference/README.md) ; retours VALIDE de mars 2026 = 25 lignes, 893 810 millimes (livret 02, S3-M1, sortie attendue). « Votre action » ne contient jamais de saisie 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Suite de la matrice. Chiffres : fact_vente 2345 après lot 2 ; rejeu sans ligne ajoutée (attendu_lot2.json, clé rejeu). Power BI : 6 relations 1:* et 5 mesures (livret 05 §2 ; modele-binome/powerbi/README.md).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§8 : cycle enseigné. Sources GitHub officielles listées en section I (docs/setup/sources.json, vérifiées le 28/10/2026).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v7-trois-emplacements. commit = enregistrer chez moi ; push = envoyer ; pull = récupérer ; PR = proposer et faire relire. Les deux ordinateurs n'échangent que via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Libellés GitHub tirés de la documentation officielle (Creating a pull request, Reviewing proposed changes, Merging a pull request ; docs.github.com, lus le 28/10/2026). &lt;branche&gt; = à remplacer. Les workflows Git (gestes) et les workflows GitHub Actions (CI) sont deux notions différentes.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v7-cycle-pr. Contrat §8 : git switch main → git pull → git switch -c &lt;branche&gt; → demande à Codex → contrôles → lire le diff → git add/commit → git push -u origin &lt;branche&gt; → PR → partenaire : git fetch + git switch &lt;branche&gt; + revue Codex lecture seule → revue humaine (Files changed → Review changes → Approve / Request changes) → corrections → CI verte → approbation → Merge pull request → les deux : git switch main &amp;&amp; git pull.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Progression du livret 02 (S1-M5, S2-M4, S3-M6, S4-M4/M5). L'auteur ne s'approuve pas : GitHub ne le permet pas. L'accord de Codex ne remplace pas le jugement du partenaire.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 §6, « La revue à deux ». Une revue cite fichier:ligne, la commande et la valeur reproduite, et ce qui n'a pas été vérifié. Ne jamais coller la réponse de Codex comme revue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03, « Dépanner Git sans rien casser ». Avant toute réparation : pwd, git status, git log --oneline -5. Résolution de conflit : Codex propose, les étudiants vérifient et terminent (git add, git commit) ; abandon possible avec git merge --abort.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03, encadré « Interdits ». Le cours n'enseigne aucun force push ni reset destructif comme raccourci débutant (programme §4).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§1 (Dépôt binôme, CI). GitHub's plans (https://docs.github.com/en/get-started/learning-about-github/githubs-plans, lu le 28/10/2026) : protection de branche / revues requises sur les dépôts publics en Free, ajoutées aux privés par Pro. GitHub Actions billing (https://docs.github.com/en/billing/concepts/product-billing/github-actions, lu le 28/10/2026) : runners standard gratuits sur dépôts publics. gh auth login : https://cli.github.com/manual/gh_auth_login (lu le 28/10/2026).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compte auteur est un plan payant : l'accès Free réel n'est pas encore prouvé ; il le sera par le prévol Ines/Rayan. Chaque étudiant relève ce que SON écran affiche. Sources : OpenAI, Pricing, https://learn.chatgpt.com/docs/pricing, lu le 28/10/2026 ; OpenAI, Models, https://learn.chatgpt.com/docs/models, lu le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(https://learn.chatgpt.com/docs/pricing, lu le 28/10/2026) : Free = « GPT-6 Luna at Standard speed in the desktop app, subject to rollout » ; CLI, IDE et web listés à partir de Plus. Aucun quota chiffré pour Free. Le compte auteur est un plan payant : l'accès Free réel n'est pas encore prouvé ; il le sera par le prévol Ines/Rayan. Chaque étudiant relève ce que SON écran affiche.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Models (https://learn.chatgpt.com/docs/models, lu le 28/10/2026) : « Light in the ChatGPT desktop app … suits quick, well-scoped tasks » ; « Medium balances speed and depth » ; « High and Extra High suit difficult work » ; « Start with High for Luna ». Réglage : sélecteur de modèle (Ctrl + Maj + M) ou Advanced, préréglage « Luna High » (livret 01, Codex 1). Les options varient selon le plan, le client et le déploiement. Le compte auteur est un plan payant : l'accès Free réel n'est pas encore prouvé ; il le sera par le prévol Ines/Rayan. Chaque étudiant relève ce que SON écran affiche.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v7-tokens-contexte. Pricing (lu le 28/10/2026) : « The number of messages you can send depends on the model used, size and complexity of your tasks » ; « Weekly limits may also apply » ; usage visible dans le tableau d'usage. /status dans le composer montre contexte et limites (Slash commands, https://learn.chatgpt.com/codex/reference/slash-commands, lu le 28/10/2026). On ne promet ni nombre de tokens ni « 4 h de Codex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 §2. Monter l'effort ne vide pas un contexte surchargé ; un chat neuf ne rend pas de quota. Sources : Pricing et Models (lus le 28/10/2026).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Fiche tâche → modèle accessible → effort accessible → raison → preuve attendue (livret 03, « Quel effort pour quelle tâche ? » ; schéma docs/images/diagrams/v7-tache-modele-effort.png). Models (https://learn.chatgpt.com/docs/models, lu le 28/10/2026) : « Start with High for Luna » ; Light pour les tâches rapides et cadrées ; High et Extra High pour le travail difficile. Un faible effort n'est pas toujours moins cher : comparer qualité et reprises. Seuls les choix visibles sur un compte Free sont enseignés ; on ne copie pas les modèles payants de l'auteur. Le compte auteur est un plan payant : l'accès Free réel n'est pas encore prouvé ; il le sera par le prévol Ines/Rayan. Chaque étudiant relève ce que SON écran affiche.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 §3 « Les huit habitudes », reprises du programme §5. En une ligne : précis · plan court · diff lu et contrôle déterministe · note courte · six mots distincts · revue → correction → recontrôle + cas limite · AGENTS.md et Skills · parallèle seulement si utile. Méthode du livret 03 (édition V7), état au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Exemple du livret 03, habitude 1. Sur l'échantillon, E-009-1 a une quantité -1 : seul rejet quantite_invalide (echantillon/attendu.md). « Recopie la sortie réelle » termine la demande. Méthode du livret 03 (édition V7), état au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03, habitude 6 et prompts 11 (revue lecture seule) et 12 (corriger après revue). valid_from inclus, valid_to exclu : si la vente du 15 tombe en Cap Bon, valid_to est traité comme inclus, défaut établi. Méthode du livret 03 (édition V7), état au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03, habitude 7. AGENTS.md : lu avant tout travail, de la racine vers le dossier courant (OpenAI, AGENTS.md, https://learn.chatgpt.com/docs/agent-configuration/agents-md, lu le 28/10/2026). Skills : .agents/skills/&lt;nom&gt;/SKILL.md avec name et description (OpenAI, Build skills, https://learn.chatgpt.com/docs/build-skills, lu le 28/10/2026). La découverte d'un Skill sur un compte Free n'est pas encore prouvée : sinon « Lis .agents/skills/revoir-bi/SKILL.md et applique sa méthode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Subagents (https://learn.chatgpt.com/docs/agent-configuration/subagents, lu le 28/10/2026) : travailleurs parallèles sur demande explicite, plus de tokens. Livret 03, habitude 8. Aucun besoin de lancer dix agents ; la revue séquentielle est la route gratuite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03 §8 et livret 01 « Compte Free ». Point de reprise : modele-binome/ du dépôt du cours + notes/JOURNAL.md. Pricing (lu le 28/10/2026) : limites variables, hebdomadaires possibles. Si Luna est absent ou l'effort grisé : noter ce qui s'affiche, utiliser ce qui est proposé, prévenir le professeur.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des chiffres : modele-binome/tronc-commun/reference/README.md et attendu_lot1.json / attendu_lot2.json (calculés par le générateur depuis la vérité terrain, sans ETL), lus le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v7-pipeline. Sources lot 1 : ventes.csv (1998 lignes), catalogue.xlsx (8 produits, 6 familles), boutiques.json (3 boutiques), operations.sqlite (82 retours : 78 VALIDE, 4 ANNULE). Montants en millimes entiers dans l'entrepôt, affichés en TND à 3 décimales. Source des chiffres : modele-binome/tronc-commun/reference/README.md et attendu_lot1.json / attendu_lot2.json (calculés par le générateur depuis la vérité terrain, sans ETL), lus le 28/10/2026.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Première ligne de l'échantillon (echantillon/attendu.md) : E-001-1, 2026-03-02, TUN, P01, quantité 2, prix 18,500 → 37,000 TND bruts. Le grain est fixé à la réunion de cadrage (épisode 2). La clé métier ligne_id rend le rejeu idempotent.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00, « Dix mots » ; contrat §5. Après lot 1 : fact_vente 1960, fact_retour 76, dim_produit 8, dim_boutique 3, dim_date 181 (reference/README.md).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v7-etoile. Même modèle dans Power BI : 6 relations 1:*, filtre croisé simple, toutes actives (livret 05 §2 ; modele-binome/powerbi/README.md §4).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v7-cles. boutique_id = NBE identifie la boutique ; boutique_key identifie une version (2 = Cap Bon, 5 = Nord-Est sur ce schéma). On ne relie jamais par boutique_id dans Power BI : NBE a deux lignes. Les numéros de clé réels dépendent du code ; le vérificateur contrôle la zone à la date, pas le numéro.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v7-nettoyage (exemple pédagogique L001…L005, distinct de l'échantillon). Motifs standard du contrat §5 : id_conflit, id_manquant, cle_inconnue, quantite_invalide. Les sources restent intactes ; les rejets vont dans outputs/rejets.csv.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modele-binome/tronc-commun/echantillon/attendu.md (calcul à la main de l'échantillon), lu le 28/10/2026. Lignes rejetées : E-006-1 (deux fois, quantités 2 et 4 → id_conflit), ligne sans identifiant, E-008-1 (P99 inconnu), E-009-1 (quantité -1).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modele-binome/tronc-commun/echantillon/attendu.md (calcul à la main de l'échantillon), lu le 28/10/2026. Retours : R-0001 (14,500 TND gardés), R-0002 ANNULE (ignoré, pas un rejet), R-0003 vise E-099-9 inexistant (rejet cle_inconnue). Coût d'achat des unités nettes = 76,000 − 8,750 = 67,250 TND ; marge = 112,850 − 67,250 = 45,600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Définitions du cahier des charges (livret 02, « La mission en une page » ; contrat §6). Mêmes définitions dans le PDF, le code, l'app, les tests, le DAX et ces diapositives. Stockage en millimes entiers (1 TND = 1 000 millimes).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S3-M1 « SQL paramétré depuis Python » : sortie attendue « retours VALIDE 2026-03 : 25 lignes · 893810 millimes (893,810 TND) ». Borne de fin exclue (&lt; 2026-04-01). Une chaîne construite avec NBE' OR '1'='1 changerait le sens de la requête. Base opérationnelle (sert à travailler) ≠ entrepôt (sert à analyser).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des chiffres : modele-binome/tronc-commun/reference/README.md et attendu_lot1.json / attendu_lot2.json (calculés par le générateur depuis la vérité terrain, sans ETL), lus le 28/10/2026. Lot 1 : ventes brutes 78 067,830 TND ; retours 3 758,330 TND ; ventes nettes 74 309,500 TND ; marge 28 991,700 TND ; taux de retour 4,81 %. 1998 − 14 doublons − 24 rejets ventes = 1960 faits ; 2 rejets viennent de operations.sqlite (cle_inconnue).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séance 2, épisode 3 : sur le lot 1, somme brute de toutes les lignes = 78 839,780 TND ; ventes brutes après nettoyage = 78 067,830 TND (reference/README.md). Sur l'échantillon : 192,850 TND sans règle contre 127,350 TND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v7-indicateur-controle. Correct = après dédoublonnage ; erreur plausible = un doublon compté deux fois. Le contrôle qui tranche : nombre de ligne_id distincts parmi les lignes acceptées = nombre de lignes de fact_vente.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native et chiffrée du schéma v7-chargements (le PNG du kit affiche « n » et « 3 déjà connues » ; les compteurs réels sont ceux de la référence). Lot 2 (livret 02, S4-M2 ; attendu_lot2.json) : ventes.csv 413 lues, 4 doublons + 15 déjà chargées (29-30 juin) ignorées, 9 rejetées, 385 ajoutées ; operations.sqlite 29 lus, 2 ANNULE + 3 déjà chargés, 1 rejet, 23 ajoutés ; 62 jours et 1 version SCD2 ajoutés. Rejeu : « relancer lot2 donne exactement ce fichier » (attendu_lot2.json, clé rejeu).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v7-scd2-frise. Référence après le dernier lot : NBE Cap Bon du 2021-05-10 au 2026-07-15 (exclu), NBE Nord-Est depuis le 2026-07-15 (courante) ; SFX Sud ; TUN Grand Tunis. Le schéma simplifie la date de début de la version 1 au 2026-01-01 (début des données) ; la vraie valid_from est 2021-05-10 (reference/README.md). Un fait ancien reste rattaché à la version valable à sa date : on n'écrit jamais UPDATE … SET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des chiffres : modele-binome/tronc-commun/reference/README.md et attendu_lot1.json / attendu_lot2.json (calculés par le générateur depuis la vérité terrain, sans ETL), lus le 28/10/2026. Après lot 2 : ventes brutes 95 849,090 TND ; retours 4 404,630 TND ; ventes nettes 91 444,460 TND ; coût d'achat des unités nettes 55 837,600 TND ; marge 35 606,860 TND ; taux de retour 4,60 % ; unités nettes 4264. Mêmes valeurs dans la capture réelle de l'application de référence.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Graphique natif PowerPoint (éditable). Source : modele-binome/tronc-commun/reference/attendu_lot2.json, clé agregats.par_zone.&lt;zone&gt;.ventes_nettes_millimes, divisé par 1 000 (lu le 28/10/2026). Grand Tunis 40 887,210 TND; Sud 26 579,870 TND; Cap Bon 19 653,980 TND; Nord-Est 4 323,400 TND. Total = 91 444,460 TND = ventes nettes après lot 2. Avant le lot 2, Cap Bon valait 19 262,780 TND (attendu_lot1.json) : il ne gagne que les ventes de Nabeul du 1er au 14 juillet.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Minutages : livret 02 (S1 à S4) et livret 05 (S5). Ce sont des estimations de conception, à confirmer par un essai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séance 1 : 15 + 15/15 + 35 + pause 10 + 10 + 12/24 + 25 + pause 10 + 14/45 + 10 = 240 min ; 66 min d'explications, 154 de pratique. Épisodes 1 et 2 (mail, réunion de cadrage).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séance 2 : 12 + 14/30 + pause + 14/40 + 14/20 + pause + 12/54 + 10. Épisode 3 : le total de Karim (78 839,780 TND) est faux ; le vrai est 78 067,830 TND.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séance 3 : 10 + 14/25 + 16/15 + pause + 10/15 + 6/35 + 20 + pause + 5/34 + 5/10. Épisode 4 : base opérationnelle des retours, deux retours pointent vers des tickets introuvables (TK1999-1, TK2817-2).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séance 4 : 8 + 12/28 + 5/12 + 10/22 + pause + 8/32 + 8/20 + pause + 7/15 + 4/10 + 4/15. Épisodes 5 (nouveau lot, Nabeul change de zone) et 6 (défaut planté, revue → correction → revue).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05, « Minutage de la séance 5 » : 15 + 35 + pause + 65 + 45 + pause + 20 + 40 = 240 ; 66 explications, 154 pratique. Un seul poste Windows pour deux : alterner. Power BI bloqué plus de 20 min : appeler le professeur, noter le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02, S3-M7. Chaque mission a fiche_mission.md, cahier_des_charges.md, dictionnaire.md, échantillon + attendu.md, deux lots, une base SQLite opérationnelle, une dimension historisée, reference/. Le livret 04 (catalogue) est en cours de construction à la date de ce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05, épisode 7 : mail fictif de Lamia Ben Salah. Chaque phrase du mail fixe un livrable. La présentation de « vendredi » est la soutenance, sur votre mission du catalogue.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docs/images/captures/REGISTRE.json : navigateur intégré de l'application Claude, macOS 26.3, viewport 1280×900, page servie en local, 2026-10-28. Limite : capture de la solution de référence privée, pas d'une production étudiante ; 800 px. Une seule page HTML autonome générée par python -m solen app (outputs/app/index.html), sans serveur.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docs/images/captures/REGISTRE.json : même environnement (macOS 26.3, navigateur intégré, 2026-10-28). Motifs : cle_inconnue, id_conflit, id_manquant, quantite_invalide. Ordre des motifs selon reference/README.md. Limite : solution de référence, pas une production étudiante.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modele-binome/powerbi/README.md et livret 05 §2. Power BI Desktop : gratuit, Windows uniquement (Microsoft, Download Power BI Desktop, https://learn.microsoft.com/en-us/power-bi/fundamentals/desktop-get-the-desktop, lu le 28/10/2026). Jamais de relation par boutique_id. Actualiser prouve que le rapport relit les CSV, pas que les CSV sont justes. Captures Power BI : placeholders, en attente du prévol Windows Ines/Rayan (aucune capture fabriquée).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 §4, exemple travaillé : zone Sud (Sfax) 7,40 % de retours (2 124,470 / 28 704,340 TND, cohérent avec attendu_lot2.json par_zone.Sud) ; un coffret entreprise de 1 240,000 TND vendu le 28 mai, rendu le 2 juin ; sans lui le Sud serait ≈ 3,1 % et juin 2,2 %. Recommandation : revoir les conditions de retour des coffrets, pas un plan qualité sur toute la boutique. Limite : 8 mois, un seul retour. Donnée : motif du retour (présent dans operations.sqlite, non chargé).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§6 et fiches modele-binome/catalogue/M01…M10/fiche_mission.md (lues le 28/10/2026). Entreprises fictives.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résumées du « message de la direction » de chaque fiche_mission.md. Chaque mission a un changement SCD2 au 15 juillet (M01 Hammamet → Sahel ; M02 VSO → marketplace ; M03 CL04 → grande surface ; M04 agence de Nabeul → Centre-Sahel ; M05 SES-2619 → Sfax ; M06 commission OTA 18 % → 15 % ; M07 Fibre 300 → gamme pro, 99,900 TND ; M08 EQ-017 → CT-09 ; M09 frais REV 9 % → 11 % ; M10 PX07 → Nour Jebali) et une règle à clarifier tranchée par la direction (fiche, section « La règle à clarifier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 §5 (socle commun) : quatre sources, deux lots, échantillon ≤ 12 lignes avec attendu.md, au moins 6 types d'anomalies, rejets motivés, dimensions avant faits, SCD2 valid_from inclus / valid_to exclu, rejeu sans doublon, export + manifest.json. Oracle : reference/attendu_*.json calculé par le générateur. Chaque mission a aussi 3 variantes possibles (fiche_mission.md).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 §6 et contrat §3/§9. La grille chiffrée et les ancrages restent privés (jury/) : aucun point n'est montré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Schéma v7-soutenance ; contrat §3. N = 5 → 20 min (6 démo + 2 × 6 questions + 2 transition) ; N = 8 → 12,5 min ; N ≥ 11 → ≈ 9,1 min ou moins : impossible en un seul créneau sans second créneau ou deux jurys en parallèle. À signaler au professeur dès que N est connu.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05, « Le script de démonstration : 6 minutes ». Phrases clés : « Une ligne de fait = … », « Relancer ne crée aucun doublon », « Ce chiffre égale la référence », « Le rapport relit l'export », « Nous conseillons… mais… », « Nous avons alterné auteur et relecteur ». Un imprévu : dire ce qu'on voit, ce qu'on attendait, ce qu'on vérifierait.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05, encadré « Les critères annoncés (publics) » ; contrat §9 : part commune binôme (dépôt, résultats = référence, app/Power BI, qualité des PR) et part individuelle. Les points, la grille /20 et les ancrages sont dans jury/ (privé) et ne sont pas montrés aux étudiants.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Livret 05, « Les questions individuelles : à quoi s'entraîner ». S'entraîner avec : cahier des charges, prompt 14, outputs/rejets.csv, écran Détail, PR fermées, --etape rejeu, git shortlog -sn, prompt 18. Codex est autorisé pendant une variation si le jury le demande : il veut voir votre demande, votre prévision et votre contrôle.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docs/setup/sources.json : 38 sources, verified_on 2026-10-28. Portée : pages lues en ligne ; aucune installation Windows/WSL ou Ubuntu, aucun compte Codex Free, aucun quota ni parcours GitHub à deux comptes n'a été exécuté pour ce catalogue.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URLs reprises de docs/setup/sources.json (verified_on 2026-10-28). Ces pages peuvent changer : l'écran du compte de l'étudiant fait foi. Le compte auteur est un plan payant : l'accès Free réel n'est pas encore prouvé ; il le sera par le prévol Ines/Rayan. Chaque étudiant relève ce que SON écran affiche.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Sélection de docs/setup/sources.json (38 sources au total, toutes vérifiées le 28/10/2026). La liste complète est dans ce fichier et dans les livrets 01 et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authoring/visuals/manifest.json (licence : schémas originaux, aucune interface simulée, polices OFL avec notices authoring/assets/fonts/*-OFL.txt). Logos : authoring/assets/leaders-logo.jpeg et solen-digital-horizontal.png, fournis. Captures : app-vue-direction.png et app-qualite.png, macOS 26.3, 2026-10-28.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Préparation avant S1 (livret 00, « À ce stade, je sais… » ; livret 01). Aucun paiement ni clé API. Le compte Free et l'affichage de Luna sont à vérifier par chaque étudiant.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8022" y="292608"/>
            <a:ext cx="819545" cy="329184"/>
          </a:xfrm>
          <a:prstGeom prst="rect">
            <a:avLst/>
          </a:prstGeom>
        </p:spPr>
      </p:pic>
      <p:pic>
        <p:nvPicPr>
          <p:cNvPr id="3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265176"/>
            <a:ext cx="384048" cy="3840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Solen BI 22 h · V7 · Youssef Douma · Leaders University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chatgpt.com/docs/pricing" TargetMode="External"/><Relationship Id="rId2" Type="http://schemas.openxmlformats.org/officeDocument/2006/relationships/hyperlink" Target="https://learn.chatgpt.com/docs/models" TargetMode="External"/><Relationship Id="rId3" Type="http://schemas.openxmlformats.org/officeDocument/2006/relationships/hyperlink" Target="https://learn.chatgpt.com/docs/app/windows" TargetMode="External"/><Relationship Id="rId4" Type="http://schemas.openxmlformats.org/officeDocument/2006/relationships/hyperlink" Target="https://learn.chatgpt.com/docs/windows/wsl" TargetMode="External"/><Relationship Id="rId5" Type="http://schemas.openxmlformats.org/officeDocument/2006/relationships/hyperlink" Target="https://learn.chatgpt.com/docs/linux/linux-app" TargetMode="External"/><Relationship Id="rId6" Type="http://schemas.openxmlformats.org/officeDocument/2006/relationships/hyperlink" Target="https://learn.chatgpt.com/codex/reference/slash-commands" TargetMode="External"/><Relationship Id="rId7" Type="http://schemas.openxmlformats.org/officeDocument/2006/relationships/hyperlink" Target="https://learn.chatgpt.com/docs/agent-configuration/agents-md" TargetMode="External"/><Relationship Id="rId8" Type="http://schemas.openxmlformats.org/officeDocument/2006/relationships/hyperlink" Target="https://learn.chatgpt.com/docs/build-skills" TargetMode="External"/><Relationship Id="rId9" Type="http://schemas.openxmlformats.org/officeDocument/2006/relationships/hyperlink" Target="https://learn.chatgpt.com/docs/agent-configuration/subagents" TargetMode="External"/><Relationship Id="rId10" Type="http://schemas.openxmlformats.org/officeDocument/2006/relationships/hyperlink" Target="https://learn.chatgpt.com/docs/codex/cli" TargetMode="External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ithub.com/en/get-started/learning-about-github/githubs-plans" TargetMode="External"/><Relationship Id="rId2" Type="http://schemas.openxmlformats.org/officeDocument/2006/relationships/hyperlink" Target="https://docs.github.com/en/billing/concepts/product-billing/github-actions" TargetMode="External"/><Relationship Id="rId3" Type="http://schemas.openxmlformats.org/officeDocument/2006/relationships/hyperlink" Target="https://docs.github.com/en/pull-requests/collaborating-with-pull-requests/proposing-changes-to-your-work-with-pull-requests/creating-a-pull-request" TargetMode="External"/><Relationship Id="rId4" Type="http://schemas.openxmlformats.org/officeDocument/2006/relationships/hyperlink" Target="https://docs.github.com/en/pull-requests/collaborating-with-pull-requests/reviewing-changes-in-pull-requests/reviewing-proposed-changes-in-a-pull-request" TargetMode="External"/><Relationship Id="rId5" Type="http://schemas.openxmlformats.org/officeDocument/2006/relationships/hyperlink" Target="https://docs.github.com/en/pull-requests/collaborating-with-pull-requests/addressing-merge-conflicts/resolving-a-merge-conflict-on-github" TargetMode="External"/><Relationship Id="rId6" Type="http://schemas.openxmlformats.org/officeDocument/2006/relationships/hyperlink" Target="https://cli.github.com/manual/gh_auth_login" TargetMode="External"/><Relationship Id="rId7" Type="http://schemas.openxmlformats.org/officeDocument/2006/relationships/hyperlink" Target="https://learn.microsoft.com/en-us/windows/wsl/install" TargetMode="External"/><Relationship Id="rId8" Type="http://schemas.openxmlformats.org/officeDocument/2006/relationships/hyperlink" Target="https://learn.microsoft.com/en-us/power-bi/fundamentals/desktop-get-the-desktop" TargetMode="External"/><Relationship Id="rId9" Type="http://schemas.openxmlformats.org/officeDocument/2006/relationships/hyperlink" Target="https://docs.python.org/3/library/venv.html" TargetMode="External"/><Relationship Id="rId10" Type="http://schemas.openxmlformats.org/officeDocument/2006/relationships/hyperlink" Target="https://ubuntu.com/developers/docs/howto/python-setup/" TargetMode="External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3200400"/>
            <a:ext cx="5669280" cy="566928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48640"/>
            <a:ext cx="1740623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713232"/>
            <a:ext cx="1411439" cy="566928"/>
          </a:xfrm>
          <a:prstGeom prst="rect">
            <a:avLst/>
          </a:prstGeom>
        </p:spPr>
      </p:pic>
      <p:pic>
        <p:nvPicPr>
          <p:cNvPr id="5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743" y="548640"/>
            <a:ext cx="896112" cy="8961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3232" y="1783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BI · ÉDITION SOLEN · V7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85800" y="22402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Langage avancé : IA, Codex et BI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713232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première mission chez Solen Digital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713232" y="47091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h en présence · 5 séances de 4 h + soutenance 2 h · binômes · 0 code à la main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13232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Douma · Leaders University · faits officiels vérifiés le 28/10/2026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LA MISSION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Lundi matin, vous rejoignez Solen Digital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Solen Digital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Société de services numériques (fictive) qui accompagne des PME.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38218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681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6818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deux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66818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Jeunes diplômés BI, recrutés en binôme le même lundi.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7797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6397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56397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56397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client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56397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Maison Zitouna : 3 boutiques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 · NBE · SFX.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mission trop grande pour deux débutants… sauf si on la découpe en petites étapes vérifiables.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LA MISSION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1 · Le mail de la direction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321040" cy="4434840"/>
          </a:xfrm>
          <a:prstGeom prst="roundRect">
            <a:avLst>
              <a:gd name="adj" fmla="val 1649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18288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Lamia Ben Salah, directrice (fictive)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128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22128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deux, via Karim Jaziri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59689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45920" y="259689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Maison Zitouna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063240"/>
            <a:ext cx="7772400" cy="0"/>
          </a:xfrm>
          <a:prstGeom prst="line">
            <a:avLst/>
          </a:prstGeom>
          <a:noFill/>
          <a:ln w="12700">
            <a:solidFill>
              <a:srgbClr val="DCE2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00400"/>
            <a:ext cx="7772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Les ventes montent, mais où passe la marge ?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boutique, par zone et par mois : ventes brutes, retours, ventes nettes, marge sur coût d'achat, taux de retour.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dites-moi ce que vous avez dû écarter, et pourquoi. »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89720" y="1691640"/>
            <a:ext cx="2453335" cy="4434840"/>
          </a:xfrm>
          <a:prstGeom prst="roundRect">
            <a:avLst>
              <a:gd name="adj" fmla="val 3727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0" y="1920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NOTER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418320" y="2377440"/>
            <a:ext cx="19961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partir du 15 juillet, Nabeul passe de Cap Bon à Nord-Est.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418320" y="5349240"/>
            <a:ext cx="1996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Personnages et entreprise fictifs.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LA MISSION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question de la direction à la décision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803940"/>
            <a:ext cx="8110728" cy="4210241"/>
          </a:xfrm>
          <a:prstGeom prst="roundRect">
            <a:avLst>
              <a:gd name="adj" fmla="val 130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De la question de la direction à la déci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58804"/>
            <a:ext cx="8001000" cy="410051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961120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61120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961120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464040" y="2423160"/>
            <a:ext cx="2179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question floue devient une question métier.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61120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611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464040" y="3447288"/>
            <a:ext cx="2179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indicateur défini, avec son unité.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961120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11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464040" y="4471416"/>
            <a:ext cx="2179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question, pas de graphique.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 BINÔME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recrues, deux rôles qui alternent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AUTEUR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Rédige la demande à Codex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Lance les contrôles, lit le diff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Commit, push, ouvre la PR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RELECTEUR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Récupère la branche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Codex en lecture seule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Écrit SA revue, approuve ou non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2689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2689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comptes GitHub · deux comptes Codex Free · deux copies locales · un dépôt par binôme.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 CONTRAT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contrat du cours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h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présence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4 h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soutenance 2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90824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704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h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73704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travail personnel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(≈ 30 h au total)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30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15888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/ explications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hors pauses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75191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8071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258071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 de code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tapée à la main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Durées estimées, à confirmer par un essai réel.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 CONTRAT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séances, une mission, une soutenance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7209775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Cinq séances, une mission, une souten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100047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60167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60167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60167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60167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563087" y="2423160"/>
            <a:ext cx="307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→ S4 : tronc commun guidé.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060167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60167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563087" y="3447288"/>
            <a:ext cx="307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S3 : choix d'une mission du catalogue.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060167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60167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563087" y="4471416"/>
            <a:ext cx="307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+ perso : votre mission, puis soutenance.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 CONTRAT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d'or : Codex écrit, vous décidez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ÉCRIT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SQL · DAX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· YAML de CI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FAITES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précises et prévisions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Contrôles, lecture du diff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Git/GitHub, décisions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2689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2689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valeur n'est vraie que quand vous avez relancé la commande qui la montre.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 CONTRAT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propose, les humains décident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853946"/>
            <a:ext cx="8110728" cy="4110228"/>
          </a:xfrm>
          <a:prstGeom prst="roundRect">
            <a:avLst>
              <a:gd name="adj" fmla="val 1335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Codex propose, les humains déc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8810"/>
            <a:ext cx="8001000" cy="40005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961120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61120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961120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464040" y="2423160"/>
            <a:ext cx="2179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propose dans une branche.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61120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611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464040" y="3447288"/>
            <a:ext cx="2179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L'auteur contrôle, le binôme relit.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961120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11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464040" y="4471416"/>
            <a:ext cx="2179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L'équipe livre après CI verte.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LES DOCUMENTS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route A → B → 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393338" cy="3108960"/>
          </a:xfrm>
          <a:prstGeom prst="roundRect">
            <a:avLst>
              <a:gd name="adj" fmla="val 294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9910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Démarrer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99100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Livret 01 : poste, Codex Free, GitHub à deux.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005986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99178" y="1965960"/>
            <a:ext cx="3393338" cy="3108960"/>
          </a:xfrm>
          <a:prstGeom prst="roundRect">
            <a:avLst>
              <a:gd name="adj" fmla="val 294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0034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034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00346" y="2770632"/>
            <a:ext cx="29910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Tronc commun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00346" y="3611880"/>
            <a:ext cx="299100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Livret 02 : Solen Commerce 360, S1 à S4.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856525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249717" y="1965960"/>
            <a:ext cx="3393338" cy="3108960"/>
          </a:xfrm>
          <a:prstGeom prst="roundRect">
            <a:avLst>
              <a:gd name="adj" fmla="val 2941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0885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0885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50885" y="2770632"/>
            <a:ext cx="299100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Livrer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450885" y="3611880"/>
            <a:ext cx="299100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Livrets 04 et 05 : votre mission, S5, soutenance.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Toujours ouverts : 03 Diriger Codex et Git · 06 Aide-mémoire · prompts/.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BIENVENUE CHEZ SOLEN DIGITAL  ·  LES OUTILS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poste : qui fait quoi, où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6941849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Votre poste : qui fait quoi, o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832121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92241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92241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92241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92241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95161" y="2423160"/>
            <a:ext cx="33478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: app Codex + Power BI Desktop.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792241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92241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95161" y="3447288"/>
            <a:ext cx="33478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(WSL2) : projet, Python, Git.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792241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2241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95161" y="4471416"/>
            <a:ext cx="33478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natif : Power BI sur un poste Windows.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B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saurez faire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Dix thèmes, chacun prouvé par une action réelle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80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SAUREZ FAIRE  ·  COMPÉTENCES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L'objectif final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4415" cy="2514600"/>
          </a:xfrm>
          <a:prstGeom prst="roundRect">
            <a:avLst>
              <a:gd name="adj" fmla="val 363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101800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des données brutes en indicateurs utiles à la décision,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sachant piloter l'IA et contrôler sa production.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2602154" cy="868680"/>
          </a:xfrm>
          <a:prstGeom prst="roundRect">
            <a:avLst>
              <a:gd name="adj" fmla="val 10526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709160"/>
            <a:ext cx="232783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Excel · JSON · SQLite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9394" y="4709160"/>
            <a:ext cx="2602154" cy="868680"/>
          </a:xfrm>
          <a:prstGeom prst="roundRect">
            <a:avLst>
              <a:gd name="adj" fmla="val 10526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16554" y="4709160"/>
            <a:ext cx="232783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Entrepôt en étoile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10148" y="4709160"/>
            <a:ext cx="2602154" cy="868680"/>
          </a:xfrm>
          <a:prstGeom prst="roundRect">
            <a:avLst>
              <a:gd name="adj" fmla="val 10526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7308" y="4709160"/>
            <a:ext cx="232783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locale + Power BI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40901" y="4709160"/>
            <a:ext cx="2602154" cy="868680"/>
          </a:xfrm>
          <a:prstGeom prst="roundRect">
            <a:avLst>
              <a:gd name="adj" fmla="val 10526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8061" y="4709160"/>
            <a:ext cx="232783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+ Git/GitHub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SAUREZ FAIRE  ·  COMPÉTENCES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Dix thèmes, cinq séances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1883664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appliqué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fonctions, modules, exceptions, classe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1985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1985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07757" y="1737360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72349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2349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57565" y="1883664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90637" y="2560320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: CSV, Excel, JSON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990637" y="341985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90637" y="341985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66873" y="1737360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31465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1465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16681" y="1883664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49753" y="2560320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doublons, formats, rejets motivés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249753" y="341985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49753" y="341985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25990" y="1737360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0582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058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075798" y="1883664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+ Python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508870" y="2560320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opérationnelle, requêtes ?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508870" y="341985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08870" y="341985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585107" y="1737360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49699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49699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334915" y="1883664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Modéliser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767987" y="2560320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grain, étoile, clés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767987" y="341985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67987" y="341985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078224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3232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298448" y="4224528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31520" y="4901184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extraire, nettoyer, charger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31520" y="57607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7607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→ S4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807757" y="4078224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72349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72349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3557565" y="4224528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Mises à jour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2990637" y="4901184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incrément, rejeu, SCD2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2990637" y="57607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90637" y="57607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66873" y="4078224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31465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31465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5816681" y="4224528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Visualiser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5249753" y="4901184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unités, filtres, recommandation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5249753" y="57607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49753" y="57607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325990" y="4078224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490582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0582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8075798" y="4224528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7508870" y="4901184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types, relations, DAX, actualiser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7508870" y="57607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08870" y="57607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9585107" y="4078224"/>
            <a:ext cx="2057949" cy="2139696"/>
          </a:xfrm>
          <a:prstGeom prst="roundRect">
            <a:avLst>
              <a:gd name="adj" fmla="val 444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749699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49699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10334915" y="4224528"/>
            <a:ext cx="11618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et Git</a:t>
            </a:r>
            <a:endParaRPr lang="en-US" sz="1500" dirty="0"/>
          </a:p>
        </p:txBody>
      </p:sp>
      <p:sp>
        <p:nvSpPr>
          <p:cNvPr id="73" name="Text 71"/>
          <p:cNvSpPr/>
          <p:nvPr/>
        </p:nvSpPr>
        <p:spPr>
          <a:xfrm>
            <a:off x="9767987" y="4901184"/>
            <a:ext cx="169218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Codex, AGENTS.md, Skills, Git, CI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9767987" y="57607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67987" y="57607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→ S5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SAUREZ FAIRE  ·  COMPÉTENCES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Matrice 1/2 : de la compétence à la preuve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069854"/>
                <a:gridCol w="2401030"/>
                <a:gridCol w="3311766"/>
                <a:gridCol w="3311766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(épisode)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Votre action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visible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S2-S3 · lire le code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Trouver la fonction qui rejette ; expliquer la classe Entrepot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Explication orale + diff lu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Données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 · premier résultat faux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Demander la lecture des 4 sources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Comptes de lignes = les vôtres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Qualité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 · anomalies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Fixer les règles, prévoir les rejets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rejets.csv : 26 rejets lot 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SQL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 · base des retours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Requête paramétrée « ? 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retours VALIDE en mars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Modélisation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 · étoile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Fixer le grain, relier par *_key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tables, faits reliés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SAUREZ FAIRE  ·  COMPÉTENCES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Matrice 2/2 : de la compétence à la preuve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069854"/>
                <a:gridCol w="2401030"/>
                <a:gridCol w="3311766"/>
                <a:gridCol w="3311766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(épisode)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Votre action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visible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ETL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 · chargement initial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Dimensions avant faits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--etape initial : 0 ÉCHEC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Mises à jour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 · Nabeul change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Incrément, rejeu, SCD2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2345 faits ; rejeu = 0 ajout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Visualisation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S5 · livraison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Lire un visuel, écrire la reco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Recommandation en 5 parties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Power BI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S5 · livraison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relations, 5 mesures, Actualiser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Rapport actualisé après lot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IA + Git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 → S5 · chaque PR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Demande, revue, correction, merge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 relues, CI verte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C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GitHub, de zéro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emplacements, un cycle, des rôles qui alternent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80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emplacements pour un même dépôt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7653528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Trois emplacements pour un mêm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54380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503920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503920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006840" y="2423160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ne se synchronise tout seul.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503920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006840" y="3447288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lien direct entre vos deux PC.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503920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039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006840" y="4471416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passe par GitHub.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Huit mots, huit gestes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068450"/>
                <a:gridCol w="5265146"/>
                <a:gridCol w="3760819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que c'est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point enregistré, chez moi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add · git commit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 ligne de travail à part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-c &lt;branche&gt;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envoyer mes commits sur GitHub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push -u origin &lt;branche&gt;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récupérer les commits de GitHub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main &amp;&amp; git pull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 demande de fusion, à relire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&amp; pull request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l'avis écrit du partenaire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changed → Review changes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intégrer la branche dans main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 pull request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contrôles sur une machine neuve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onglet Actions · controles.yml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cycle d'une pull request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6407161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Le cycle d'une pull requ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297433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57553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57553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57553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57553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60473" y="2423160"/>
            <a:ext cx="38825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étapes, toujours dans le même ordre.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257553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57553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60473" y="3447288"/>
            <a:ext cx="38825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partenaire relit avant toute fusion.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257553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57553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760473" y="4471416"/>
            <a:ext cx="38825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les rôles s'inversent.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rôles alternent à chaque cycle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A auteur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+ journal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relit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043352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7712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7712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7712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A auteur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7712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et rejets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relit, A corrige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31256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24448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561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25616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B auteur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25616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Étoile, lot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relit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819159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12351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3519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3519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13519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revue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13519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Défaut planté,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conflit contrôlé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Chacun : des commits, au moins une PR comme auteur, une revue du partenaire.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REVUE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revue utile cite ce que VOUS avez vu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FBEDEE"/>
          </a:solidFill>
          <a:ln w="9525">
            <a:solidFill>
              <a:srgbClr val="FBED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12E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FAIBLE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OK, Codex dit qu'il n'y a aucun défaut. »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UTILE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historique.py:42 : valid_to comparé avec &lt;=.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NBE du 2026-07-15 en Cap Bon.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vérifié : le rejeu. → Request changes »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2689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2689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n'approuve que si les contrôles sont verts chez vous ET dans la CI.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DÉPANNAGE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erreur Git se diagnostique, elle ne se force pas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3578844"/>
                <a:gridCol w="2863075"/>
                <a:gridCol w="4652497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Symptôme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Réparer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 git repository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mauvais dossier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 ~/solen-bi puis git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 fait sur main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branche oubliée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-c &lt;branche&gt;, push, PR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push refusé : fetch first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en retard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pull, contrôles, git push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croix rouge sur la PR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 échouée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Details, relancer chez soi, prompt 10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CONFLICT … Merge conflict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mêmes lignes modifiées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15, décider à deux, contrôles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DÉPANNAGE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Jamais de raccourci destructif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11094415" cy="2514600"/>
          </a:xfrm>
          <a:prstGeom prst="roundRect">
            <a:avLst>
              <a:gd name="adj" fmla="val 3636"/>
            </a:avLst>
          </a:prstGeom>
          <a:solidFill>
            <a:srgbClr val="FBEDEE"/>
          </a:solidFill>
          <a:ln w="9525">
            <a:solidFill>
              <a:srgbClr val="A12E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468880"/>
            <a:ext cx="101800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12E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--force · git reset --hard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A12E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supprimer .git · fusionner sa propre PR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05840" y="406908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Ils effacent du travail ou contournent la revue. En cas de doute : montrez git status au binôme.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GITHUB  ·  GITHUB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dépôt public, une CI gratuite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recommandé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100 % synthétiques. Protection de branche et revue requise disponibles sur GitHub Free.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38218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681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6818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controles.yml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66818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neuf : installe, lance verifier + pytest. Aucune clé IA.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7797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6397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56397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56397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 privée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56397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Possible, sans protection imposée : l'auteur ne fusionne pas sa PR.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Authentification : HTTPS + gh auth login (navigateur) ; aucun jeton dans le dépôt.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: diriger, pas taper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Uniquement ce qu'un compte Free affiche · faits datés du 28/10/2026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80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CODEX FREE · 28/10/2026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la doc annonce pour Free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de bureau ChatGPT, mode Codex.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90824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9424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424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19424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19424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Luna, « subject to rollout ».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33008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1608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6160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61608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Vitesse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61608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: une vitesse, pas un effort.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075191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03791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3791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303791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303791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Listé à partir de Plus : facultatif ici.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écran fait foi : notez ce que VOTRE compte affiche.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CODEX FREE · 28/10/2026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efforts : commencez par High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567864" cy="109728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886200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4956048"/>
            <a:ext cx="2567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courte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90824" y="3182112"/>
            <a:ext cx="2567864" cy="1664208"/>
          </a:xfrm>
          <a:prstGeom prst="roundRect">
            <a:avLst>
              <a:gd name="adj" fmla="val 439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7984" y="3319272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90824" y="4956048"/>
            <a:ext cx="2567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petite tâche cadrée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3008" y="2615184"/>
            <a:ext cx="2567864" cy="2231136"/>
          </a:xfrm>
          <a:prstGeom prst="roundRect">
            <a:avLst>
              <a:gd name="adj" fmla="val 3279"/>
            </a:avLst>
          </a:prstGeom>
          <a:solidFill>
            <a:srgbClr val="FF9A3C"/>
          </a:solidFill>
          <a:ln w="9525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0168" y="2752344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33008" y="4956048"/>
            <a:ext cx="2567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de départ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75191" y="2048256"/>
            <a:ext cx="2567864" cy="2798064"/>
          </a:xfrm>
          <a:prstGeom prst="roundRect">
            <a:avLst>
              <a:gd name="adj" fmla="val 2849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12351" y="2185416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High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075191" y="4956048"/>
            <a:ext cx="2567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débogage bloqué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93979" y="2157984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07152F"/>
          </a:solidFill>
          <a:ln w="12700">
            <a:solidFill>
              <a:srgbClr val="0715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979" y="21579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COMMENCER ICI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1691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Luna · Standard = vitesse, réglée par l'offre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Start with High for Luna. » Plus d'effort ne dispense jamais de la preuve.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RESSOURCES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· contexte · effort · quota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6575842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Tokens · contexte · effort · quo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466114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26234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26234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26234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26234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29154" y="2423160"/>
            <a:ext cx="371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: morceaux de texte.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426234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26234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29154" y="3447288"/>
            <a:ext cx="371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: ce que le chat garde en tête.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426234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26234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29154" y="4471416"/>
            <a:ext cx="371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: à lire dans l'app, jamais à deviner.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RESSOURCES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mots à ne pas confondre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89422"/>
                <a:gridCol w="4652497"/>
                <a:gridCol w="4652497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que c'est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 bon geste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Modèle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Luna (annoncé Free)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sélecteur : choisir Luna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Effort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combien il réfléchit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commencer High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Vitesse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Standard, pas un effort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rien à régler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demande + fichiers + réponse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nommer le seul fichier utile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que le chat contient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 d'état, chat neuf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usage permis sur une période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/status, tableau d'usage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LA FICHE TÂCHE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 tâche, quel effort, quelle preuve ?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3250593"/>
                <a:gridCol w="1130641"/>
                <a:gridCol w="1907957"/>
                <a:gridCol w="2119952"/>
                <a:gridCol w="2685272"/>
              </a:tblGrid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Tâche (exemple Solen)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Modèle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attendue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Comprendre le grain de fact_vente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relier fichiers et notions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vous l'expliquez sans l'écran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Planifier outputs/rejets.csv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découper avant d'écrire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à 5 étapes, un contrôle chacune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Petite fonction : 18,500 → 18500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ou High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petit, bien délimité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 lu + test vert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Intégrer python -m solen initial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plusieurs modules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--etape initial OK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Déboguer « attendu 1960, observé 1966 »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→ Extra High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cause, pas le symptôme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erreur reproduite puis disparue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Revoir avec $revoir-bi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trouver ce qui manque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constats fichier:ligne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 courte : « valid_to ? »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Luna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rien à relier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vous reformulez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seul modèle annoncé pour Free : seul l'effort change. Le schéma v7-tache-modele-effort est dans le livret 03.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MÉTHODE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huit habitudes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1883664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Être précis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résultat, fichiers, contrôle, prévision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72536" y="1737360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7128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7128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22344" y="1883664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court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55416" y="2560320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à 5 étapes, une à la fois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96432" y="1737360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61024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1024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6240" y="1883664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+ contrôle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79312" y="2560320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déterministe, pas « tout est bon ? »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020327" y="1737360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4919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4919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70135" y="1883664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courte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03207" y="2560320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état · décision · preuve · objectif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8640" y="4078224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98448" y="4224528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mots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" y="4901184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≠ contexte ≠ effort ≠ quota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372536" y="4078224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37128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7128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122344" y="4224528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→ fix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555416" y="4901184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seule, correction, recontrôle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96432" y="4078224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61024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1024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46240" y="4224528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+ Skills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379312" y="4901184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et méthodes du dépôt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9020327" y="4078224"/>
            <a:ext cx="2622728" cy="2139696"/>
          </a:xfrm>
          <a:prstGeom prst="roundRect">
            <a:avLst>
              <a:gd name="adj" fmla="val 42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84919" y="424281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84919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770135" y="4224528"/>
            <a:ext cx="1726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Parallèle ?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9203207" y="4901184"/>
            <a:ext cx="22569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seulement si utile et proposé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MÉTHODE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Habitude 1 : une demande précise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FBEDEE"/>
          </a:solidFill>
          <a:ln w="9525">
            <a:solidFill>
              <a:srgbClr val="FBED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12E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Fais le nettoyage des ventes. »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PRÉCISE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Rejette les quantités ≤ 0, motif quantite_invalide, dans outputs/rejets.csv.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et controles/ intacts.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prévois 1 rejet (E-009-1). »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2689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2689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 observable · fichiers à toucher et à ne pas toucher · contrôle · votre prévision.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MÉTHODE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Habitude 6 : revue → correction → revue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seule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$revoir-bi : ≤ 3 défauts, avec preuve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043352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7712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7712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7712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Constater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7712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reproduisez le défaut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31256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24448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561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25616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25616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demande par défaut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819159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12351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3519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3519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13519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Recontrôler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13519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contrôles + un cas limite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limite : vente NBE du 2026-07-14 → Cap Bon ; du 2026-07-15 → Nord-Est.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MÉTHODE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et Skills : les règles du dépôt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84133"/>
                <a:gridCol w="3220959"/>
                <a:gridCol w="5189323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Fichier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qu'il garantit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AGENTS.md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 avant tout travail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 dans solen/ ; sources, référence, controles/ intacts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$expliquer-bi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comprendre une notion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exemple chiffré d'abord ; rien n'est modifié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$revoir-bi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avant votre revue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lecture seule ; ≤ 3 défauts établis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$preparer-pr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avant commit / push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 · À corriger · Non vérifié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écrit ces fichiers ; vous expliquez et améliorez les consignes.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MÉTHODE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Habitude 8 : workers parallèles, facultatifs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SOUS-AGENTS (SI PROPOSÉS)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lectures indépendantes : données/rejets et modèle/historique.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de tokens consommés.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(MÉTHODE DE BASE)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chats successifs avec $revoir-bi, un par angle.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résultat, moins d'usage.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2689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2689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Ils ne démarrent que sur demande explicite ; disponibilité Free non garantie.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FREE  ·  SANS CODEX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atteint : le travail continue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et revue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Commiter ce qui est contrôlé, PR, relire celle du binôme.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38218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681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6818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Comprendre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66818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diff, calculer à la main, interpréter les visuels.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7797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6397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56397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56397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Préparer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56397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d'état, prochaine demande avec votre prévision.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Jamais : coder à la main, payer, utiliser le compte d'un autre. Notez l'heure de reprise.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E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notion avec son schéma et les chiffres de Maison Zitouna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/ 80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ETL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quatre sources au rapport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7209775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Des quatre sources au rap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100047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60167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60167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60167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60167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563087" y="2423160"/>
            <a:ext cx="307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intactes, lues seulement.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060167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60167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563087" y="3447288"/>
            <a:ext cx="307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avant faits.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060167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60167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563087" y="4471416"/>
            <a:ext cx="307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Rejets dans rejets.csv, avec motif.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GRAIN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grain : une ligne de fait = une ligne de ticket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LIGNE DE fact_vente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567864" cy="1920240"/>
          </a:xfrm>
          <a:prstGeom prst="roundRect">
            <a:avLst>
              <a:gd name="adj" fmla="val 4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68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QUOI 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01752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3390824" y="2286000"/>
            <a:ext cx="2567864" cy="1920240"/>
          </a:xfrm>
          <a:prstGeom prst="roundRect">
            <a:avLst>
              <a:gd name="adj" fmla="val 4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9424" y="2468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9424" y="301752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6233008" y="2286000"/>
            <a:ext cx="2567864" cy="1920240"/>
          </a:xfrm>
          <a:prstGeom prst="roundRect">
            <a:avLst>
              <a:gd name="adj" fmla="val 4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1608" y="2468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 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61608" y="301752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2026-03-02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9075191" y="2286000"/>
            <a:ext cx="2567864" cy="1920240"/>
          </a:xfrm>
          <a:prstGeom prst="roundRect">
            <a:avLst>
              <a:gd name="adj" fmla="val 4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03791" y="24688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03791" y="3017520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18,500 TND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4572000"/>
            <a:ext cx="10317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E-001-1 : identifiant stable, même si le fichier est rejoué.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MODÉLISATION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ou dimension 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 · ce qu'on mesure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fact_vente : quantité, montant brut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fact_retour : montant remboursé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beaucoup de lignes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· ce qui décrit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dim_produit · dim_boutique · dim_date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peu de lignes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filtre et on regroupe par elles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6118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MODÉLISATION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L'étoile de la mission 00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6462402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L'étoile de la mission 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352674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2794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2794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2794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2794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15714" y="2423160"/>
            <a:ext cx="38273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dimensions, 2 tables de faits.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2794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2794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815714" y="3447288"/>
            <a:ext cx="38273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relation : 1 → plusieurs.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12794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2794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815714" y="4471416"/>
            <a:ext cx="38273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faits ne sont pas reliés.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CLÉS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métier et clé technique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7653528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Clé métier et clé tech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54380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503920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0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503920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006840" y="2423160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NBE = clé métier (sources).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503920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039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006840" y="3447288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et 5 = clés techniques (versions).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503920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039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006840" y="4471416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faits pointent vers boutique_key.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QUALITÉ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Nettoyer sans toucher aux sources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6013571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Nettoyer sans toucher aux sou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903843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63963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63963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863963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63963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66883" y="2423160"/>
            <a:ext cx="42761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Formats → millimes, dates ISO.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863963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63963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66883" y="3447288"/>
            <a:ext cx="42761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 exact : une occurrence gardée.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63963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63963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66883" y="4471416"/>
            <a:ext cx="42761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 = une ligne + un motif.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QUALITÉ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L'échantillon : 12 lignes → 6 gardées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lues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ventes.csv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l'échantillon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043352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7712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7712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7712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doublon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7712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E-003-1 répété 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ignoré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31256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24448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561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25616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rejets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25616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id_conflit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id_manquant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cle_inconnue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quantite_invalide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819159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12351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3519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3519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13519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gardées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13519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calculer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la main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doublon exact n'est pas un rejet : on garde une occurrence.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INDICATEURS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L'échantillon, calculé à la main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127,350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 ventes brutes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90824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704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112,850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573704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 ventes nettes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(− 14,500 de retours)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45,600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15888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 marge sur coût d'achat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75191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8071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11,39 %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258071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de retour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14 500 / 127 350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Calculez AVANT de demander quoi que ce soit à Codex : ces nombres vérifient son code.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INDICATEURS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indicateurs, cinq définitions exactes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910011"/>
                <a:gridCol w="6547524"/>
                <a:gridCol w="1636881"/>
              </a:tblGrid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Indicateur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Définition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Ventes brutes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quantité × prix du ticket, lignes acceptées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Retours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remboursements des retours VALIDE acceptés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Ventes nettes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ventes brutes − retours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 sur coût d'achat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ventes nettes − coût d'achat des unités nettes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Taux de retour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retours / ventes brutes (en montant)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Marge » veut toujours dire marge sur coût d'achat, jamais « bénéfice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SQL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paramétré : le « ? » est une case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produit par Codex · à lire, pas à taper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6949440" cy="3429000"/>
          </a:xfrm>
          <a:prstGeom prst="roundRect">
            <a:avLst>
              <a:gd name="adj" fmla="val 2133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48840"/>
            <a:ext cx="6400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= "SELECT * FROM retour"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 WHERE statut = ?"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 AND date_retour &gt;= ?"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 AND date_retour &lt; ?"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mars = requete_sqlite(base, sql,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("VALIDE", "2026-03-01", "2026-04-01"))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955280" y="207568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58200" y="2057400"/>
            <a:ext cx="3184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opérationnelle ouverte en lecture seule.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309981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099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58200" y="3081528"/>
            <a:ext cx="3184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valeur part à part : jamais lue comme du SQL.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955280" y="412394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58200" y="4105656"/>
            <a:ext cx="3184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 : 25 retours VALIDE en mars 2026.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CHARGEMENT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 1 : le chargement initial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1998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lues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 ventes.csv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90824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704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73704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rejets motivés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(dont 2 retours)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15888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faits dans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fact_vente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75191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8071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74 309,500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258071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 de ventes nettes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doublons exacts ignorés · rejets : 8 cle_inconnue, 6 id_conflit, 5 id_manquant, 7 quantite_invalide.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INDICATEUR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3 : un total plausible… et faux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FBEDEE"/>
          </a:solidFill>
          <a:ln w="9525">
            <a:solidFill>
              <a:srgbClr val="FBED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76695" y="1783080"/>
            <a:ext cx="5166360" cy="3520440"/>
          </a:xfrm>
          <a:prstGeom prst="roundRect">
            <a:avLst>
              <a:gd name="adj" fmla="val 2597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12E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TABLEUR DE KARIM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 les lignes, sans règle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78 839,780 TND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51015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NETTOYAGE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51015" y="2560320"/>
            <a:ext cx="4617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Doublons, conflits, rejets écartés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78 067,830 TND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1528" y="3268980"/>
            <a:ext cx="548640" cy="54864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1528" y="32689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771,950 TND d'écart : assez petit pour passer, assez grand pour tromper.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INDICATEUR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chiffre plausible n'est pas un chiffre juste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7814034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Un chiffre plausible n'est pas un chiffre ju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704306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664426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64426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64426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64426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67346" y="2423160"/>
            <a:ext cx="24757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 formule, données différentes.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664426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64426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67346" y="3447288"/>
            <a:ext cx="24757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contrôle : ligne_id distincts = lignes de fact_vente.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664426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64426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167346" y="4471416"/>
            <a:ext cx="24757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Écrire le contrôle avant de croire le total.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MISES À JOUR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Charger · compléter · rejouer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362858" cy="3337560"/>
          </a:xfrm>
          <a:prstGeom prst="roundRect">
            <a:avLst>
              <a:gd name="adj" fmla="val 2740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Chargement initial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5146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1998 lignes lues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456432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rejets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3895344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1960 faits insérés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4389120"/>
            <a:ext cx="2814218" cy="0"/>
          </a:xfrm>
          <a:prstGeom prst="line">
            <a:avLst/>
          </a:prstGeom>
          <a:noFill/>
          <a:ln w="19050">
            <a:solidFill>
              <a:srgbClr val="FF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49884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fact_vente : 1960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984650" y="3451860"/>
            <a:ext cx="356616" cy="0"/>
          </a:xfrm>
          <a:prstGeom prst="line">
            <a:avLst/>
          </a:prstGeom>
          <a:noFill/>
          <a:ln w="31750">
            <a:solidFill>
              <a:srgbClr val="2B31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414418" y="1783080"/>
            <a:ext cx="3362858" cy="3337560"/>
          </a:xfrm>
          <a:prstGeom prst="roundRect">
            <a:avLst>
              <a:gd name="adj" fmla="val 2740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8738" y="196596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Incrément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688738" y="25146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8738" y="25146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88738" y="3017520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413 lignes lues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688738" y="3456432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déjà chargées : ignorées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88738" y="3895344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385 nouvelles insérées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688738" y="4389120"/>
            <a:ext cx="2814218" cy="0"/>
          </a:xfrm>
          <a:prstGeom prst="line">
            <a:avLst/>
          </a:prstGeom>
          <a:noFill/>
          <a:ln w="19050">
            <a:solidFill>
              <a:srgbClr val="FF9A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88738" y="449884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fact_vente : 2345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7850429" y="3451860"/>
            <a:ext cx="356616" cy="0"/>
          </a:xfrm>
          <a:prstGeom prst="line">
            <a:avLst/>
          </a:prstGeom>
          <a:noFill/>
          <a:ln w="31750">
            <a:solidFill>
              <a:srgbClr val="2B31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80197" y="1783080"/>
            <a:ext cx="3362858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54517" y="196596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Rejeu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554517" y="2514600"/>
            <a:ext cx="1517904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54517" y="2514600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lot2 relancé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54517" y="3017520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413 lignes lues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54517" y="3456432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insertion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554517" y="3895344"/>
            <a:ext cx="2814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totaux identiques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554517" y="4389120"/>
            <a:ext cx="2814218" cy="0"/>
          </a:xfrm>
          <a:prstGeom prst="line">
            <a:avLst/>
          </a:prstGeom>
          <a:noFill/>
          <a:ln w="19050">
            <a:solidFill>
              <a:srgbClr val="FF9A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54517" y="449884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fact_vente : 2345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1960 + 385 = 2345 · rejeu : 0 ajout (clé métier ligne_id)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Compteurs = référence du générateur, pas des valeurs inventées.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HISTORIQUE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SCD2 : NBE change de zone le 2026-07-15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7006917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SCD2 : NBE change de zone le 2026-07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897189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57309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57309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57309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57309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360229" y="2423160"/>
            <a:ext cx="328282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valid_from inclus, valid_to exclu.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857309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57309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60229" y="3447288"/>
            <a:ext cx="328282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du 14 juillet → Cap Bon.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857309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57309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360229" y="4471416"/>
            <a:ext cx="328282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 du 15 juillet → Nord-Est.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INDICATEURS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le lot 2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2345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faits dans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fact_vente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90824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704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91 444,460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73704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 de ventes nettes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35 606,860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15888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TND de marge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coût d'achat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75191" y="1874520"/>
            <a:ext cx="2567864" cy="338328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8071" y="228600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4,60 %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258071" y="3520440"/>
            <a:ext cx="22021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de retour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premier semestre n'a pas bougé : Nabeul reste en Cap Bon jusqu'au 14 juillet.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NOTIONS BI  ·  VISUALISATION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Ventes nettes par zone, après le lot 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Janvier → août 2026 · TND · zone valable à la date de chaque vente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76809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2011680"/>
            <a:ext cx="3093415" cy="4114800"/>
          </a:xfrm>
          <a:prstGeom prst="roundRect">
            <a:avLst>
              <a:gd name="adj" fmla="val 295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RETENIR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778240" y="2606040"/>
            <a:ext cx="2636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Nord-Est : 4 323,400 TND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778240" y="3520440"/>
            <a:ext cx="26362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Uniquement les ventes de Nabeul depuis le 15 juillet. Cap Bon garde tout le reste.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778240" y="5120640"/>
            <a:ext cx="2636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: 91 444,460 TND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F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minutes chacune · 2 pauses · 70 % de pratique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/ 80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S1 · 240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 1 · La demande et le cadrage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93401" cy="502920"/>
          </a:xfrm>
          <a:prstGeom prst="rect">
            <a:avLst/>
          </a:prstGeom>
          <a:solidFill>
            <a:srgbClr val="2B318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91640"/>
            <a:ext cx="6934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42041" y="1691640"/>
            <a:ext cx="1386802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2041" y="1691640"/>
            <a:ext cx="13868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28843" y="1691640"/>
            <a:ext cx="1617936" cy="502920"/>
          </a:xfrm>
          <a:prstGeom prst="rect">
            <a:avLst/>
          </a:prstGeom>
          <a:solidFill>
            <a:srgbClr val="FF9A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28843" y="1691640"/>
            <a:ext cx="1617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46778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6778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046" y="1691640"/>
            <a:ext cx="2126430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046" y="1691640"/>
            <a:ext cx="21264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35475" y="1691640"/>
            <a:ext cx="1155668" cy="502920"/>
          </a:xfrm>
          <a:prstGeom prst="rect">
            <a:avLst/>
          </a:prstGeom>
          <a:solidFill>
            <a:srgbClr val="FF9A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5475" y="1691640"/>
            <a:ext cx="11556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91144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91144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53411" y="1691640"/>
            <a:ext cx="2727377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3411" y="1691640"/>
            <a:ext cx="27273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1180788" y="1691640"/>
            <a:ext cx="462267" cy="502920"/>
          </a:xfrm>
          <a:prstGeom prst="rect">
            <a:avLst/>
          </a:prstGeom>
          <a:solidFill>
            <a:srgbClr val="FF9A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80788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2331720"/>
            <a:ext cx="201168" cy="201168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74520" y="2331720"/>
            <a:ext cx="201168" cy="201168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4884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 + pratique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886200" y="2331720"/>
            <a:ext cx="201168" cy="201168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052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983480" y="2331720"/>
            <a:ext cx="201168" cy="201168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0" y="2286000"/>
            <a:ext cx="4144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min d'explications · 154 min de pratique · 2 pauses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2971800"/>
            <a:ext cx="164592" cy="329184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64592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1, rôles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3483864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64592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Traduire la demande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8640" y="3995928"/>
            <a:ext cx="164592" cy="329184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64592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Échantillon à la main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507992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64592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48640" y="5020056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4928616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min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645920" y="4928616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Cadrage, outils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069080" y="2971800"/>
            <a:ext cx="164592" cy="329184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340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516636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1re demande à Codex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069080" y="3483864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4340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16636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069080" y="3995928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4340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min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16636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Git n°1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069080" y="4507992"/>
            <a:ext cx="164592" cy="329184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4340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16636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7818120" y="2834640"/>
            <a:ext cx="3824935" cy="3337560"/>
          </a:xfrm>
          <a:prstGeom prst="roundRect">
            <a:avLst>
              <a:gd name="adj" fmla="val 2740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467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PROUVEZ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046720" y="352044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0467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503920" y="347472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Dépôt du binôme créé, partenaire invité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8046720" y="438912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4672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03920" y="434340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1re PR (README + journal) relue et fusionnée</a:t>
            </a:r>
            <a:endParaRPr lang="en-US" sz="1500" dirty="0"/>
          </a:p>
        </p:txBody>
      </p:sp>
      <p:sp>
        <p:nvSpPr>
          <p:cNvPr id="68" name="Shape 66"/>
          <p:cNvSpPr/>
          <p:nvPr/>
        </p:nvSpPr>
        <p:spPr>
          <a:xfrm>
            <a:off x="8046720" y="525780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046720" y="5257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8503920" y="521208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 à la main = attendu.md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S2 · 240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 2 · Un premier résultat… faux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4721" cy="502920"/>
          </a:xfrm>
          <a:prstGeom prst="rect">
            <a:avLst/>
          </a:prstGeom>
          <a:solidFill>
            <a:srgbClr val="2B318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91640"/>
            <a:ext cx="5547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03361" y="1691640"/>
            <a:ext cx="2033976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3361" y="1691640"/>
            <a:ext cx="203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37337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37337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99604" y="1691640"/>
            <a:ext cx="2496243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9604" y="1691640"/>
            <a:ext cx="24962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95848" y="1691640"/>
            <a:ext cx="1571709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5848" y="1691640"/>
            <a:ext cx="157170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67556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67556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9824" y="1691640"/>
            <a:ext cx="3050964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9824" y="1691640"/>
            <a:ext cx="3050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1180788" y="1691640"/>
            <a:ext cx="462267" cy="502920"/>
          </a:xfrm>
          <a:prstGeom prst="rect">
            <a:avLst/>
          </a:prstGeom>
          <a:solidFill>
            <a:srgbClr val="FF9A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80788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331720"/>
            <a:ext cx="201168" cy="201168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2331720"/>
            <a:ext cx="201168" cy="201168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4884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 + pratique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86200" y="2331720"/>
            <a:ext cx="201168" cy="201168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6052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83480" y="2331720"/>
            <a:ext cx="201168" cy="201168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5780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98080" y="2286000"/>
            <a:ext cx="4144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min d'explications · 154 min de pratique · 2 pauses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2971800"/>
            <a:ext cx="164592" cy="329184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4592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3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483864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min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4592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3 formats (pandas)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3995928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64592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4507992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min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64592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Nettoyer, rejeter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069080" y="2971800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4340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min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16636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Fonctions, modules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069080" y="3483864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340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16636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069080" y="3995928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4340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min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16636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: A auteur, B relit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069080" y="4507992"/>
            <a:ext cx="164592" cy="329184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340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16636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818120" y="2834640"/>
            <a:ext cx="3824935" cy="3337560"/>
          </a:xfrm>
          <a:prstGeom prst="roundRect">
            <a:avLst>
              <a:gd name="adj" fmla="val 2740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467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PROUVEZ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046720" y="352044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467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503920" y="347472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outputs/rejets.csv existe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046720" y="438912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4672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503920" y="434340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Gardées / rejetées = référence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8046720" y="525780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046720" y="5257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503920" y="521208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 A relue, corrigée, fusionnée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S3 · 240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 3 · Les retours, puis l'étoile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62267" cy="502920"/>
          </a:xfrm>
          <a:prstGeom prst="rect">
            <a:avLst/>
          </a:prstGeom>
          <a:solidFill>
            <a:srgbClr val="2B318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10907" y="1691640"/>
            <a:ext cx="1802842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0907" y="1691640"/>
            <a:ext cx="180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13750" y="1691640"/>
            <a:ext cx="1433029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3750" y="1691640"/>
            <a:ext cx="14330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46778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6778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046" y="1691640"/>
            <a:ext cx="1155668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046" y="1691640"/>
            <a:ext cx="11556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64714" y="1691640"/>
            <a:ext cx="1895296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4714" y="1691640"/>
            <a:ext cx="189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60010" y="1691640"/>
            <a:ext cx="924535" cy="502920"/>
          </a:xfrm>
          <a:prstGeom prst="rect">
            <a:avLst/>
          </a:prstGeom>
          <a:solidFill>
            <a:srgbClr val="FF9A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60010" y="1691640"/>
            <a:ext cx="924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684544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4544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146812" y="1691640"/>
            <a:ext cx="1802842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6812" y="1691640"/>
            <a:ext cx="1802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949654" y="1691640"/>
            <a:ext cx="693401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49654" y="1691640"/>
            <a:ext cx="6934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2331720"/>
            <a:ext cx="201168" cy="201168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874520" y="2331720"/>
            <a:ext cx="201168" cy="201168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4884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 + pratique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86200" y="2331720"/>
            <a:ext cx="201168" cy="201168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83480" y="2331720"/>
            <a:ext cx="201168" cy="201168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498080" y="2286000"/>
            <a:ext cx="4144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min d'explications · 154 min de pratique · 2 pauses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2971800"/>
            <a:ext cx="164592" cy="329184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64592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4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3483864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min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64592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paramétré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48640" y="3995928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min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64592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Grain, étoile, clés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48640" y="4507992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296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64592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48640" y="5020056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4928616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645920" y="4928616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 Entrepot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69080" y="2971800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4340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min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16636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Chargement initial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069080" y="3483864"/>
            <a:ext cx="164592" cy="329184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4340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16636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Totaux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069080" y="3995928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340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516636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069080" y="4507992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4340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min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516636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: B auteur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069080" y="5020056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43400" y="4928616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5166360" y="4928616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Choix mission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7818120" y="2834640"/>
            <a:ext cx="3824935" cy="3337560"/>
          </a:xfrm>
          <a:prstGeom prst="roundRect">
            <a:avLst>
              <a:gd name="adj" fmla="val 2740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467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PROUVEZ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046720" y="352044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0467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503920" y="347472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--etape initial : 0 ÉCHEC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8046720" y="438912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4672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503920" y="434340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Entrepôt : 5 tables reliées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8046720" y="525780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046720" y="5257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503920" y="521208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du catalogue choisie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S4 · 240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 4 · Le besoin change, la revue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9814" cy="502920"/>
          </a:xfrm>
          <a:prstGeom prst="rect">
            <a:avLst/>
          </a:prstGeom>
          <a:solidFill>
            <a:srgbClr val="2B318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8454" y="1691640"/>
            <a:ext cx="1849069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8454" y="1691640"/>
            <a:ext cx="184906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67523" y="1691640"/>
            <a:ext cx="785854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67523" y="1691640"/>
            <a:ext cx="7858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53377" y="1691640"/>
            <a:ext cx="1479255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3377" y="1691640"/>
            <a:ext cx="14792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32633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2633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94900" y="1691640"/>
            <a:ext cx="1849069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4900" y="1691640"/>
            <a:ext cx="184906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43969" y="1691640"/>
            <a:ext cx="1294348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43969" y="1691640"/>
            <a:ext cx="1294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638318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38318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00585" y="1691640"/>
            <a:ext cx="1016988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00585" y="1691640"/>
            <a:ext cx="10169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17573" y="1691640"/>
            <a:ext cx="647174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17573" y="1691640"/>
            <a:ext cx="6471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764747" y="1691640"/>
            <a:ext cx="878308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64747" y="1691640"/>
            <a:ext cx="878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2331720"/>
            <a:ext cx="201168" cy="201168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874520" y="2331720"/>
            <a:ext cx="201168" cy="201168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 + pratique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886200" y="2331720"/>
            <a:ext cx="201168" cy="201168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6052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83480" y="2331720"/>
            <a:ext cx="201168" cy="201168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5780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2286000"/>
            <a:ext cx="4144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min d'explications · 154 min de pratique · 2 pauses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2971800"/>
            <a:ext cx="164592" cy="329184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64592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5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8640" y="3483864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64592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Incrément, SCD2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3995928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min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64592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Rejeu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48640" y="4507992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min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64592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Tests, CI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48640" y="5020056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2960" y="4928616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645920" y="4928616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48640" y="5532120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" y="54406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645920" y="544068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→ fix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069080" y="2971800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4340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min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16636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Conflit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069080" y="3483864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4340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16636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069080" y="3995928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340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516636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4069080" y="4507992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4340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min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516636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4069080" y="5020056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43400" y="4928616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min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5166360" y="4928616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bilan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7818120" y="2834640"/>
            <a:ext cx="3824935" cy="3337560"/>
          </a:xfrm>
          <a:prstGeom prst="roundRect">
            <a:avLst>
              <a:gd name="adj" fmla="val 2740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0467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PROUVEZ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8046720" y="352044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0467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8503920" y="347472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 2 chargé, historique gardé</a:t>
            </a:r>
            <a:endParaRPr lang="en-US" sz="1500" dirty="0"/>
          </a:p>
        </p:txBody>
      </p:sp>
      <p:sp>
        <p:nvSpPr>
          <p:cNvPr id="74" name="Shape 72"/>
          <p:cNvSpPr/>
          <p:nvPr/>
        </p:nvSpPr>
        <p:spPr>
          <a:xfrm>
            <a:off x="8046720" y="438912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4672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8503920" y="434340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Rejeu stable, CI verte (ETAPE_CI: tout)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8046720" y="525780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046720" y="5257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8503920" y="521208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conflit résolu, un Skill à vous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S5 · 240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Séance 5 · Livrer et répéter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93401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91640"/>
            <a:ext cx="69340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42041" y="1691640"/>
            <a:ext cx="1617936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2041" y="1691640"/>
            <a:ext cx="1617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59977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9977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22244" y="1691640"/>
            <a:ext cx="3004737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22244" y="1691640"/>
            <a:ext cx="300473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26981" y="1691640"/>
            <a:ext cx="2080203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6981" y="1691640"/>
            <a:ext cx="2080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07184" y="1691640"/>
            <a:ext cx="462267" cy="502920"/>
          </a:xfrm>
          <a:prstGeom prst="rect">
            <a:avLst/>
          </a:prstGeom>
          <a:solidFill>
            <a:srgbClr val="C9CDD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07184" y="1691640"/>
            <a:ext cx="4622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451" y="1691640"/>
            <a:ext cx="924535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451" y="1691640"/>
            <a:ext cx="924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93986" y="1691640"/>
            <a:ext cx="1849069" cy="502920"/>
          </a:xfrm>
          <a:prstGeom prst="rect">
            <a:avLst/>
          </a:prstGeom>
          <a:solidFill>
            <a:srgbClr val="7A80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93986" y="1691640"/>
            <a:ext cx="184906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331720"/>
            <a:ext cx="201168" cy="201168"/>
          </a:xfrm>
          <a:prstGeom prst="rect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2331720"/>
            <a:ext cx="201168" cy="201168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4884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explication + pratique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86200" y="2331720"/>
            <a:ext cx="201168" cy="201168"/>
          </a:xfrm>
          <a:prstGeom prst="rect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6052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83480" y="2331720"/>
            <a:ext cx="201168" cy="201168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57800" y="2286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98080" y="2286000"/>
            <a:ext cx="4144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min d'explications · 154 min de pratique · 2 pauses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2971800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4592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7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483864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4592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locale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3995928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64592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4507992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min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64592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Desktop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069080" y="2971800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43400" y="28803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166360" y="288036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Visuels, reco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069080" y="3483864"/>
            <a:ext cx="164592" cy="329184"/>
          </a:xfrm>
          <a:prstGeom prst="rect">
            <a:avLst/>
          </a:prstGeom>
          <a:solidFill>
            <a:srgbClr val="C9CDD8"/>
          </a:solidFill>
          <a:ln w="12700">
            <a:solidFill>
              <a:srgbClr val="C9CD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3400" y="33924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166360" y="339242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069080" y="3995928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43400" y="390448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166360" y="390448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Finir, démo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069080" y="4507992"/>
            <a:ext cx="164592" cy="329184"/>
          </a:xfrm>
          <a:prstGeom prst="rect">
            <a:avLst/>
          </a:prstGeom>
          <a:solidFill>
            <a:srgbClr val="7A80C2"/>
          </a:solidFill>
          <a:ln w="12700">
            <a:solidFill>
              <a:srgbClr val="7A80C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3400" y="441655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166360" y="441655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Répéter à deux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818120" y="2834640"/>
            <a:ext cx="3824935" cy="3337560"/>
          </a:xfrm>
          <a:prstGeom prst="roundRect">
            <a:avLst>
              <a:gd name="adj" fmla="val 2740"/>
            </a:avLst>
          </a:prstGeom>
          <a:solidFill>
            <a:srgbClr val="07152F"/>
          </a:solidFill>
          <a:ln w="9525">
            <a:solidFill>
              <a:srgbClr val="07152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467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VOUS PROUVEZ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046720" y="352044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467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503920" y="347472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locale ouverte, chiffres = référence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046720" y="438912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4672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503920" y="434340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Power BI actualisé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8046720" y="5257800"/>
            <a:ext cx="329184" cy="32918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046720" y="5257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503920" y="5212080"/>
            <a:ext cx="2956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Recommandation écrite, oral répété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LE CATALOGUE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de S3 : choisir votre mission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moins deux fiches du livret 04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043352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7712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7712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7712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7712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métier que vous savez expliquer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31256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24448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561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25616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25616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JOURNAL.md, rubrique Décision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819159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12351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3519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3519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13519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Attendre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13519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mission.txt = tronc-commun jusqu'à fin S4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Mêmes formes, mêmes gestes : seuls les mots du métier changent.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S5 · LIVRAISON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Épisode 7 : « Présentez-moi tout ça vendredi »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430704" cy="365760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Voir avec mes filtres »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028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locale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043352" y="379476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1965960"/>
            <a:ext cx="2430704" cy="365760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7712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7712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7712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Pouvoir faire confiance »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7712" y="3611880"/>
            <a:ext cx="2028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actualisé + contrôles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31256" y="379476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24448" y="1965960"/>
            <a:ext cx="2430704" cy="365760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561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25616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Que conseillez-vous ? »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25616" y="3611880"/>
            <a:ext cx="2028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recommandation chiffrée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819159" y="379476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12351" y="1965960"/>
            <a:ext cx="2430704" cy="3657600"/>
          </a:xfrm>
          <a:prstGeom prst="roundRect">
            <a:avLst>
              <a:gd name="adj" fmla="val 3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3519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3519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13519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Chacun répondra »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13519" y="3611880"/>
            <a:ext cx="202836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 répétée à deux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S5 · APPLICATION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L'application locale : Vue direction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619076" cy="4059936"/>
          </a:xfrm>
          <a:prstGeom prst="roundRect">
            <a:avLst>
              <a:gd name="adj" fmla="val 1351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Capture réelle, macOS · application de référence, après lots 1 et 2 · réussite : ventes nettes 91 444,460 TND = référ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5648"/>
            <a:ext cx="5399620" cy="3840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42620" y="178308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42620" y="1783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RÉELLE · macOS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542620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426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45540" y="2423160"/>
            <a:ext cx="45975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Cinq indicateurs en cartes.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542620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426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045540" y="3447288"/>
            <a:ext cx="45975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Barres empilées par mois et zone.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542620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426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045540" y="4471416"/>
            <a:ext cx="45975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Nord-Est apparaît en juillet.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48640" y="583387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réelle, macOS · application de référence, après lots 1 et 2 · réussite : ventes nettes 91 444,460 TND = référence.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S5 · APPLICATION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L'application locale : Qualité des données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686331" cy="4059936"/>
          </a:xfrm>
          <a:prstGeom prst="roundRect">
            <a:avLst>
              <a:gd name="adj" fmla="val 1351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Capture réelle, macOS · application de référence · réussite : rejets par motif = reference/README.m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5648"/>
            <a:ext cx="5466875" cy="3840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09875" y="178308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09875" y="1783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RÉELLE · macOS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09875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09875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12795" y="2423160"/>
            <a:ext cx="453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Rejets par motif et par lot.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609875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09875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12795" y="3447288"/>
            <a:ext cx="453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 1 : 8 · 6 · 5 · 7.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609875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09875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12795" y="4471416"/>
            <a:ext cx="453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 2 : 4 · 2 · 2 · 2.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48640" y="583387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réelle, macOS · application de référence · réussite : rejets par motif = reference/README.md.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S5 · POWER BI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Desktop : quatre gestes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CSV exportés, types fixés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043352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36544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7712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7712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7712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37712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relations 1:* par *_key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931256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24448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5616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25616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25616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mesures DAX écrites par Codex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819159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12351" y="1965960"/>
            <a:ext cx="2430704" cy="3108960"/>
          </a:xfrm>
          <a:prstGeom prst="roundRect">
            <a:avLst>
              <a:gd name="adj" fmla="val 3762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3519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3519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413519" y="2770632"/>
            <a:ext cx="2028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Actualiser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413519" y="3611880"/>
            <a:ext cx="2028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le lot 2 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91 444,460 TND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capture Power BI ici : elles seront prises sur un vrai poste Windows.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CINQ SÉANCES  ·  S5 · DÉCISION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recommandation en cinq parties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853123" cy="3108960"/>
          </a:xfrm>
          <a:prstGeom prst="roundRect">
            <a:avLst>
              <a:gd name="adj" fmla="val 493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14507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145078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chiffre, son unité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465771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58963" y="1965960"/>
            <a:ext cx="1853123" cy="3108960"/>
          </a:xfrm>
          <a:prstGeom prst="roundRect">
            <a:avLst>
              <a:gd name="adj" fmla="val 493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60131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0131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60131" y="2770632"/>
            <a:ext cx="14507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060131" y="3611880"/>
            <a:ext cx="145078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plausible, vérifiée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76094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69286" y="1965960"/>
            <a:ext cx="1853123" cy="3108960"/>
          </a:xfrm>
          <a:prstGeom prst="roundRect">
            <a:avLst>
              <a:gd name="adj" fmla="val 493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0454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0454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70454" y="2770632"/>
            <a:ext cx="14507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70454" y="3611880"/>
            <a:ext cx="145078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précise, pour lundi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086417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79609" y="1965960"/>
            <a:ext cx="1853123" cy="3108960"/>
          </a:xfrm>
          <a:prstGeom prst="roundRect">
            <a:avLst>
              <a:gd name="adj" fmla="val 4934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777" y="2194560"/>
            <a:ext cx="420624" cy="42062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777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777" y="2770632"/>
            <a:ext cx="14507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80777" y="3611880"/>
            <a:ext cx="145078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ne sait pas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396740" y="3520440"/>
            <a:ext cx="329184" cy="0"/>
          </a:xfrm>
          <a:prstGeom prst="line">
            <a:avLst/>
          </a:prstGeom>
          <a:noFill/>
          <a:ln w="31750">
            <a:solidFill>
              <a:srgbClr val="FF9A3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789932" y="1965960"/>
            <a:ext cx="1853123" cy="3108960"/>
          </a:xfrm>
          <a:prstGeom prst="roundRect">
            <a:avLst>
              <a:gd name="adj" fmla="val 4934"/>
            </a:avLst>
          </a:prstGeom>
          <a:solidFill>
            <a:srgbClr val="2B3180"/>
          </a:solidFill>
          <a:ln w="9525">
            <a:solidFill>
              <a:srgbClr val="2B31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91100" y="2194560"/>
            <a:ext cx="420624" cy="420624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9110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991100" y="2770632"/>
            <a:ext cx="14507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991100" y="3611880"/>
            <a:ext cx="145078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trancherait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 : Sud à 7,40 % de retours… à cause d'un seul coffret de 1 240,000 TND.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G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catalogue des dix missions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par binôme · même méthode, résultats propres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/ 80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CATALOGUE  ·  CATALOGUE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Dix entreprises, dix questions de direction</a:t>
            </a:r>
            <a:endParaRPr lang="en-US" sz="30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688619"/>
                <a:gridCol w="2677962"/>
                <a:gridCol w="2218883"/>
                <a:gridCol w="5508951"/>
              </a:tblGrid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Entreprise fictive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Grain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direction veut savoir…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Carthage Market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ligne de ticket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quels magasins et produits portent ventes et marge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Souk Express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ligne de commande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quels canaux vendent vraiment, remises et remboursements ôtés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Medina Distribution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ligne de facture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quels clients et produits font baisser la rentabilité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Colis Rapide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colis livré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où se concentrent retards, pénalités et coûts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Académie Nour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présence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quelles sessions remplissent et encaissent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 Azur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séjour (nuitées)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quelles maisons remplissent et gagnent de l'argent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FibreNet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facture mensuelle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combien d'abonnés et de MRR on gagne et perd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TechniServ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intervention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les contrats de maintenance sont rentables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Scène Libre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billet vendu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qui reste après annulations, remboursements, frais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Pixel Studio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ligne de temps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quels projets rapportent vraiment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CATALOGUE  ·  CATALOGUE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règles communes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4026" cy="1751076"/>
          </a:xfrm>
          <a:prstGeom prst="roundRect">
            <a:avLst>
              <a:gd name="adj" fmla="val 522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1883664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3198266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Excel · JSON · SQLite opérationnelle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13834" y="1737360"/>
            <a:ext cx="3564026" cy="1751076"/>
          </a:xfrm>
          <a:prstGeom prst="roundRect">
            <a:avLst>
              <a:gd name="adj" fmla="val 522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8426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842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3642" y="1883664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lots + échantillon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96714" y="2560320"/>
            <a:ext cx="3198266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initial, incrément ; ≤ 12 lignes à la main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79029" y="1737360"/>
            <a:ext cx="3564026" cy="1751076"/>
          </a:xfrm>
          <a:prstGeom prst="roundRect">
            <a:avLst>
              <a:gd name="adj" fmla="val 522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3621" y="190195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43621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28837" y="1883664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SCD2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61909" y="2560320"/>
            <a:ext cx="3198266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changement daté du 15 juillet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689604"/>
            <a:ext cx="3564026" cy="1751076"/>
          </a:xfrm>
          <a:prstGeom prst="roundRect">
            <a:avLst>
              <a:gd name="adj" fmla="val 522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85419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8541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98448" y="3835908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modifiée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1520" y="4512564"/>
            <a:ext cx="3198266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rejets dans outputs/rejets.csv, avec motif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313834" y="3689604"/>
            <a:ext cx="3564026" cy="1751076"/>
          </a:xfrm>
          <a:prstGeom prst="roundRect">
            <a:avLst>
              <a:gd name="adj" fmla="val 522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8426" y="385419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78426" y="38541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63642" y="3835908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écrans d'app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496714" y="4512564"/>
            <a:ext cx="3198266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direction · détail SCD2 · qualité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079029" y="3689604"/>
            <a:ext cx="3564026" cy="1751076"/>
          </a:xfrm>
          <a:prstGeom prst="roundRect">
            <a:avLst>
              <a:gd name="adj" fmla="val 5222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43621" y="3854196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3621" y="38541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828837" y="3835908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à clarifier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261909" y="4512564"/>
            <a:ext cx="3198266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tranchée par la direction, appliquée partout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Millimes entiers · vérificateur = référence · PR relues · recommandation · Power BI.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H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Soutenance et critères annoncés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démo à deux, des questions à chacun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/ 80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SOUTENANCE  ·  FORMAT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minutes à partager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" y="1591056"/>
            <a:ext cx="6815328" cy="4636008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pic>
        <p:nvPicPr>
          <p:cNvPr id="7" name="Image 0" descr="120 minutes à parta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70560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65720" y="178308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3F5FC"/>
          </a:solidFill>
          <a:ln w="12700">
            <a:solidFill>
              <a:srgbClr val="F3F5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65720" y="178308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· pas une capture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65720" y="2441448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657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168640" y="2423160"/>
            <a:ext cx="347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accueil + 100 binômes + 10 délibération.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665720" y="3465576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657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168640" y="3447288"/>
            <a:ext cx="347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Durée par binôme = 100 / N.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665720" y="4489704"/>
            <a:ext cx="365760" cy="36576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6572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168640" y="4471416"/>
            <a:ext cx="347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Préparez la version de 6 minutes.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SOUTENANCE  ·  DÉMO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script de démonstration : 6 minutes</a:t>
            </a:r>
            <a:endParaRPr lang="en-US" sz="30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968364"/>
                <a:gridCol w="1073653"/>
                <a:gridCol w="8052398"/>
              </a:tblGrid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que vous montrez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80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0:00–0:30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 client, la question, le grain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0:30–1:30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Vérificateur vert, puis rejeu : aucune ligne ajoutée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1:30–3:00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L'app : vue direction, un filtre, détail, qualité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3:00–4:30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BI : relations, une mesure, actualisation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4:30–5:30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recommandation : constat → donnée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B31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5:30–6:00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F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: PR, revues, CI verte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est ouvert avant votre tour · un chiffre, une preuve · on ne lit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SOUTENANCE  ·  CRITÈRES PUBLICS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critères annoncés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de la mission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chiffres = référence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90824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9424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424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19424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Entrepôt et historique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19424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étoile, SCD2, rejeu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33008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1608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6160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61608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Livraison lisible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61608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Power BI, recommandation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075191" y="1828800"/>
            <a:ext cx="2567864" cy="3429000"/>
          </a:xfrm>
          <a:prstGeom prst="roundRect">
            <a:avLst>
              <a:gd name="adj" fmla="val 3561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03791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3791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303791" y="26974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 Git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303791" y="3429000"/>
            <a:ext cx="21106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PR, revues, CI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S'y ajoutent les questions individuelles : chacun répond seul.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SOUTENANCE  ·  CRITÈRES PUBLICS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individuelles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1883664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indicateur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395728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qu'il mesure, son unité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3834" y="1737360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8426" y="1901952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842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72202" y="1883664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Prévoir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6714" y="2395728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résultat d'un filtre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79029" y="1737360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3621" y="1901952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43621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37397" y="1883664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Suivre une ligne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61909" y="2395728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source au graphique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297936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462528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462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07008" y="3444240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Rejet et version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31520" y="3956304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id_conflit ; NBE le 14 juillet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13834" y="3297936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8426" y="3462528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78426" y="3462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72202" y="3444240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496714" y="3956304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défaut et son commit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79029" y="3297936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43621" y="3462528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3621" y="3462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37397" y="3444240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Rejeu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61909" y="3956304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relancer : rien ne change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4858512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3232" y="5023104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5023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207008" y="5004816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Git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516880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PR écrite, une relue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313834" y="4858512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78426" y="5023104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78426" y="5023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972202" y="5004816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Recommandation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496714" y="5516880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défendre, avec sa limite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79029" y="4858512"/>
            <a:ext cx="3564026" cy="1359408"/>
          </a:xfrm>
          <a:prstGeom prst="roundRect">
            <a:avLst>
              <a:gd name="adj" fmla="val 6726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43621" y="5023104"/>
            <a:ext cx="384048" cy="384048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43621" y="5023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737397" y="5004816"/>
            <a:ext cx="27867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261909" y="5516880"/>
            <a:ext cx="3198266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Codex, puis contrôlée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17320"/>
            <a:ext cx="1097280" cy="109728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4173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057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I /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057400" y="187452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et licences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5740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officielles vérifiées le 28/10/2026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5715000"/>
            <a:ext cx="128532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879592"/>
            <a:ext cx="956136" cy="384048"/>
          </a:xfrm>
          <a:prstGeom prst="rect">
            <a:avLst/>
          </a:prstGeom>
        </p:spPr>
      </p:pic>
      <p:pic>
        <p:nvPicPr>
          <p:cNvPr id="9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20" y="5715000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71455" y="6446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/ 80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ET LICENCES  ·  SOURCES · VÉRIFIÉES LE 28/10/2026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et ChatGPT · OpenAI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(offre Free)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075688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Pricing (offre Free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https://learn.chatgpt.com/docs/pricing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32888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78608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(efforts, Luna)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916936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Models (efforts, Luna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https://learn.chatgpt.com/docs/models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419856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app for Windows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758184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Desktop app for Window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https://learn.chatgpt.com/docs/app/windows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215384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61104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4599432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WS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https://learn.chatgpt.com/docs/windows/wsl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056632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102352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app for Linux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440680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Desktop app for Linu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https://learn.chatgpt.com/docs/linux/linux-app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1691640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1608" y="1737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61608" y="2075688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Slash command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https://learn.chatgpt.com/codex/reference/slash-commands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78728" y="2532888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2578608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61608" y="2916936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GENT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https://learn.chatgpt.com/docs/agent-configuration/agents-md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78728" y="3374136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61608" y="3419856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skills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61608" y="3758184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ild skil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https://learn.chatgpt.com/docs/build-skills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78728" y="4215384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1608" y="4261104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61608" y="4599432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ubagen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https://learn.chatgpt.com/docs/agent-configuration/subagents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78728" y="5056632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1608" y="5102352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 (annexe facultative)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61608" y="5440680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Codex CLI (annexe facultative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https://learn.chatgpt.com/docs/codex/cli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ET LICENCES  ·  SOURCES · VÉRIFIÉES LE 28/10/2026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Microsoft, Python, Ubuntu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GitHub’s plans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075688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’s pla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https://docs.github.com/en/get-started/learning-about-github/githubs-plans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32888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78608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billing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916936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 Actions bi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https://docs.github.com/en/billing/concepts/product-billing/github-actions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419856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pull request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758184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Creating a pull requ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https://docs.github.com/en/pull-requests/collaborating-with-pull-requests/proposing-changes-to-your-work-with-pull-requests/creating-a-pull-request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215384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61104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proposed changes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4599432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Reviewing proposed chan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https://docs.github.com/en/pull-requests/collaborating-with-pull-requests/reviewing-changes-in-pull-requests/reviewing-proposed-changes-in-a-pull-request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056632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102352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Resolving a merge conflict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440680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Resolving a merge conflic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https://docs.github.com/en/pull-requests/collaborating-with-pull-requests/addressing-merge-conflicts/resolving-a-merge-conflict-on-github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1691640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1608" y="1737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61608" y="2075688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gh auth logi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https://cli.github.com/manual/gh_auth_login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78728" y="2532888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2578608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WSL (Microsoft)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61608" y="2916936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Install WSL (Microsoft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https://learn.microsoft.com/en-us/windows/wsl/install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78728" y="3374136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61608" y="3419856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Power BI Desktop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61608" y="3758184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ownload Power BI Deskto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https://learn.microsoft.com/en-us/power-bi/fundamentals/desktop-get-the-desktop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78728" y="4215384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3F5FC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1608" y="4261104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venv (Python)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61608" y="4599432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venv (Python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https://docs.python.org/3/library/venv.html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78728" y="5056632"/>
            <a:ext cx="536432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CE2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1608" y="5102352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on Ubuntu (Canonical)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61608" y="5440680"/>
            <a:ext cx="4998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u="sng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Python on Ubuntu (Canonical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https://ubuntu.com/developers/docs/howto/python-setup/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7432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ET LICENCES  ·  LICENCES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Licences et provenance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 et Plus Jakarta Sans : SIL OFL 1.1 (schémas). Arial et Courier New ici.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38218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681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6818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66818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et Solen Digital tels que fournis, proportions gardées.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27797" y="1828800"/>
            <a:ext cx="3515258" cy="3429000"/>
          </a:xfrm>
          <a:prstGeom prst="roundRect">
            <a:avLst>
              <a:gd name="adj" fmla="val 2667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56397" y="2084832"/>
            <a:ext cx="457200" cy="457200"/>
          </a:xfrm>
          <a:prstGeom prst="ellipse">
            <a:avLst/>
          </a:prstGeom>
          <a:solidFill>
            <a:srgbClr val="2B3180"/>
          </a:solidFill>
          <a:ln w="12700">
            <a:solidFill>
              <a:srgbClr val="2B31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56397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56397" y="269748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Visuels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56397" y="3429000"/>
            <a:ext cx="30580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A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Schémas originaux · 2 captures réelles macOS · aucune interface simulée.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3F5FC"/>
          </a:solidFill>
          <a:ln w="9525">
            <a:solidFill>
              <a:srgbClr val="F3F5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5733288"/>
            <a:ext cx="292608" cy="292608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733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5623560"/>
            <a:ext cx="10317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100 % synthétiques · entreprises et personnes fictives · registre des captures : docs/images/captures/REGISTRE.json.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A64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71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1581267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 fourni : Solen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713232"/>
            <a:ext cx="1252083" cy="502920"/>
          </a:xfrm>
          <a:prstGeom prst="rect">
            <a:avLst/>
          </a:prstGeom>
        </p:spPr>
      </p:pic>
      <p:pic>
        <p:nvPicPr>
          <p:cNvPr id="4" name="Image 1" descr="Logo fourni : Leaders Univers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387" y="548640"/>
            <a:ext cx="822960" cy="8229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85800" y="17830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Lundi, 9 h : votre première mission commence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731520" y="3246120"/>
            <a:ext cx="457200" cy="45720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3152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4173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Lire le livret 00, puis 01 selon votre poste.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731520" y="4023360"/>
            <a:ext cx="457200" cy="45720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417320" y="40233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deux comptes : GitHub et ChatGPT (Free).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731520" y="4800600"/>
            <a:ext cx="457200" cy="457200"/>
          </a:xfrm>
          <a:prstGeom prst="ellipse">
            <a:avLst/>
          </a:prstGeom>
          <a:solidFill>
            <a:srgbClr val="FF9A3C"/>
          </a:solidFill>
          <a:ln w="12700">
            <a:solidFill>
              <a:srgbClr val="FF9A3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3152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1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417320" y="4800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Venir avec une question : « où passe la marge ? »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3152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écrit le code. Vous décidez, vous contrôlez, vous expliquez.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Leaders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Langage avancé : IA, Codex et BI — votre première mission chez Solen Digital</dc:title>
  <dc:subject>Langage avancé : IA, Codex et BI · Solen BI 22 h · V7</dc:subject>
  <dc:creator>Youssef Douma</dc:creator>
  <cp:lastModifiedBy>Youssef Douma</cp:lastModifiedBy>
  <cp:revision>1</cp:revision>
  <dcterms:created xsi:type="dcterms:W3CDTF">2026-10-28T17:41:56Z</dcterms:created>
  <dcterms:modified xsi:type="dcterms:W3CDTF">2026-10-28T17:41:56Z</dcterms:modified>
</cp:coreProperties>
</file>