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1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5"/>
          <c:y val="0.1"/>
          <c:w val="0.8"/>
          <c:h val="0.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Ventes (TND)</c:v>
                </c:pt>
              </c:strCache>
            </c:strRef>
          </c:tx>
          <c:spPr>
            <a:solidFill>
              <a:srgbClr val="2B31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700" u="none">
                    <a:solidFill>
                      <a:srgbClr val="2B31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Carnet</c:v>
                  </c:pt>
                  <c:pt idx="1">
                    <c:v>Stylo</c:v>
                  </c:pt>
                  <c:pt idx="2">
                    <c:v>Classeur</c:v>
                  </c:pt>
                  <c:pt idx="3">
                    <c:v>Surligneur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22.5</c:v>
                </c:pt>
                <c:pt idx="1">
                  <c:v>18</c:v>
                </c:pt>
                <c:pt idx="2">
                  <c:v>36</c:v>
                </c:pt>
                <c:pt idx="3">
                  <c:v>22.5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700" u="none">
                  <a:solidFill>
                    <a:srgbClr val="2B31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A1F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DCE2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700" b="0" i="0" u="none" strike="noStrike">
                    <a:solidFill>
                      <a:srgbClr val="000000"/>
                    </a:solidFill>
                    <a:latin typeface="Arial"/>
                  </a:rPr>
                  <a:t>Ventes (TND)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962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Langage avancé. Public : licence BI, débutants sans expérience informatique. Tous les exercices du socle utilisent la bibliothèque standard Python. Le calendrier reste à fixer.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Documentation officielle Thonny : https://thonny.org/ et https://github.com/thonny/thonny/wiki. Les menus dépendent de la langue de l’interface.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illustratif autonome avec un fichier CSV nommé exemple.csv, séparé par des virgules. Le script fourni gère le chemin du vrai fichier. Source : https://docs.python.org/3/library/csv.html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https://docs.python.org/3/library/decimal.html. Cet exemple utilise exactement trois décimales. Le pipeline valide les prix avant de convertir.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requête décrit la table d’exercice en mémoire du script 05_sql.py. Syntaxe SQL : https://www.sqlite.org/lang_select.html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https://www.sqlite.org/lang_select.html. AS fournit des noms courts de tables, f et p, pour lire la requête. Les données de dim_product ont une clé unique, ce qui évite de multiplier les faits dans cette jointure.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Graphique natif PowerPoint. Données fictives calculées depuis les douze ventes initiales : Carnet 22.500, Stylo 18.000, Classeur 36.000, Surligneur 22.500 TND. Total 99.000 TND. Ne pas comparer ces barres au total après ajout sans recalcul.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Copie à réparer : outputs/10/ventes_a_reparer.csv. Exécuter 10_defi.py une première fois pour préparer cette copie, corriger S015, puis adapter SOURCE_AJOUT comme indiqué dans le cours. Résultat final corrigé : 15 faits, 37 articles, 118.500 TND. Le défi utilise sa propre base outputs/10/defi.sqlite.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Fichiers : pdf/01_demarrer_windows.pdf pour l’installation et pdf/02_cours_atlas.pdf pour le parcours. pdf/03_reperes_et_depannage.pdf aide au dépannage ; pdf/04_indices_et_corriges.pdf fournit indices et corrigés.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pédagogique fictif Atlas Papeterie. Les montants sont exprimés en TND. Les ventes ne mesurent ni les stocks ni la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383280"/>
            <a:ext cx="5303520" cy="5303520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pic>
        <p:nvPicPr>
          <p:cNvPr id="3" name="Image 0" descr="/Users/youssefdouma/workspace/leaders/etl28-build/slides/authoring/leaders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BUSINESS INTELLIGENCE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1517904"/>
            <a:ext cx="85953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ETL et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entrepôts de données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713232" y="37947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Papeterie : un seul projet, des premiers gestes au rapport de ventes.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13232" y="5111496"/>
            <a:ext cx="2286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h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154680" y="52303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 pratique · 30 % théorie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6245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CONTRAT · 28 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allez construire quelque chose d’utile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des fichiers, repérer les colonnes et expliquer ce qu’une ligne représente.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50664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Nettoyer, calculer, contrôler et charger un entrepôt de données.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05800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Produire un rapport et formuler une décision avec ses limites.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 de pratique = 19 h 36 · 30 % de théorie = 8 h 24.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FIL CONDUCTEUR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Papeterie prépare ses prochains achats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boutiques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NBE = Nabeul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 = Tunis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ventes sur plusieurs jours.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produits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50664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Carnet · Stylo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Classeur · Surligneur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prix en dinars tunisiens.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05800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Quels produits suivre avant de décider des prochains achats ?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Papeterie et les données sont fictifs. Aucune donnée personnelle.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fichier brut au rapport lisible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CSV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ventes arrivent avec quelques erreurs volontaires.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995928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25696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6864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Entrepôt SQLite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6864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tables sont reliées et les montants contrôlés.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827264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57032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5820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HTML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58200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navigateur affiche les résultats et leur contexte.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fonctionne sur votre ordinateur après le téléchargement initial.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FAÇON DE TRAVAILLER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→ essayer → expliquer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prédis l’effet d’un petit changement et je l’écris.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995928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25696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6864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Pendant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6864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change une seule chose, j’enregistre et j’exécute.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827264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57032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5820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58200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compare, j’explique, puis je restaure le cas de référence.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professeur vous aide à comprendre. Aller plus vite n’est pas l’objectif.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01 · PREMIERS GESTES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dossier, un fichier, un programme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contient d’autres éléments.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scripts/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50664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porte un nom et une extension.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01_premiers_pas.py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05800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lit les instructions du fichier .py dans leur ordre.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Extraire tout le ZIP avant de travailler. Ne pas exécuter depuis le ZIP.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01 · THONNY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écrire ? Où lire le résultat 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37376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ÉDITEUR · EN HAUT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modifie mon fichier .py.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Ctrl+S : enregistrer.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 : exécuter le fichier.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0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· EN BAS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lis les résultats.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symbole &gt;&gt;&gt; indique une console Python.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833872" y="3703320"/>
            <a:ext cx="49377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scripts/01_premiers_pas.py avec File → Open dans Thonny.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01 · UN CALCUL COMPRÉHENSIBLE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carnets à 4.500 TND : 9.000 TND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quantite = 2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prix_millimes = 4500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 = quantite * prix_millimes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print(montant)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9000 millimes = 9.000 TND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variable donne un nom à une valeur.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L’étoile * signifie multiplier.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affiche une valeur dans le Shell.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TND = 1 000 millimes. Nous stockerons l’argent en nombres entiers.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01 · À VOUS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Changez une quantité, pas tout le script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l’on vend 3 carnets au lieu de 2, quel montant attendez-vous 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01_premiers_pas.py, repérer la quantité et prédire le résultat.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la valeur, enregistrer, puis exécuter avec F5.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la différence, puis rétablir la valeur de départ.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 ouvrir, modifier, enregistrer et exécuter un fichier.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02 · LIRE LES VENTES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table se lit ligne par ligne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1816709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057400"/>
            <a:ext cx="156067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sale_id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411069" y="2011680"/>
            <a:ext cx="2997569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9085" y="2057400"/>
            <a:ext cx="274153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08638" y="2011680"/>
            <a:ext cx="1998380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6654" y="2057400"/>
            <a:ext cx="17423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shop_id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07018" y="2011680"/>
            <a:ext cx="2180051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35034" y="2057400"/>
            <a:ext cx="192401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587068" y="2011680"/>
            <a:ext cx="1998380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15084" y="2057400"/>
            <a:ext cx="17423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" y="2679192"/>
            <a:ext cx="1816709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2724912"/>
            <a:ext cx="156067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S001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11069" y="2679192"/>
            <a:ext cx="2997569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9085" y="2724912"/>
            <a:ext cx="274153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2026-01-05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08638" y="2679192"/>
            <a:ext cx="199838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6654" y="2724912"/>
            <a:ext cx="17423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07018" y="2679192"/>
            <a:ext cx="2180051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35034" y="2724912"/>
            <a:ext cx="192401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587068" y="2679192"/>
            <a:ext cx="199838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5084" y="2724912"/>
            <a:ext cx="17423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3346704"/>
            <a:ext cx="1816709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3392424"/>
            <a:ext cx="156067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S002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411069" y="3346704"/>
            <a:ext cx="2997569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39085" y="3392424"/>
            <a:ext cx="274153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2026-01-05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08638" y="3346704"/>
            <a:ext cx="199838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6654" y="3392424"/>
            <a:ext cx="17423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NBE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407018" y="3346704"/>
            <a:ext cx="2180051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35034" y="3392424"/>
            <a:ext cx="192401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587068" y="3346704"/>
            <a:ext cx="199838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15084" y="3392424"/>
            <a:ext cx="17423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94360" y="4014216"/>
            <a:ext cx="1816709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" y="4059936"/>
            <a:ext cx="156067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S003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2411069" y="4014216"/>
            <a:ext cx="2997569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39085" y="4059936"/>
            <a:ext cx="274153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2026-01-05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5408638" y="4014216"/>
            <a:ext cx="199838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6654" y="4059936"/>
            <a:ext cx="17423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407018" y="4014216"/>
            <a:ext cx="2180051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35034" y="4059936"/>
            <a:ext cx="192401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9587068" y="4014216"/>
            <a:ext cx="199838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15084" y="4059936"/>
            <a:ext cx="17423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colonne donne un type d’information. Une ligne rassemble une vente.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02 · LE SENS DES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représente exactement une ligne 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vente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identifiant sale_id, un produit, une boutique et une date.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quantité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50664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carnets peuvent appartenir à une seule ligne de vente.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montant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05800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× prix unitaire.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montant est une vente, pas un bénéfice.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lignes de vente ne signifient ni 12 clients ni 12 commandes.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02 · LA LECTURE AUTOMATIQUE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peut parcourir un fichier CSV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open("exemple.csv",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encoding="utf-8-sig") as f: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lecteur = csv.DictReader(f)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lignes = list(lecteur)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print(len(lignes))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: du texte organisé en colonnes.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DictReader utilise la première ligne comme noms de colonnes.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 compte les lignes lues.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 : exemple.csv doit exister. Utiliser 02_lire_csv.py pour le vrai fichier.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02 · À VOUS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avant de calculer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fichier brut contient 16 lignes. Sont-elles toutes exploitables 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puis exécuter scripts/02_lire_csv.py.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Repérer sale_id, quantity et unit_price_tnd dans les premières lignes.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une ligne à votre voisin, sans simplement réciter ses valeurs.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 distinguer les noms de colonnes des valeurs.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03 · NETTOYER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boutique, écritures différentes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37376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BRUTES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nbe "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"NBE"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"nbe"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0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HARMONISÉE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NBE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833872" y="3703320"/>
            <a:ext cx="49377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enlève les espaces autour. upper transforme les lettres en majuscules.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03 · CONTRÔLER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erreur doit avoir une raison visible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nulle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I001 : quantity = 0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règle exige un entier strictement positif.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inconnu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50664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I002 : product_id = P99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code n’existe pas dans le catalogue.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impossible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05800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I003 : 2026-02-30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date n’existe pas.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Rejeter une ligne n’est pas l’effacer : conserver la ligne et sa raison.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03 · LA PREUVE DU NETTOYAGE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ligne d’entrée reçoit une destination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94560"/>
            <a:ext cx="2542032" cy="2578608"/>
          </a:xfrm>
          <a:prstGeom prst="roundRect">
            <a:avLst>
              <a:gd name="adj" fmla="val 4317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51460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95528" y="371246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brutes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10712" y="2194560"/>
            <a:ext cx="2542032" cy="2578608"/>
          </a:xfrm>
          <a:prstGeom prst="roundRect">
            <a:avLst>
              <a:gd name="adj" fmla="val 431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51460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611880" y="371246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retenues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227064" y="2194560"/>
            <a:ext cx="2542032" cy="2578608"/>
          </a:xfrm>
          <a:prstGeom prst="roundRect">
            <a:avLst>
              <a:gd name="adj" fmla="val 431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51460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28232" y="371246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 exact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043416" y="2194560"/>
            <a:ext cx="2542032" cy="2578608"/>
          </a:xfrm>
          <a:prstGeom prst="roundRect">
            <a:avLst>
              <a:gd name="adj" fmla="val 4317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44584" y="251460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244584" y="371246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rejets expliqués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7240" y="508406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= 12 + 1 + 3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doublon de S003 ne correspond pas à une nouvelle vente.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03 · À VOUS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Contrôler un résultat, puis l’expliquer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ne suffit-il pas d’annoncer « il reste 12 lignes » 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03_nettoyer.py et lire les fichiers de contrôle dans outputs/03/.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une ligne rejetée et expliquer sa règle en français.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l’égalité : retenues + doublons + rejets = lignes brutes.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 justifier ce qui a été retenu et ce qui a été isolé.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04 · TRANSFORMER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texte « 2 » n’est pas le nombre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37376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LECTURE DU CSV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= "2"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C’est du texte, même si le contenu ressemble à un nombre.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0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CONVERSION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= 2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C’est un entier : on peut multiplier et additionner.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833872" y="3703320"/>
            <a:ext cx="49377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après contrôle. Un texte vide ne devient pas une quantité valide.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04 · LES MONTANTS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dinars lisibles, des millimes exacts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decimal import Decimal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prix_tnd = Decimal("4.500")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prix_millimes = int(prix_tnd * 1000)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montant_millimes = 2 * prix_millimes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print(montant_millimes)  # 9000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lit le prix décimal sans passer par float.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conserve 4500 millimes par carnet.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L’affichage final revient aux TND avec 3 décimales.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conversion ne remplace pas la validation du prix et de sa précision.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04 · RÉPÉTER UNE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boucle traite plusieurs valeurs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quantites = [2, 3, 1]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quantite in quantites: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quantite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  # 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liste rassemble plusieurs valeurs.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répète les lignes indentées pour chaque valeur.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total augmente à chaque passage.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espaces au début d’une ligne font partie de la structure de Python.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04 · À VOUS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les unités avant d’additionner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12 ventes retenues donnent 99.000 TND pour 32 articles.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04_transformer.py et ouvrir outputs/04/ventes_transformees.csv.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à la main le montant de S001 : 2 × 4500 millimes.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pourquoi 32 articles et 12 ventes sont deux mesures différentes.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 calculer un montant et nommer son unité.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05 · PREMIÈRE REQUÊTE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choisit ce que l’on veut voir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sale_id, quantity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ventes;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: quelles colonnes 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: quelle table ?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requête lit les données ; elle ne modifie pas ici la table.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sera exécuté par le script 05_sql.py ; ce n’est pas du code Python isolé.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05 · FILTRER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garde les lignes qui conviennent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sale_id, quantity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quantity &gt;= 3;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condition est testée pour chaque ligne.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quantité de 3 est incluse par &gt;= 3.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fichier source ne change pas.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: une vente de 2 articles apparaîtra-t-elle dans le résultat ?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05 · RÉSUMER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Regrouper, additionner, puis lire le sens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Regrouper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rassemble les lignes de même boutique.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995928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25696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6864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Additionner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6864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additionne les montants de chaque groupe.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827264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57032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5820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58200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NBE : 43.500 TND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 : 55.500 TND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les mêmes 3 jours.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43.500 + 55.500 = 99.000 TND. Le total doit être conservé.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05 · À VOUS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Poser une question précise aux données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change le passage de la boutique NBE à la boutique TUN 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05_sql.py et repérer BOUTIQUE = "NBE".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le résultat, remplacer NBE par TUN, puis exécuter.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43.500 TND et 55.500 TND, puis rétablir NBE.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 lire et adapter une petite requête.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06 · CONSTRUIRE L’ENTREPÔT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séparer faits et dimensions 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faits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a été mesuré : une quantité et un montant pour une vente.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dimensions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50664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 : quel produit, quelle boutique et quelle date 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liens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05800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clés relient chaque fait aux lignes qui décrivent son contexte.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entrepôt pédagogique est un fichier SQLite : outputs/atlas.sqlite.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06 · LE GRAIN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la ligne avant de créer la table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232673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057400"/>
            <a:ext cx="29766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827033" y="2011680"/>
            <a:ext cx="7758415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5049" y="2057400"/>
            <a:ext cx="75023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pour Atlas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679192"/>
            <a:ext cx="3232673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724912"/>
            <a:ext cx="29766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de faits 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27033" y="2679192"/>
            <a:ext cx="77584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5049" y="2724912"/>
            <a:ext cx="75023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vente élémentaire identifiée par sale_id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" y="3346704"/>
            <a:ext cx="3232673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392424"/>
            <a:ext cx="29766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produit 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827033" y="3346704"/>
            <a:ext cx="7758415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5049" y="3392424"/>
            <a:ext cx="75023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produit par vente élémentaire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4014216"/>
            <a:ext cx="3232673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4059936"/>
            <a:ext cx="29766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quantité 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27033" y="4014216"/>
            <a:ext cx="77584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5049" y="4059936"/>
            <a:ext cx="75023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articles possibles sur cette ligne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94360" y="4681728"/>
            <a:ext cx="3232673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" y="4727448"/>
            <a:ext cx="29766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période 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827033" y="4681728"/>
            <a:ext cx="7758415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5049" y="4727448"/>
            <a:ext cx="75023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date de vente précise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le sens d’une ligne change, les additions peuvent devenir trompeuses.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06 · LE SCHÉMA EN ÉTOILE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dimensions autour d’une table de faits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3401568"/>
            <a:ext cx="740664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0" y="3401568"/>
            <a:ext cx="-704088" cy="0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99048" y="4590288"/>
            <a:ext cx="0" cy="-155448"/>
          </a:xfrm>
          <a:prstGeom prst="line">
            <a:avLst/>
          </a:prstGeom>
          <a:noFill/>
          <a:ln w="254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15384" y="2011680"/>
            <a:ext cx="3776472" cy="2423160"/>
          </a:xfrm>
          <a:prstGeom prst="roundRect">
            <a:avLst>
              <a:gd name="adj" fmla="val 4528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2240280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fact_sales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53128" y="2898648"/>
            <a:ext cx="33009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sale_id · date_key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· shop_key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· amount_millimes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2084832"/>
            <a:ext cx="2880360" cy="2651760"/>
          </a:xfrm>
          <a:prstGeom prst="roundRect">
            <a:avLst>
              <a:gd name="adj" fmla="val 413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311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dim_product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" y="2843784"/>
            <a:ext cx="25146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product_name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86800" y="2084832"/>
            <a:ext cx="2880360" cy="2651760"/>
          </a:xfrm>
          <a:prstGeom prst="roundRect">
            <a:avLst>
              <a:gd name="adj" fmla="val 413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22311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dim_shop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69680" y="2843784"/>
            <a:ext cx="25146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shop_key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shop_id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shop_name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60520" y="4590288"/>
            <a:ext cx="3886200" cy="987552"/>
          </a:xfrm>
          <a:prstGeom prst="roundRect">
            <a:avLst>
              <a:gd name="adj" fmla="val 1111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47365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343400" y="51389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date_key · full_date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5387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0448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55864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4847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3232" y="5120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N : une dimension décrit plusieurs ventes.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vente possède une seule référence de produit, de boutique et de date.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06 · LES CLÉS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métier et clé substitut : deux rôles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34715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057400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métier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029075" y="2011680"/>
            <a:ext cx="3434715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57091" y="2057400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463790" y="2011680"/>
            <a:ext cx="4121658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91806" y="2057400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 de vente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2679192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724912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 = Carnet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029075" y="2679192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57091" y="2724912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= 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63790" y="2679192"/>
            <a:ext cx="412165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91806" y="2724912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S001 → product_key 1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3346704"/>
            <a:ext cx="3434715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3392424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 = Stylo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029075" y="3346704"/>
            <a:ext cx="3434715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7091" y="3392424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= 2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63790" y="3346704"/>
            <a:ext cx="412165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91806" y="3392424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S002 → product_key 2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94360" y="4014216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4059936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du produit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029075" y="4014216"/>
            <a:ext cx="343471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57091" y="4059936"/>
            <a:ext cx="317868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locale de liaison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463790" y="4014216"/>
            <a:ext cx="412165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91806" y="4059936"/>
            <a:ext cx="386562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 la dimension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 identifie le produit métier ; product_key sert aux relations de notre entrepôt.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06 · À VOUS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Dessiner avant de charger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placer le nom « Carnet » et où placer la quantité 2 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Dessiner les quatre tables avec trois liens dimension → faits.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Placer product_name dans dim_product et quantity dans fact_sales.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06_modele.py et comparer le modèle au dessin.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 distinguer une mesure de son contexte.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07 · CHARGER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dimensions d’abord, les faits ensuite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Dimensions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les produits, les boutiques et les dates utiles.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995928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25696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6864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Clés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6864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la clé interne qui correspond à chaque code métier.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827264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57032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5820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Faits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58200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Insérer la vente avec ses références et ses mesures.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clé étrangère ne doit pas pointer vers une dimension absente.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07 · LA TRANSFORMATION D’UNE VENTE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S001 garde son sens pendant le chargement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120926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057400"/>
            <a:ext cx="28648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source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715286" y="2011680"/>
            <a:ext cx="4070773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3302" y="2057400"/>
            <a:ext cx="38147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l’entrepôt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86060" y="2011680"/>
            <a:ext cx="3799388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14076" y="2057400"/>
            <a:ext cx="35433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Signification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2679192"/>
            <a:ext cx="3120926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724912"/>
            <a:ext cx="28648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15286" y="2679192"/>
            <a:ext cx="4070773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3302" y="2724912"/>
            <a:ext cx="38147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sale_id = S001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86060" y="2679192"/>
            <a:ext cx="379938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14076" y="2724912"/>
            <a:ext cx="35433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même vente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3346704"/>
            <a:ext cx="3120926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3392424"/>
            <a:ext cx="28648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715286" y="3346704"/>
            <a:ext cx="4070773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3302" y="3392424"/>
            <a:ext cx="38147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→ Carnet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786060" y="3346704"/>
            <a:ext cx="379938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14076" y="3392424"/>
            <a:ext cx="35433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produit décrit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94360" y="4014216"/>
            <a:ext cx="3120926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4059936"/>
            <a:ext cx="28648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715286" y="4014216"/>
            <a:ext cx="4070773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3302" y="4059936"/>
            <a:ext cx="38147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shop_key → Nabeul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786060" y="4014216"/>
            <a:ext cx="3799388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4076" y="4059936"/>
            <a:ext cx="35433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boutique décrite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94360" y="4681728"/>
            <a:ext cx="3120926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" y="4727448"/>
            <a:ext cx="28648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4.500 TND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715286" y="4681728"/>
            <a:ext cx="4070773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3302" y="4727448"/>
            <a:ext cx="38147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9000 millimes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786060" y="4681728"/>
            <a:ext cx="379938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14076" y="4727448"/>
            <a:ext cx="35433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même montant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clés internes peuvent changer d’un modèle à l’autre ; le sens doit rester stable.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07 · CONTRÔLER LE CHARGEMENT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preuves valent mieux qu’un « terminé »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faits chargés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articles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vente valide perdue.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50664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99000 millimes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99.000 TND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total reste le même.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05800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fait retrouve sa date, son produit et sa boutique.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transaction protège la cohérence : en cas d’erreur, on annule le lot.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07 · LIRE LES RELATIONS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jointure retrouve le nom du produit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37376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FAIT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S001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product_key = 1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amount_millimes = 9000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0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LA JOINTURE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S001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9.000 TND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833872" y="3703320"/>
            <a:ext cx="49377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associe les lignes dont la clé correspond. Il ne crée pas une nouvelle vente.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07 · LA JOINTURE EN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Relier les faits et les noms, puis additionner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93392"/>
            <a:ext cx="6876288" cy="3456432"/>
          </a:xfrm>
          <a:prstGeom prst="roundRect">
            <a:avLst>
              <a:gd name="adj" fmla="val 3175"/>
            </a:avLst>
          </a:prstGeom>
          <a:solidFill>
            <a:srgbClr val="07152F"/>
          </a:solidFill>
          <a:ln w="8890">
            <a:solidFill>
              <a:srgbClr val="071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240280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p.product_name,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SUM(f.amount_millimes)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fact_sales AS f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dim_product AS p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f.product_key = p.product_key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p.product_name;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99832" y="2121408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9832" y="21214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94192" y="2075688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: joindre la dimension produit.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99832" y="3163824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9832" y="316382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92" y="3118104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: préciser les deux clés qui correspondent.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99832" y="4206240"/>
            <a:ext cx="429768" cy="4297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4160520"/>
            <a:ext cx="30540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: totaliser par nom de produit.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illustrative dans SQLite : le résultat de SUM est encore en millimes.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07 · À VOUS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que l’entrepôt respecte les ventes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fichier SQLite existe. Comment prouver qu’il contient les bonnes données 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07_charger.py et relever le nombre de faits et le montant.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: 12 faits, 32 articles, 99.000 TND.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Rejouer le chargement et expliquer pourquoi le total ne doit pas doubler.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 contrôler un chargement au lieu de seulement le lancer.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08 · LES NOUVELLES VENTES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nouveau fichier contient aussi une ancienne vente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1923440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057400"/>
            <a:ext cx="16674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sale_id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517800" y="2011680"/>
            <a:ext cx="4396435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5816" y="2057400"/>
            <a:ext cx="414040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914236" y="2011680"/>
            <a:ext cx="4671212" cy="667512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2252" y="2057400"/>
            <a:ext cx="44151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attendue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2679192"/>
            <a:ext cx="192344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724912"/>
            <a:ext cx="16674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17800" y="2679192"/>
            <a:ext cx="439643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5816" y="2724912"/>
            <a:ext cx="414040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carnet · 4.500 TND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14236" y="2679192"/>
            <a:ext cx="4671212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2252" y="2724912"/>
            <a:ext cx="44151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la nouvelle vente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3346704"/>
            <a:ext cx="192344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3392424"/>
            <a:ext cx="16674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517800" y="3346704"/>
            <a:ext cx="4396435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5816" y="3392424"/>
            <a:ext cx="414040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classeurs · 12.000 TND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14236" y="3346704"/>
            <a:ext cx="467121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2252" y="3392424"/>
            <a:ext cx="44151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la nouvelle vente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94360" y="4014216"/>
            <a:ext cx="1923440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4059936"/>
            <a:ext cx="16674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S012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517800" y="4014216"/>
            <a:ext cx="4396435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5816" y="4059936"/>
            <a:ext cx="414040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 déjà chargée · 18.000 TND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914236" y="4014216"/>
            <a:ext cx="4671212" cy="667512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2252" y="4059936"/>
            <a:ext cx="44151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Reconnaître la même vente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identifiant stable aide à éviter de compter deux fois la même vente.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08 · REJOUER SANS DOUBLONNER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deuxième passage doit conserver le résultat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ajout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faits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13816" y="42611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99.000 TND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4361688" y="205740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passage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81144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faits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81144" y="42611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115.500 TND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8129016" y="205740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passage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48472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faits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348472" y="42611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115.500 TND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: refaire la même opération n’ajoute pas une deuxième fois les mêmes faits.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08 · LE CONFLIT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identifiant, contenu différent : arrêter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37376" y="2075688"/>
            <a:ext cx="5138928" cy="3264408"/>
          </a:xfrm>
          <a:prstGeom prst="roundRect">
            <a:avLst>
              <a:gd name="adj" fmla="val 3361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DÉJÀ CHARGÉ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S012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classeurs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18.000 TND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0" y="2295144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 ARRIVAGE MODIFIÉ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907792"/>
            <a:ext cx="46542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S012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classeurs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24.000 TND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833872" y="3703320"/>
            <a:ext cx="49377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n’est ni une nouvelle vente ni un doublon exact : le lot doit signaler le conflit.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08 · À VOUS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le premier passage et le rejeu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3 lignes entrantes donnent-elles seulement 2 ventes nouvelles 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08_incremental.py et noter les ajouts et lignes déjà présentes.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Rejouer le script : attendre 0 nouvel ajout et 3 lignes déjà présentes.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 total : 14 faits, 35 articles, 115.500 TND.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 expliquer un chargement incrémental et son rejeu.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09 · LE RAPPORT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mesures, trois significations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3456432" cy="3154680"/>
          </a:xfrm>
          <a:prstGeom prst="roundRect">
            <a:avLst>
              <a:gd name="adj" fmla="val 3478"/>
            </a:avLst>
          </a:prstGeom>
          <a:solidFill>
            <a:srgbClr val="2B3180"/>
          </a:solidFill>
          <a:ln w="8890">
            <a:solidFill>
              <a:srgbClr val="2B31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248716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13816" y="375818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ventes élémentaires après l’ajout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361688" y="2103120"/>
            <a:ext cx="3456432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248716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81144" y="375818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 vendus après l’ajout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129016" y="2103120"/>
            <a:ext cx="3456432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248716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115.500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348472" y="375818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TND de ventes après l’ajout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rapport indique la période et l’unité. Il lit les données de l’entrepôt.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09 · COMPARER SANS TROMPER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produit réalise le plus de ventes 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920240"/>
          <a:ext cx="7452360" cy="3630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95360" y="2240280"/>
            <a:ext cx="2926080" cy="2871216"/>
          </a:xfrm>
          <a:prstGeom prst="roundRect">
            <a:avLst>
              <a:gd name="adj" fmla="val 3822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14816" y="2523744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36.000 TND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814816" y="3648456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classeur est premier en montant vendu sur ces 3 jours.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initial uniquement · 5–7 janvier 2026 · 12 ventes · Total : 99.000 TND.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09 · LA DÉCISION ET SES LIMITES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 ce que le chiffre permet de conclure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J’observe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les trois jours initiaux, le classeur est premier en montant vendu.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propose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50664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son stock et les délais du fournisseur avant le prochain achat.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limite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05800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ventes ne suffisent pas à connaître la marge, le stock ou la demande future.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recommandation utile distingue une observation, une action et une limite.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09 · À VOUS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Produire puis lire le rapport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039112"/>
            <a:ext cx="1060704" cy="1060704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39112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75688" y="2057400"/>
            <a:ext cx="9070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personne qui ne connaît pas Python peut-elle comprendre votre résultat 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49808" y="3383280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8328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64992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09_rapport.py puis ouvrir outputs/rapport_atlas.html.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9808" y="4096512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9651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Repérer le nombre de ventes, les articles, le montant et la période.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9808" y="4809744"/>
            <a:ext cx="429768" cy="42976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80974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791456"/>
            <a:ext cx="9884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Rédiger trois phrases : observation, proposition, limite.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 stade, je sais transformer un calcul en explication compréhensible.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10 · LE DÉFI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Réparer, rejouer, présenter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la copie CSV de outputs/10/, corriger S015 : quantité 0 → 2.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Rejouer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50664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copie réparée dans SOURCE_AJOUT et exécuter 10_defi.py.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Présenter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05800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Contrôler 15 faits, 37 articles et 118.500 TND. Expliquer le changement.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finale : 1 h prévue, dont 42 min de pratique et 18 min de synthèse.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10 · VOTRE PREUVE D’APPRENTISSAGE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le chemin, pas seulement l’écran final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symptôme, la donnée ou l’hypothèse qui posait problème.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995928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25696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6864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Changement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6864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correction réalisée et la raison de ce choix.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827264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57032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5820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58200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résultat contrôlé, avec une valeur, une unité et une limite.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autre solution est possible si vous pouvez la montrer, la vérifier et l’expliquer.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· L’ETL COMPLET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Extraire, transformer, charger : vous l’avez fait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les CSV et conserver les sources intactes.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995928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25696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6864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6864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Harmoniser, contrôler, isoler les rejets et calculer les montants.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827264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57032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5820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58200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Alimenter les dimensions puis les faits ; rejouer sans doublonner.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rapport vient ensuite : il exploite les données préparées dans l’entrepôt.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PETIT DICTIONNAIRE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mots pour expliquer votre projet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2747772" cy="489857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057400"/>
            <a:ext cx="24917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342132" y="2011680"/>
            <a:ext cx="8243316" cy="489857"/>
          </a:xfrm>
          <a:prstGeom prst="rect">
            <a:avLst/>
          </a:prstGeom>
          <a:solidFill>
            <a:srgbClr val="2B3180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0148" y="2057400"/>
            <a:ext cx="7987284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Explication courte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501537"/>
            <a:ext cx="2747772" cy="489857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547257"/>
            <a:ext cx="24917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42132" y="2501537"/>
            <a:ext cx="8243316" cy="489857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0148" y="2547257"/>
            <a:ext cx="7987284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texte structuré en colonnes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" y="2991394"/>
            <a:ext cx="2747772" cy="489857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037114"/>
            <a:ext cx="24917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342132" y="2991394"/>
            <a:ext cx="8243316" cy="489857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0148" y="3037114"/>
            <a:ext cx="7987284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Extraire, transformer, charger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3481251"/>
            <a:ext cx="2747772" cy="489857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3526971"/>
            <a:ext cx="24917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342132" y="3481251"/>
            <a:ext cx="8243316" cy="489857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0148" y="3526971"/>
            <a:ext cx="7987284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mesure au grain défini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94360" y="3971109"/>
            <a:ext cx="2747772" cy="489857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" y="4016829"/>
            <a:ext cx="24917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342132" y="3971109"/>
            <a:ext cx="8243316" cy="489857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0148" y="4016829"/>
            <a:ext cx="7987284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 qui décrit les faits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" y="4460966"/>
            <a:ext cx="2747772" cy="489857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506686"/>
            <a:ext cx="24917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342132" y="4460966"/>
            <a:ext cx="8243316" cy="489857"/>
          </a:xfrm>
          <a:prstGeom prst="rect">
            <a:avLst/>
          </a:prstGeom>
          <a:solidFill>
            <a:srgbClr val="F3F5FC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0148" y="4506686"/>
            <a:ext cx="7987284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valeur utilisée pour identifier ou relier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94360" y="4950823"/>
            <a:ext cx="2747772" cy="489857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" y="4996543"/>
            <a:ext cx="249174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Incrémental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342132" y="4950823"/>
            <a:ext cx="8243316" cy="489857"/>
          </a:xfrm>
          <a:prstGeom prst="rect">
            <a:avLst/>
          </a:prstGeom>
          <a:solidFill>
            <a:srgbClr val="FFFFFF"/>
          </a:solidFill>
          <a:ln w="7620">
            <a:solidFill>
              <a:srgbClr val="DCE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0148" y="4996543"/>
            <a:ext cx="7987284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les nouvelles données sans tout recompter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avec les ventes Atlas, puis seulement employer le terme technique.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VOUS ÊTES BLOQUÉ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 message avant de changer le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introuvable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dossier a-t-il été extrait ? Avez-vous ouvert le bon fichier .py 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SyntaxError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50664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les guillemets, les parenthèses et la ligne indiquée.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IndentationError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05800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les espaces au début des lignes dans la boucle ou la condition.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 : fichier → action → message exact → essai effectué. Une erreur est une information.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REPRENDRE LE COURS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votre point de départ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bon PDF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 guide 01 pour l’installation, puis ouvrir le cours 02.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995928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25696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6864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bon fichier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6864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le script de la mission, enregistrer et exécuter avec F5.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827264" y="3593592"/>
            <a:ext cx="356616" cy="0"/>
          </a:xfrm>
          <a:prstGeom prst="line">
            <a:avLst/>
          </a:prstGeom>
          <a:noFill/>
          <a:ln w="38100">
            <a:solidFill>
              <a:srgbClr val="FF9A3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57032" y="2148840"/>
            <a:ext cx="3328416" cy="3154680"/>
          </a:xfrm>
          <a:prstGeom prst="roundRect">
            <a:avLst>
              <a:gd name="adj" fmla="val 347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235000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5820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bonne preuve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58200" y="37398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le résultat attendu avant de poursuivre la mission suivante.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document 03 aide à dépanner ; le document 04 propose les indices et corrigés.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ALLER PLUS LOIN · FACULTATIF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avez les bases pour une prochaine étape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Douma · Leaders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373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Manipuler des tables plus grandes avec une bibliothèque spécialisée.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49496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0664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066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664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50664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Importer les résultats pour construire un tableau de bord interactif.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4632" y="2011680"/>
            <a:ext cx="3480816" cy="3337560"/>
          </a:xfrm>
          <a:prstGeom prst="roundRect">
            <a:avLst>
              <a:gd name="adj" fmla="val 328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212848"/>
            <a:ext cx="475488" cy="475488"/>
          </a:xfrm>
          <a:prstGeom prst="ellipse">
            <a:avLst/>
          </a:prstGeom>
          <a:solidFill>
            <a:srgbClr val="2B3180"/>
          </a:solidFill>
          <a:ln w="12700">
            <a:solidFill>
              <a:srgbClr val="2B3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58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5800" y="2852928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Historisation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05800" y="36027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Conserver les changements de description d’une dimension.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" y="5742432"/>
            <a:ext cx="10991088" cy="502920"/>
          </a:xfrm>
          <a:prstGeom prst="roundRect">
            <a:avLst>
              <a:gd name="adj" fmla="val 21818"/>
            </a:avLst>
          </a:prstGeom>
          <a:solidFill>
            <a:srgbClr val="F3F5FC"/>
          </a:solidFill>
          <a:ln w="8890">
            <a:solidFill>
              <a:srgbClr val="F3F5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97296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extensions ne sont pas nécessaires pour réussir le projet de 28 h.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71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oussefdouma/workspace/leaders/etl28-build/slides/authoring/leaders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16" y="548640"/>
            <a:ext cx="1783080" cy="1783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21792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FF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FICHIER À LA DÉCISION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444752"/>
            <a:ext cx="8503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savez relier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 à une décision.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31520" y="3310128"/>
            <a:ext cx="393192" cy="39319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31012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32552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et contrôler des fichiers de ventes.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31520" y="3968496"/>
            <a:ext cx="393192" cy="39319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96849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39136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et alimenter un petit entrepôt.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31520" y="4626864"/>
            <a:ext cx="393192" cy="39319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62686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45720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Rejouer un pipeline sans compter deux fois.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31520" y="5285232"/>
            <a:ext cx="393192" cy="393192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528523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52303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un résultat et expliquer ses limites.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3152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prochaine étape : refaire le parcours sur une copie de vos propres données.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Leaders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Papeterie — Python, ETL et entrepôts de données</dc:title>
  <dc:subject>Licence BI • Python et ETL • 28 h</dc:subject>
  <dc:creator>Youssef Douma</dc:creator>
  <cp:lastModifiedBy>Youssef Douma</cp:lastModifiedBy>
  <cp:revision>1</cp:revision>
  <dcterms:created xsi:type="dcterms:W3CDTF">2026-10-26T22:59:52Z</dcterms:created>
  <dcterms:modified xsi:type="dcterms:W3CDTF">2026-10-26T22:59:52Z</dcterms:modified>
</cp:coreProperties>
</file>