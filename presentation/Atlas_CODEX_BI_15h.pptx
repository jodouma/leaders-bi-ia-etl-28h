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charts/chart1.xml" ContentType="application/vnd.openxmlformats-officedocument.drawingml.chart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</p:sldIdLst>
  <p:notesMasterIdLst>
    <p:notesMasterId r:id="rId8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notesMaster" Target="notesMasters/notesMaster1.xml"/><Relationship Id="rId85" Type="http://schemas.openxmlformats.org/officeDocument/2006/relationships/presProps" Target="presProps.xml"/><Relationship Id="rId86" Type="http://schemas.openxmlformats.org/officeDocument/2006/relationships/viewProps" Target="viewProps.xml"/><Relationship Id="rId87" Type="http://schemas.openxmlformats.org/officeDocument/2006/relationships/theme" Target="theme/theme1.xml"/><Relationship Id="rId8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Montant vendu (TND)</c:v>
                </c:pt>
              </c:strCache>
            </c:strRef>
          </c:tx>
          <c:spPr>
            <a:solidFill>
              <a:srgbClr val="2B3180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800" u="none">
                    <a:solidFill>
                      <a:srgbClr val="2B318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Cap Bon</c:v>
                  </c:pt>
                  <c:pt idx="1">
                    <c:v>Grand Tunis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43.5</c:v>
                </c:pt>
                <c:pt idx="1">
                  <c:v>72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800" u="none">
                  <a:solidFill>
                    <a:srgbClr val="2B318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1A1F4D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b"/>
        <c:majorGridlines>
          <c:spPr>
            <a:ln w="12700" cap="flat">
              <a:solidFill>
                <a:srgbClr val="DCE2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7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sz="1700" b="0" i="0" u="none" strike="noStrike">
                    <a:solidFill>
                      <a:srgbClr val="000000"/>
                    </a:solidFill>
                    <a:latin typeface="Arial"/>
                  </a:rPr>
                  <a:t>Montant vendu (TND)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59627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officielle consultée le 27 octobre 2026 : https://learn.chatgpt.com/docs/app. Origine : agent de programmation OpenAI. Pas de revendication d’adoption ni de productivité garantie.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État documentaire au 27/10/2026 : https://learn.chatgpt.com/docs/pricing et https://learn.chatgpt.com/docs/app. Accès Free Desktop sous déploiement ; aucun accès CLI Free universel démontré. Compte Free non testé par cette présentation.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OpenAI, 27/10/2026 : https://learn.chatgpt.com/docs/linux/linux-app. Preview Ubuntu 24.04/26.04 x64/ARM64. Aucun essai Windows/Ubuntu ou compte Free attesté par ces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: https://learn.chatgpt.com/docs/agent-configuration/agents-md, consultée le 27/10/2026. Nouvelle session pour contrôler la lecture effective des règles.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 consultées le 27/10/2026 : https://learn.chatgpt.com/docs/pricing et https://learn.chatgpt.com/docs/models. Free annonce Luna Standard sous déploiement ; High conseillé pour Luna si le choix est disponible. Luna ne supporte pas Ultra. Les options diffèrent selon les comptes.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 officielles au 27/10/2026 : https://learn.chatgpt.com/docs/build-skills. Disponibilité et découverte à vérifier sur le vrai compte Free. Un Skill ne crée ni outil ni garantie de justesse.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OpenAI : https://learn.chatgpt.com/docs/app ; https://learn.chatgpt.com/docs/pricing ; https://learn.chatgpt.com/docs/models ; https://learn.chatgpt.com/docs/app/windows ; https://learn.chatgpt.com/docs/linux/linux-app ; https://learn.chatgpt.com/docs/build-skills ; https://learn.chatgpt.com/docs/agent-configuration/subagents. Microsoft : voir powerbi/README.md pour les références vérifiées par le kit. Les timings sont des estimations de conception sans mesure novice humaine. Les supports ne prouvent pas l’installation Windows/Ubuntu, l’accès Free, la découverte de Skills ou une manipulation Power BI réelle.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27.xml"/><Relationship Id="rId3" Type="http://schemas.openxmlformats.org/officeDocument/2006/relationships/slide" Target="slide42.xml"/><Relationship Id="rId4" Type="http://schemas.openxmlformats.org/officeDocument/2006/relationships/slide" Target="slide57.xml"/><Relationship Id="rId5" Type="http://schemas.openxmlformats.org/officeDocument/2006/relationships/slide" Target="slide73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hyperlink" Target="https://learn.chatgpt.com/docs/app" TargetMode="External"/><Relationship Id="rId2" Type="http://schemas.openxmlformats.org/officeDocument/2006/relationships/hyperlink" Target="https://learn.chatgpt.com/docs/pricing" TargetMode="External"/><Relationship Id="rId3" Type="http://schemas.openxmlformats.org/officeDocument/2006/relationships/hyperlink" Target="https://learn.chatgpt.com/docs/models" TargetMode="External"/><Relationship Id="rId4" Type="http://schemas.openxmlformats.org/officeDocument/2006/relationships/hyperlink" Target="https://learn.chatgpt.com/docs/app/windows" TargetMode="External"/><Relationship Id="rId5" Type="http://schemas.openxmlformats.org/officeDocument/2006/relationships/hyperlink" Target="https://learn.chatgpt.com/docs/linux/linux-app" TargetMode="External"/><Relationship Id="rId6" Type="http://schemas.openxmlformats.org/officeDocument/2006/relationships/hyperlink" Target="https://learn.chatgpt.com/docs/agent-configuration/agents-md" TargetMode="External"/><Relationship Id="rId7" Type="http://schemas.openxmlformats.org/officeDocument/2006/relationships/hyperlink" Target="https://learn.chatgpt.com/docs/build-skills" TargetMode="External"/><Relationship Id="rId8" Type="http://schemas.openxmlformats.org/officeDocument/2006/relationships/hyperlink" Target="https://learn.chatgpt.com/docs/agent-configuration/subagents" TargetMode="External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8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5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3383280"/>
            <a:ext cx="5303520" cy="530352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pic>
        <p:nvPicPr>
          <p:cNvPr id="3" name="Image 0" descr="Logo fourni : Leaders Universit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29216" y="548640"/>
            <a:ext cx="1783080" cy="17830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85800" y="621792"/>
            <a:ext cx="8430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110" kern="0" dirty="0">
                <a:solidFill>
                  <a:srgbClr val="FF9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· S1 · DÉMARRER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685800" y="1517904"/>
            <a:ext cx="8595360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Construire une solution BI</a:t>
            </a:r>
            <a:endParaRPr lang="en-US" sz="4300" dirty="0"/>
          </a:p>
          <a:p>
            <a:pPr indent="0" marL="0">
              <a:buNone/>
            </a:pPr>
            <a:r>
              <a:rPr lang="en-US" sz="4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avec Codex</a:t>
            </a:r>
            <a:endParaRPr lang="en-US" sz="4300" dirty="0"/>
          </a:p>
        </p:txBody>
      </p:sp>
      <p:sp>
        <p:nvSpPr>
          <p:cNvPr id="6" name="Text 3"/>
          <p:cNvSpPr/>
          <p:nvPr/>
        </p:nvSpPr>
        <p:spPr>
          <a:xfrm>
            <a:off x="713232" y="3794760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Atlas Papeterie · de la première vente au rapport Power BI</a:t>
            </a:r>
            <a:endParaRPr lang="en-US" sz="2500" dirty="0"/>
          </a:p>
        </p:txBody>
      </p:sp>
      <p:sp>
        <p:nvSpPr>
          <p:cNvPr id="7" name="Text 4"/>
          <p:cNvSpPr/>
          <p:nvPr/>
        </p:nvSpPr>
        <p:spPr>
          <a:xfrm>
            <a:off x="713232" y="5111496"/>
            <a:ext cx="22860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9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h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3154680" y="5230368"/>
            <a:ext cx="7223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séances de 3 h · 70 % pratique hors pauses</a:t>
            </a:r>
            <a:endParaRPr lang="en-US" sz="2300" dirty="0"/>
          </a:p>
        </p:txBody>
      </p:sp>
      <p:sp>
        <p:nvSpPr>
          <p:cNvPr id="9" name="Text 6"/>
          <p:cNvSpPr/>
          <p:nvPr/>
        </p:nvSpPr>
        <p:spPr>
          <a:xfrm>
            <a:off x="731520" y="62453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 · DÉMARRER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rejoignez Atlas Papeterie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95528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5528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95528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Votre poste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795528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Nouvelle équipe BI.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apprenez les outils en avançant.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4349496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50664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50664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550664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demande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4550664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Combien avons-nous vendu,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où et dans quelle zone ? »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8104632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305800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05800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305800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difficulté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8305800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 lignes fausses, des répétitions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 une boutique qui change de zone.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 fictif · 2 boutiques · ventes du 5 au 8 janvier 2026.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 · DÉMARRER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BI : aider à décider avec des données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95528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5528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95528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795528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 montant a été vendu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 zone commerciale ?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4349496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50664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50664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550664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Chiffre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4550664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Calculer à partir de ventes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fiables et bien reliées.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8104632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305800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05800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305800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Décision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8305800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Comparer les zones, puis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poser une meilleure question.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Autres usages : suivre un stock, comparer des achats ou mesurer un délai. Ici, nous étudions les ventes.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 · DÉMARRER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bonne question vient avant le graphique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2075688"/>
            <a:ext cx="5138928" cy="3264408"/>
          </a:xfrm>
          <a:prstGeom prst="roundRect">
            <a:avLst>
              <a:gd name="adj" fmla="val 3361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37376" y="2075688"/>
            <a:ext cx="5138928" cy="3264408"/>
          </a:xfrm>
          <a:prstGeom prst="roundRect">
            <a:avLst>
              <a:gd name="adj" fmla="val 3361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32104" y="2295144"/>
            <a:ext cx="4654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TROP VAGUE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32104" y="2907792"/>
            <a:ext cx="4654296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Fais un beau tableau</a:t>
            </a:r>
            <a:endParaRPr lang="en-US" sz="2600" dirty="0"/>
          </a:p>
          <a:p>
            <a:pPr indent="0" marL="0">
              <a:buNone/>
            </a:pPr>
            <a:r>
              <a:rPr lang="en-US" sz="26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bord. »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6675120" y="2295144"/>
            <a:ext cx="4654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VÉRIFIABLE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675120" y="2907792"/>
            <a:ext cx="4654296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Montant vendu en TND,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 5 au 8 janvier,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 zone à la date de vente. »</a:t>
            </a:r>
            <a:endParaRPr lang="en-US" sz="2600" dirty="0"/>
          </a:p>
        </p:txBody>
      </p:sp>
      <p:sp>
        <p:nvSpPr>
          <p:cNvPr id="14" name="Shape 12"/>
          <p:cNvSpPr/>
          <p:nvPr/>
        </p:nvSpPr>
        <p:spPr>
          <a:xfrm>
            <a:off x="5833872" y="3703320"/>
            <a:ext cx="493776" cy="0"/>
          </a:xfrm>
          <a:prstGeom prst="line">
            <a:avLst/>
          </a:prstGeom>
          <a:noFill/>
          <a:ln w="38100">
            <a:solidFill>
              <a:srgbClr val="FF9A3C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précise la période, l’unité, le niveau de détail et le sens du regroupement.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haque flèche transforme ou transporte des donnée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" y="320040"/>
            <a:ext cx="10808208" cy="540410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94360" y="91440"/>
            <a:ext cx="10698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 · DÉMARRER</a:t>
            </a:r>
            <a:endParaRPr lang="en-US" sz="1000" dirty="0"/>
          </a:p>
        </p:txBody>
      </p:sp>
      <p:sp>
        <p:nvSpPr>
          <p:cNvPr id="4" name="Shape 1"/>
          <p:cNvSpPr/>
          <p:nvPr/>
        </p:nvSpPr>
        <p:spPr>
          <a:xfrm>
            <a:off x="594360" y="5824728"/>
            <a:ext cx="10991088" cy="502920"/>
          </a:xfrm>
          <a:prstGeom prst="roundRect">
            <a:avLst>
              <a:gd name="adj" fmla="val 2181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77240" y="5852160"/>
            <a:ext cx="106253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CSV + SQL → Python → étoile SQLite → 4 CSV → Power BI Desktop Windows.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 · DÉMARRER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Cinq séances, cinq petites victoires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2944368"/>
            <a:ext cx="1984248" cy="2432304"/>
          </a:xfrm>
          <a:prstGeom prst="roundRect">
            <a:avLst>
              <a:gd name="adj" fmla="val 5530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16152" y="1993392"/>
            <a:ext cx="731520" cy="73152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0" name="Text 8">
            <a:hlinkClick r:id="rId1" tooltip="" action="ppaction://hlinksldjump"/>
          </p:cNvPr>
          <p:cNvSpPr/>
          <p:nvPr/>
        </p:nvSpPr>
        <p:spPr>
          <a:xfrm>
            <a:off x="1216152" y="199339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685800" y="3191256"/>
            <a:ext cx="180136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 · DÉMARRER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68096" y="3858768"/>
            <a:ext cx="163677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Poste, Codex,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première vente.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2606040" y="2359152"/>
            <a:ext cx="210312" cy="0"/>
          </a:xfrm>
          <a:prstGeom prst="line">
            <a:avLst/>
          </a:prstGeom>
          <a:noFill/>
          <a:ln w="25400">
            <a:solidFill>
              <a:srgbClr val="FF9A3C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843784" y="2944368"/>
            <a:ext cx="1984248" cy="2432304"/>
          </a:xfrm>
          <a:prstGeom prst="roundRect">
            <a:avLst>
              <a:gd name="adj" fmla="val 5530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465576" y="1993392"/>
            <a:ext cx="731520" cy="73152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6" name="Text 14">
            <a:hlinkClick r:id="rId2" tooltip="" action="ppaction://hlinksldjump"/>
          </p:cNvPr>
          <p:cNvSpPr/>
          <p:nvPr/>
        </p:nvSpPr>
        <p:spPr>
          <a:xfrm>
            <a:off x="3465576" y="199339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2935224" y="3191256"/>
            <a:ext cx="180136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 · FIABILISER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3017520" y="3858768"/>
            <a:ext cx="163677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CSV, SQL,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nettoyage, étoile.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4855464" y="2359152"/>
            <a:ext cx="210312" cy="0"/>
          </a:xfrm>
          <a:prstGeom prst="line">
            <a:avLst/>
          </a:prstGeom>
          <a:noFill/>
          <a:ln w="25400">
            <a:solidFill>
              <a:srgbClr val="FF9A3C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093208" y="2944368"/>
            <a:ext cx="1984248" cy="2432304"/>
          </a:xfrm>
          <a:prstGeom prst="roundRect">
            <a:avLst>
              <a:gd name="adj" fmla="val 5530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15000" y="1993392"/>
            <a:ext cx="731520" cy="73152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2" name="Text 20">
            <a:hlinkClick r:id="rId3" tooltip="" action="ppaction://hlinksldjump"/>
          </p:cNvPr>
          <p:cNvSpPr/>
          <p:nvPr/>
        </p:nvSpPr>
        <p:spPr>
          <a:xfrm>
            <a:off x="5715000" y="199339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5184648" y="3191256"/>
            <a:ext cx="180136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 · CHARGER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5266944" y="3858768"/>
            <a:ext cx="163677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Ajout, rejeu,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histoire.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7104888" y="2359152"/>
            <a:ext cx="210312" cy="0"/>
          </a:xfrm>
          <a:prstGeom prst="line">
            <a:avLst/>
          </a:prstGeom>
          <a:noFill/>
          <a:ln w="25400">
            <a:solidFill>
              <a:srgbClr val="FF9A3C"/>
            </a:solidFill>
            <a:prstDash val="solid"/>
            <a:headEnd type="non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7342632" y="2944368"/>
            <a:ext cx="1984248" cy="2432304"/>
          </a:xfrm>
          <a:prstGeom prst="roundRect">
            <a:avLst>
              <a:gd name="adj" fmla="val 5530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964424" y="1993392"/>
            <a:ext cx="731520" cy="73152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8" name="Text 26">
            <a:hlinkClick r:id="rId4" tooltip="" action="ppaction://hlinksldjump"/>
          </p:cNvPr>
          <p:cNvSpPr/>
          <p:nvPr/>
        </p:nvSpPr>
        <p:spPr>
          <a:xfrm>
            <a:off x="7964424" y="199339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</a:t>
            </a:r>
            <a:endParaRPr lang="en-US" sz="3000" dirty="0"/>
          </a:p>
        </p:txBody>
      </p:sp>
      <p:sp>
        <p:nvSpPr>
          <p:cNvPr id="29" name="Text 27"/>
          <p:cNvSpPr/>
          <p:nvPr/>
        </p:nvSpPr>
        <p:spPr>
          <a:xfrm>
            <a:off x="7434072" y="3191256"/>
            <a:ext cx="180136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 · MONTRER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7516368" y="3858768"/>
            <a:ext cx="163677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 BI,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Skill, revue.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9354312" y="2359152"/>
            <a:ext cx="210312" cy="0"/>
          </a:xfrm>
          <a:prstGeom prst="line">
            <a:avLst/>
          </a:prstGeom>
          <a:noFill/>
          <a:ln w="25400">
            <a:solidFill>
              <a:srgbClr val="FF9A3C"/>
            </a:solidFill>
            <a:prstDash val="solid"/>
            <a:headEnd type="none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9592056" y="2944368"/>
            <a:ext cx="1984248" cy="2432304"/>
          </a:xfrm>
          <a:prstGeom prst="roundRect">
            <a:avLst>
              <a:gd name="adj" fmla="val 5530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213848" y="1993392"/>
            <a:ext cx="731520" cy="73152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4" name="Text 32">
            <a:hlinkClick r:id="rId5" tooltip="" action="ppaction://hlinksldjump"/>
          </p:cNvPr>
          <p:cNvSpPr/>
          <p:nvPr/>
        </p:nvSpPr>
        <p:spPr>
          <a:xfrm>
            <a:off x="10213848" y="199339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</a:t>
            </a:r>
            <a:endParaRPr lang="en-US" sz="3000" dirty="0"/>
          </a:p>
        </p:txBody>
      </p:sp>
      <p:sp>
        <p:nvSpPr>
          <p:cNvPr id="35" name="Text 33"/>
          <p:cNvSpPr/>
          <p:nvPr/>
        </p:nvSpPr>
        <p:spPr>
          <a:xfrm>
            <a:off x="9683496" y="3191256"/>
            <a:ext cx="180136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S5 · LIVRER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9765792" y="3858768"/>
            <a:ext cx="163677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Défaut, preuve,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explication.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Chaque séance dure 180 min, avec une pause réelle de 10 min.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 · DÉMARRER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h avec du temps pour essayer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2011680"/>
            <a:ext cx="2747772" cy="571500"/>
          </a:xfrm>
          <a:prstGeom prst="rect">
            <a:avLst/>
          </a:prstGeom>
          <a:solidFill>
            <a:srgbClr val="2B3180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2376" y="2057400"/>
            <a:ext cx="24917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Séance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3342132" y="2011680"/>
            <a:ext cx="2747772" cy="571500"/>
          </a:xfrm>
          <a:prstGeom prst="rect">
            <a:avLst/>
          </a:prstGeom>
          <a:solidFill>
            <a:srgbClr val="2B3180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70148" y="2057400"/>
            <a:ext cx="24917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Concepts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6089904" y="2011680"/>
            <a:ext cx="2747772" cy="571500"/>
          </a:xfrm>
          <a:prstGeom prst="rect">
            <a:avLst/>
          </a:prstGeom>
          <a:solidFill>
            <a:srgbClr val="2B3180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0" y="2057400"/>
            <a:ext cx="24917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Pratique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8837676" y="2011680"/>
            <a:ext cx="2747772" cy="571500"/>
          </a:xfrm>
          <a:prstGeom prst="rect">
            <a:avLst/>
          </a:prstGeom>
          <a:solidFill>
            <a:srgbClr val="2B3180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965692" y="2057400"/>
            <a:ext cx="24917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594360" y="2583180"/>
            <a:ext cx="2747772" cy="571500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22376" y="2628900"/>
            <a:ext cx="24917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 · démarrer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3342132" y="2583180"/>
            <a:ext cx="2747772" cy="571500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70148" y="2628900"/>
            <a:ext cx="24917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min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6089904" y="2583180"/>
            <a:ext cx="2747772" cy="571500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17920" y="2628900"/>
            <a:ext cx="24917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110 min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8837676" y="2583180"/>
            <a:ext cx="2747772" cy="571500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965692" y="2628900"/>
            <a:ext cx="24917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594360" y="3154680"/>
            <a:ext cx="2747772" cy="571500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2376" y="3200400"/>
            <a:ext cx="24917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 · fiabiliser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3342132" y="3154680"/>
            <a:ext cx="2747772" cy="571500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470148" y="3200400"/>
            <a:ext cx="24917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min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6089904" y="3154680"/>
            <a:ext cx="2747772" cy="571500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217920" y="3200400"/>
            <a:ext cx="24917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110 min</a:t>
            </a:r>
            <a:endParaRPr lang="en-US" sz="2000" dirty="0"/>
          </a:p>
        </p:txBody>
      </p:sp>
      <p:sp>
        <p:nvSpPr>
          <p:cNvPr id="30" name="Shape 28"/>
          <p:cNvSpPr/>
          <p:nvPr/>
        </p:nvSpPr>
        <p:spPr>
          <a:xfrm>
            <a:off x="8837676" y="3154680"/>
            <a:ext cx="2747772" cy="571500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965692" y="3200400"/>
            <a:ext cx="24917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594360" y="3726180"/>
            <a:ext cx="2747772" cy="571500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22376" y="3771900"/>
            <a:ext cx="24917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 · charger</a:t>
            </a:r>
            <a:endParaRPr lang="en-US" sz="2000" dirty="0"/>
          </a:p>
        </p:txBody>
      </p:sp>
      <p:sp>
        <p:nvSpPr>
          <p:cNvPr id="34" name="Shape 32"/>
          <p:cNvSpPr/>
          <p:nvPr/>
        </p:nvSpPr>
        <p:spPr>
          <a:xfrm>
            <a:off x="3342132" y="3726180"/>
            <a:ext cx="2747772" cy="571500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470148" y="3771900"/>
            <a:ext cx="24917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min</a:t>
            </a:r>
            <a:endParaRPr lang="en-US" sz="2000" dirty="0"/>
          </a:p>
        </p:txBody>
      </p:sp>
      <p:sp>
        <p:nvSpPr>
          <p:cNvPr id="36" name="Shape 34"/>
          <p:cNvSpPr/>
          <p:nvPr/>
        </p:nvSpPr>
        <p:spPr>
          <a:xfrm>
            <a:off x="6089904" y="3726180"/>
            <a:ext cx="2747772" cy="571500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217920" y="3771900"/>
            <a:ext cx="24917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110 min</a:t>
            </a:r>
            <a:endParaRPr lang="en-US" sz="2000" dirty="0"/>
          </a:p>
        </p:txBody>
      </p:sp>
      <p:sp>
        <p:nvSpPr>
          <p:cNvPr id="38" name="Shape 36"/>
          <p:cNvSpPr/>
          <p:nvPr/>
        </p:nvSpPr>
        <p:spPr>
          <a:xfrm>
            <a:off x="8837676" y="3726180"/>
            <a:ext cx="2747772" cy="571500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965692" y="3771900"/>
            <a:ext cx="24917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</a:t>
            </a:r>
            <a:endParaRPr lang="en-US" sz="2000" dirty="0"/>
          </a:p>
        </p:txBody>
      </p:sp>
      <p:sp>
        <p:nvSpPr>
          <p:cNvPr id="40" name="Shape 38"/>
          <p:cNvSpPr/>
          <p:nvPr/>
        </p:nvSpPr>
        <p:spPr>
          <a:xfrm>
            <a:off x="594360" y="4297680"/>
            <a:ext cx="2747772" cy="571500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22376" y="4343400"/>
            <a:ext cx="24917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 · montrer</a:t>
            </a:r>
            <a:endParaRPr lang="en-US" sz="2000" dirty="0"/>
          </a:p>
        </p:txBody>
      </p:sp>
      <p:sp>
        <p:nvSpPr>
          <p:cNvPr id="42" name="Shape 40"/>
          <p:cNvSpPr/>
          <p:nvPr/>
        </p:nvSpPr>
        <p:spPr>
          <a:xfrm>
            <a:off x="3342132" y="4297680"/>
            <a:ext cx="2747772" cy="571500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470148" y="4343400"/>
            <a:ext cx="24917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min</a:t>
            </a:r>
            <a:endParaRPr lang="en-US" sz="2000" dirty="0"/>
          </a:p>
        </p:txBody>
      </p:sp>
      <p:sp>
        <p:nvSpPr>
          <p:cNvPr id="44" name="Shape 42"/>
          <p:cNvSpPr/>
          <p:nvPr/>
        </p:nvSpPr>
        <p:spPr>
          <a:xfrm>
            <a:off x="6089904" y="4297680"/>
            <a:ext cx="2747772" cy="571500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217920" y="4343400"/>
            <a:ext cx="24917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110 min</a:t>
            </a:r>
            <a:endParaRPr lang="en-US" sz="2000" dirty="0"/>
          </a:p>
        </p:txBody>
      </p:sp>
      <p:sp>
        <p:nvSpPr>
          <p:cNvPr id="46" name="Shape 44"/>
          <p:cNvSpPr/>
          <p:nvPr/>
        </p:nvSpPr>
        <p:spPr>
          <a:xfrm>
            <a:off x="8837676" y="4297680"/>
            <a:ext cx="2747772" cy="571500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965692" y="4343400"/>
            <a:ext cx="24917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</a:t>
            </a:r>
            <a:endParaRPr lang="en-US" sz="2000" dirty="0"/>
          </a:p>
        </p:txBody>
      </p:sp>
      <p:sp>
        <p:nvSpPr>
          <p:cNvPr id="48" name="Shape 46"/>
          <p:cNvSpPr/>
          <p:nvPr/>
        </p:nvSpPr>
        <p:spPr>
          <a:xfrm>
            <a:off x="594360" y="4869180"/>
            <a:ext cx="2747772" cy="571500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22376" y="4914900"/>
            <a:ext cx="24917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S5 · livrer</a:t>
            </a:r>
            <a:endParaRPr lang="en-US" sz="2000" dirty="0"/>
          </a:p>
        </p:txBody>
      </p:sp>
      <p:sp>
        <p:nvSpPr>
          <p:cNvPr id="50" name="Shape 48"/>
          <p:cNvSpPr/>
          <p:nvPr/>
        </p:nvSpPr>
        <p:spPr>
          <a:xfrm>
            <a:off x="3342132" y="4869180"/>
            <a:ext cx="2747772" cy="571500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470148" y="4914900"/>
            <a:ext cx="24917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min</a:t>
            </a:r>
            <a:endParaRPr lang="en-US" sz="2000" dirty="0"/>
          </a:p>
        </p:txBody>
      </p:sp>
      <p:sp>
        <p:nvSpPr>
          <p:cNvPr id="52" name="Shape 50"/>
          <p:cNvSpPr/>
          <p:nvPr/>
        </p:nvSpPr>
        <p:spPr>
          <a:xfrm>
            <a:off x="6089904" y="4869180"/>
            <a:ext cx="2747772" cy="571500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217920" y="4914900"/>
            <a:ext cx="24917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155 min</a:t>
            </a:r>
            <a:endParaRPr lang="en-US" sz="2000" dirty="0"/>
          </a:p>
        </p:txBody>
      </p:sp>
      <p:sp>
        <p:nvSpPr>
          <p:cNvPr id="54" name="Shape 52"/>
          <p:cNvSpPr/>
          <p:nvPr/>
        </p:nvSpPr>
        <p:spPr>
          <a:xfrm>
            <a:off x="8837676" y="4869180"/>
            <a:ext cx="2747772" cy="571500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965692" y="4914900"/>
            <a:ext cx="24917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</a:t>
            </a:r>
            <a:endParaRPr lang="en-US" sz="2000" dirty="0"/>
          </a:p>
        </p:txBody>
      </p:sp>
      <p:sp>
        <p:nvSpPr>
          <p:cNvPr id="56" name="Shape 54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: 255 min concepts + 595 min pratique + 50 min pause. Hors pauses : 30 % / 70 %.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15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3383280"/>
            <a:ext cx="5303520" cy="530352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pic>
        <p:nvPicPr>
          <p:cNvPr id="3" name="Image 0" descr="Logo fourni : Leaders Universit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29216" y="548640"/>
            <a:ext cx="1783080" cy="17830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85800" y="621792"/>
            <a:ext cx="8430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110" kern="0" dirty="0">
                <a:solidFill>
                  <a:srgbClr val="FF9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· S1 · DÉMARRER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685800" y="1517904"/>
            <a:ext cx="8595360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 · Je peux commencer</a:t>
            </a:r>
            <a:endParaRPr lang="en-US" sz="4300" dirty="0"/>
          </a:p>
        </p:txBody>
      </p:sp>
      <p:sp>
        <p:nvSpPr>
          <p:cNvPr id="6" name="Text 3"/>
          <p:cNvSpPr/>
          <p:nvPr/>
        </p:nvSpPr>
        <p:spPr>
          <a:xfrm>
            <a:off x="713232" y="3794760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Victoire : trouver les fichiers, guider Codex et expliquer une vente.</a:t>
            </a:r>
            <a:endParaRPr lang="en-US" sz="2500" dirty="0"/>
          </a:p>
        </p:txBody>
      </p:sp>
      <p:sp>
        <p:nvSpPr>
          <p:cNvPr id="7" name="Text 4"/>
          <p:cNvSpPr/>
          <p:nvPr/>
        </p:nvSpPr>
        <p:spPr>
          <a:xfrm>
            <a:off x="713232" y="5111496"/>
            <a:ext cx="22860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9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h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3154680" y="5230368"/>
            <a:ext cx="7223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petite victoire · des preuves visibles</a:t>
            </a:r>
            <a:endParaRPr lang="en-US" sz="2300" dirty="0"/>
          </a:p>
        </p:txBody>
      </p:sp>
      <p:sp>
        <p:nvSpPr>
          <p:cNvPr id="9" name="Text 6"/>
          <p:cNvSpPr/>
          <p:nvPr/>
        </p:nvSpPr>
        <p:spPr>
          <a:xfrm>
            <a:off x="731520" y="62453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 · DÉMARRER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Votre séance 1 · 180 minutes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04088" y="2011680"/>
            <a:ext cx="438912" cy="438912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04088" y="20116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371600" y="2002536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0–60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3246120" y="1938528"/>
            <a:ext cx="8183880" cy="585216"/>
          </a:xfrm>
          <a:prstGeom prst="roundRect">
            <a:avLst>
              <a:gd name="adj" fmla="val 18750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56432" y="2020824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+ prise en main du poste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9235440" y="2020824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T / 40 P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704088" y="2697480"/>
            <a:ext cx="438912" cy="438912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4088" y="26974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371600" y="2688336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60–105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3246120" y="2624328"/>
            <a:ext cx="8183880" cy="585216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56432" y="2706624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Instructions + petit plan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9235440" y="2706624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T / 30 P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704088" y="3383280"/>
            <a:ext cx="438912" cy="438912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4088" y="33832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371600" y="3374136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105–115</a:t>
            </a:r>
            <a:endParaRPr lang="en-US" sz="2100" dirty="0"/>
          </a:p>
        </p:txBody>
      </p:sp>
      <p:sp>
        <p:nvSpPr>
          <p:cNvPr id="23" name="Shape 21"/>
          <p:cNvSpPr/>
          <p:nvPr/>
        </p:nvSpPr>
        <p:spPr>
          <a:xfrm>
            <a:off x="3246120" y="3310128"/>
            <a:ext cx="8183880" cy="585216"/>
          </a:xfrm>
          <a:prstGeom prst="roundRect">
            <a:avLst>
              <a:gd name="adj" fmla="val 18750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56432" y="3392424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9235440" y="3392424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704088" y="4069080"/>
            <a:ext cx="438912" cy="438912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04088" y="40690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371600" y="4059936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115–155</a:t>
            </a:r>
            <a:endParaRPr lang="en-US" sz="2100" dirty="0"/>
          </a:p>
        </p:txBody>
      </p:sp>
      <p:sp>
        <p:nvSpPr>
          <p:cNvPr id="29" name="Shape 27"/>
          <p:cNvSpPr/>
          <p:nvPr/>
        </p:nvSpPr>
        <p:spPr>
          <a:xfrm>
            <a:off x="3246120" y="3995928"/>
            <a:ext cx="8183880" cy="585216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56432" y="4078224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Contexte + première vente</a:t>
            </a:r>
            <a:endParaRPr lang="en-US" sz="2100" dirty="0"/>
          </a:p>
        </p:txBody>
      </p:sp>
      <p:sp>
        <p:nvSpPr>
          <p:cNvPr id="31" name="Text 29"/>
          <p:cNvSpPr/>
          <p:nvPr/>
        </p:nvSpPr>
        <p:spPr>
          <a:xfrm>
            <a:off x="9235440" y="4078224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T / 25 P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704088" y="4754880"/>
            <a:ext cx="438912" cy="438912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04088" y="47548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1371600" y="4745736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155–180</a:t>
            </a:r>
            <a:endParaRPr lang="en-US" sz="2100" dirty="0"/>
          </a:p>
        </p:txBody>
      </p:sp>
      <p:sp>
        <p:nvSpPr>
          <p:cNvPr id="35" name="Shape 33"/>
          <p:cNvSpPr/>
          <p:nvPr/>
        </p:nvSpPr>
        <p:spPr>
          <a:xfrm>
            <a:off x="3246120" y="4681728"/>
            <a:ext cx="8183880" cy="585216"/>
          </a:xfrm>
          <a:prstGeom prst="roundRect">
            <a:avLst>
              <a:gd name="adj" fmla="val 18750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456432" y="4764024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Vérifier + préparer la reprise</a:t>
            </a:r>
            <a:endParaRPr lang="en-US" sz="2100" dirty="0"/>
          </a:p>
        </p:txBody>
      </p:sp>
      <p:sp>
        <p:nvSpPr>
          <p:cNvPr id="37" name="Text 35"/>
          <p:cNvSpPr/>
          <p:nvPr/>
        </p:nvSpPr>
        <p:spPr>
          <a:xfrm>
            <a:off x="9235440" y="4764024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T / 15 P</a:t>
            </a:r>
            <a:endParaRPr lang="en-US" sz="2000" dirty="0"/>
          </a:p>
        </p:txBody>
      </p:sp>
      <p:sp>
        <p:nvSpPr>
          <p:cNvPr id="38" name="Shape 36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 = concepts et démonstrations · P = vous manipulez, cherchez et expliquez.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 · DÉMARRER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Codex : de la réponse à l’action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95528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5528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95528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modèle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795528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Produit une réponse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partir d’un contexte.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4349496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50664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50664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550664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agent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4550664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Associe un modèle à des outils 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lire, modifier, exécuter.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8104632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305800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05800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305800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Votre rôle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8305800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Définir la tâche, les limites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 les preuves attendues.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Codex est un agent de programmation d’OpenAI : nous l’utilisons pour adapter et vérifier de petits scripts.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 · DÉMARRER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conversation et un travail d’agent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2075688"/>
            <a:ext cx="5138928" cy="3264408"/>
          </a:xfrm>
          <a:prstGeom prst="roundRect">
            <a:avLst>
              <a:gd name="adj" fmla="val 3361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37376" y="2075688"/>
            <a:ext cx="5138928" cy="3264408"/>
          </a:xfrm>
          <a:prstGeom prst="roundRect">
            <a:avLst>
              <a:gd name="adj" fmla="val 3361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32104" y="2295144"/>
            <a:ext cx="4654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CONVERSATION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32104" y="2907792"/>
            <a:ext cx="4654296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Comment nettoyer</a:t>
            </a:r>
            <a:endParaRPr lang="en-US" sz="2600" dirty="0"/>
          </a:p>
          <a:p>
            <a:pPr indent="0" marL="0">
              <a:buNone/>
            </a:pPr>
            <a:r>
              <a:rPr lang="en-US" sz="26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code boutique ? »</a:t>
            </a:r>
            <a:endParaRPr lang="en-US" sz="2600" dirty="0"/>
          </a:p>
          <a:p>
            <a:pPr indent="0" marL="0">
              <a:buNone/>
            </a:pPr>
            <a:endParaRPr lang="en-US" sz="2600" dirty="0"/>
          </a:p>
          <a:p>
            <a:pPr indent="0" marL="0">
              <a:buNone/>
            </a:pPr>
            <a:r>
              <a:rPr lang="en-US" sz="26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lisez une explication.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6675120" y="2295144"/>
            <a:ext cx="4654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DANS LE DOSSIER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675120" y="2907792"/>
            <a:ext cx="4654296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Lis ce fichier. Propose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petit changement.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Exécute le contrôle. »</a:t>
            </a:r>
            <a:endParaRPr lang="en-US" sz="2600" dirty="0"/>
          </a:p>
        </p:txBody>
      </p:sp>
      <p:sp>
        <p:nvSpPr>
          <p:cNvPr id="14" name="Shape 12"/>
          <p:cNvSpPr/>
          <p:nvPr/>
        </p:nvSpPr>
        <p:spPr>
          <a:xfrm>
            <a:off x="5833872" y="3703320"/>
            <a:ext cx="493776" cy="0"/>
          </a:xfrm>
          <a:prstGeom prst="line">
            <a:avLst/>
          </a:prstGeom>
          <a:noFill/>
          <a:ln w="38100">
            <a:solidFill>
              <a:srgbClr val="FF9A3C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action dépend des outils et permissions disponibles. Lire le résultat reste votre travail.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Une correction revient au contrôle, puis à la revu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382448"/>
            <a:ext cx="11731752" cy="527928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94360" y="91440"/>
            <a:ext cx="10698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 · DÉMARRER</a:t>
            </a:r>
            <a:endParaRPr lang="en-US" sz="1000" dirty="0"/>
          </a:p>
        </p:txBody>
      </p:sp>
      <p:sp>
        <p:nvSpPr>
          <p:cNvPr id="4" name="Shape 1"/>
          <p:cNvSpPr/>
          <p:nvPr/>
        </p:nvSpPr>
        <p:spPr>
          <a:xfrm>
            <a:off x="594360" y="5824728"/>
            <a:ext cx="10991088" cy="502920"/>
          </a:xfrm>
          <a:prstGeom prst="roundRect">
            <a:avLst>
              <a:gd name="adj" fmla="val 2181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77240" y="5852160"/>
            <a:ext cx="106253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Planifier → agir → tester → relire → corriger → relire à nouveau.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 · DÉMARRER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parcours gratuit à vérifier sur votre poste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95528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5528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95528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795528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Ouvrir l’application de bureau,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choisir Codex puis New chat.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4349496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50664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50664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550664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Offre Free annoncée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4550664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GPT-6 Luna · vitesse Standard.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Présence selon déploiement.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8104632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305800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05800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305800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Observer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8305800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Noter le modèle et les options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réellement visibles.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Codex n’apparaît pas, prévenir le professeur. Lire les données aide, mais ne valide pas la manipulation Codex.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odex est une fenêtre Windows ; son agent utilise Ubuntu dans WSL2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5239" y="320040"/>
            <a:ext cx="9198475" cy="540410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94360" y="91440"/>
            <a:ext cx="10698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 · DÉMARRER</a:t>
            </a:r>
            <a:endParaRPr lang="en-US" sz="1000" dirty="0"/>
          </a:p>
        </p:txBody>
      </p:sp>
      <p:sp>
        <p:nvSpPr>
          <p:cNvPr id="4" name="Shape 1"/>
          <p:cNvSpPr/>
          <p:nvPr/>
        </p:nvSpPr>
        <p:spPr>
          <a:xfrm>
            <a:off x="594360" y="5824728"/>
            <a:ext cx="10991088" cy="502920"/>
          </a:xfrm>
          <a:prstGeom prst="roundRect">
            <a:avLst>
              <a:gd name="adj" fmla="val 2181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77240" y="5852160"/>
            <a:ext cx="106253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 : agent WSL2 + Python dans Ubuntu ; Power BI Desktop sur l’hôte Windows.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 · DÉMARRER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 Ubuntu : une route, puis un relais Windows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95528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5528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95528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Codex Linux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795528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 Linux en preview 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Ubuntu 24.04 ou 26.04 LTS.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4349496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50664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50664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550664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ETL local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4550664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terminal Ubuntu lance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et SQLite.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8104632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305800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05800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305800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 BI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8305800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Transférer le paquet complet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 poste Windows du groupe.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poste Windows doit être disponible dès S4. La connexion et les installations se vérifient en salle.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 · DÉMARRER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Reconnaître les trois endroits où travailler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2103120"/>
            <a:ext cx="3456432" cy="3182112"/>
          </a:xfrm>
          <a:prstGeom prst="roundRect">
            <a:avLst>
              <a:gd name="adj" fmla="val 344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56816" y="2350008"/>
            <a:ext cx="731520" cy="73152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956816" y="235000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813816" y="3346704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FICHIERS</a:t>
            </a:r>
            <a:endParaRPr lang="en-US" sz="2300" dirty="0"/>
          </a:p>
        </p:txBody>
      </p:sp>
      <p:sp>
        <p:nvSpPr>
          <p:cNvPr id="12" name="Text 10"/>
          <p:cNvSpPr/>
          <p:nvPr/>
        </p:nvSpPr>
        <p:spPr>
          <a:xfrm>
            <a:off x="813816" y="400507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data/ventes_initiales.csv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13816" y="46634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 trouve les entrées.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4361688" y="2103120"/>
            <a:ext cx="3456432" cy="3182112"/>
          </a:xfrm>
          <a:prstGeom prst="roundRect">
            <a:avLst>
              <a:gd name="adj" fmla="val 344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724144" y="2350008"/>
            <a:ext cx="731520" cy="731520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724144" y="235000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4581144" y="3346704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</a:t>
            </a:r>
            <a:endParaRPr lang="en-US" sz="2300" dirty="0"/>
          </a:p>
        </p:txBody>
      </p:sp>
      <p:sp>
        <p:nvSpPr>
          <p:cNvPr id="18" name="Text 16"/>
          <p:cNvSpPr/>
          <p:nvPr/>
        </p:nvSpPr>
        <p:spPr>
          <a:xfrm>
            <a:off x="4581144" y="400507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executer.py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581144" y="46634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 lance une commande.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8129016" y="2103120"/>
            <a:ext cx="3456432" cy="3182112"/>
          </a:xfrm>
          <a:prstGeom prst="roundRect">
            <a:avLst>
              <a:gd name="adj" fmla="val 344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491472" y="2350008"/>
            <a:ext cx="731520" cy="73152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491472" y="235000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8348472" y="3346704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ÉDITEUR</a:t>
            </a:r>
            <a:endParaRPr lang="en-US" sz="2300" dirty="0"/>
          </a:p>
        </p:txBody>
      </p:sp>
      <p:sp>
        <p:nvSpPr>
          <p:cNvPr id="24" name="Text 22"/>
          <p:cNvSpPr/>
          <p:nvPr/>
        </p:nvSpPr>
        <p:spPr>
          <a:xfrm>
            <a:off x="8348472" y="400507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AGENTS.md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8348472" y="46634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J’écris et j’enregistre.</a:t>
            </a:r>
            <a:endParaRPr lang="en-US" sz="2100" dirty="0"/>
          </a:p>
        </p:txBody>
      </p:sp>
      <p:sp>
        <p:nvSpPr>
          <p:cNvPr id="26" name="Shape 24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dossier courant indique où une commande cherche les fichiers. Enregistrer avant d’exécuter.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es sources se lisent ; votre copie de travail se construi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8260" y="320040"/>
            <a:ext cx="10172431" cy="540410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94360" y="91440"/>
            <a:ext cx="10698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 · DÉMARRER</a:t>
            </a:r>
            <a:endParaRPr lang="en-US" sz="1000" dirty="0"/>
          </a:p>
        </p:txBody>
      </p:sp>
      <p:sp>
        <p:nvSpPr>
          <p:cNvPr id="4" name="Shape 1"/>
          <p:cNvSpPr/>
          <p:nvPr/>
        </p:nvSpPr>
        <p:spPr>
          <a:xfrm>
            <a:off x="594360" y="5824728"/>
            <a:ext cx="10991088" cy="502920"/>
          </a:xfrm>
          <a:prstGeom prst="roundRect">
            <a:avLst>
              <a:gd name="adj" fmla="val 2181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77240" y="5852160"/>
            <a:ext cx="106253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Ouvrir la racine du cours dans Codex ; exécuter les étapes dans atelier/.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 · DÉMARRER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Premier prompt : lire avant de modifier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1993392"/>
            <a:ext cx="7452360" cy="3456432"/>
          </a:xfrm>
          <a:prstGeom prst="roundRect">
            <a:avLst>
              <a:gd name="adj" fmla="val 3175"/>
            </a:avLst>
          </a:prstGeom>
          <a:solidFill>
            <a:srgbClr val="07152F"/>
          </a:solidFill>
          <a:ln w="8890">
            <a:solidFill>
              <a:srgbClr val="07152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0392" y="2240280"/>
            <a:ext cx="6940296" cy="290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 AGENTS.md et data/ventes_initiales.csv.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Explique ce que décrit une ligne.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Propose un plan de trois étapes.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 modifie aucun fichier.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302752" y="2121408"/>
            <a:ext cx="429768" cy="42976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02752" y="2121408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851392" y="2075688"/>
            <a:ext cx="27249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Vérifier le dossier et les chemins.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8302752" y="3163824"/>
            <a:ext cx="429768" cy="42976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02752" y="3163824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851392" y="3118104"/>
            <a:ext cx="27249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Lire le plan : est-il petit et clair ?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8302752" y="4206240"/>
            <a:ext cx="429768" cy="42976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02752" y="4206240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851392" y="4160520"/>
            <a:ext cx="27249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Reformuler une étape avec vos mots.</a:t>
            </a:r>
            <a:endParaRPr lang="en-US" sz="1900" dirty="0"/>
          </a:p>
        </p:txBody>
      </p:sp>
      <p:sp>
        <p:nvSpPr>
          <p:cNvPr id="19" name="Shape 17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Envoyer depuis la copie de travail atelier/. Si le fichier manque, vérifier le dossier courant.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 · DÉMARRER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AGENTS.md : garder les règles du projet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1993392"/>
            <a:ext cx="7452360" cy="3456432"/>
          </a:xfrm>
          <a:prstGeom prst="roundRect">
            <a:avLst>
              <a:gd name="adj" fmla="val 3175"/>
            </a:avLst>
          </a:prstGeom>
          <a:solidFill>
            <a:srgbClr val="07152F"/>
          </a:solidFill>
          <a:ln w="8890">
            <a:solidFill>
              <a:srgbClr val="07152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0392" y="2240280"/>
            <a:ext cx="6940296" cy="290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Explique en français simple.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Travaille une mission à la fois.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 change pas les sources.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Garde les montants en millimes entiers.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Montre la commande et son résultat.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 cache pas un écart.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302752" y="2121408"/>
            <a:ext cx="429768" cy="42976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02752" y="2121408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851392" y="2075688"/>
            <a:ext cx="27249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Compléter l’amorce fournie.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8302752" y="3163824"/>
            <a:ext cx="429768" cy="42976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02752" y="3163824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851392" y="3118104"/>
            <a:ext cx="27249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Ajouter une règle utile au groupe.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8302752" y="4206240"/>
            <a:ext cx="429768" cy="42976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02752" y="4206240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851392" y="4160520"/>
            <a:ext cx="27249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Demander à Codex de citer la règle.</a:t>
            </a:r>
            <a:endParaRPr lang="en-US" sz="1900" dirty="0"/>
          </a:p>
        </p:txBody>
      </p:sp>
      <p:sp>
        <p:nvSpPr>
          <p:cNvPr id="19" name="Shape 17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AGENTS.md donne des consignes durables au dossier ; vos demandes précisent la tâche du moment.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 · DÉMARRER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vous · 30 min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13232" y="2039112"/>
            <a:ext cx="1060704" cy="1060704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2039112"/>
            <a:ext cx="1060704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VOUS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075688" y="2057400"/>
            <a:ext cx="90708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Donner une petite mission, puis améliorer le prompt.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749808" y="3383280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3383280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417320" y="3364992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Compléter AGENTS.md sans demander de code complet.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49808" y="4096512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" y="4096512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417320" y="4078224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Demander le plan en trois étapes, sans modifier les ventes.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749808" y="4809744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9808" y="4809744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417320" y="4791456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Repérer une phrase imprécise et la remplacer.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Preuve : votre règle ajoutée + votre prompt avant/après + le plan retenu.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3F5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1188720"/>
            <a:ext cx="2011680" cy="201168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1188720"/>
            <a:ext cx="2011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914400" y="335584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MINUTES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291840" y="150876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 · 10 minutes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3291840" y="2743200"/>
            <a:ext cx="7543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Enregistrez votre fichier et votre prochaine action.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Reprenez à la première vente.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777240" y="62179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 · DÉMARRER · prochaine étape sauvegardée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e contexte informe la réponse ; le quota autorise l’usage du compt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0098" y="320040"/>
            <a:ext cx="11528755" cy="540410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94360" y="91440"/>
            <a:ext cx="10698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 · DÉMARRER</a:t>
            </a:r>
            <a:endParaRPr lang="en-US" sz="1000" dirty="0"/>
          </a:p>
        </p:txBody>
      </p:sp>
      <p:sp>
        <p:nvSpPr>
          <p:cNvPr id="4" name="Shape 1"/>
          <p:cNvSpPr/>
          <p:nvPr/>
        </p:nvSpPr>
        <p:spPr>
          <a:xfrm>
            <a:off x="594360" y="5824728"/>
            <a:ext cx="10991088" cy="502920"/>
          </a:xfrm>
          <a:prstGeom prst="roundRect">
            <a:avLst>
              <a:gd name="adj" fmla="val 2181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77240" y="5852160"/>
            <a:ext cx="106253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résumé peut alléger une reprise. Il ne remet pas le quota à zéro.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tandard désigne la vitesse ; l’effort désigne la réflexio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9822" y="320040"/>
            <a:ext cx="11229307" cy="540410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94360" y="91440"/>
            <a:ext cx="10698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 · DÉMARRER</a:t>
            </a:r>
            <a:endParaRPr lang="en-US" sz="1000" dirty="0"/>
          </a:p>
        </p:txBody>
      </p:sp>
      <p:sp>
        <p:nvSpPr>
          <p:cNvPr id="4" name="Shape 1"/>
          <p:cNvSpPr/>
          <p:nvPr/>
        </p:nvSpPr>
        <p:spPr>
          <a:xfrm>
            <a:off x="594360" y="5824728"/>
            <a:ext cx="10991088" cy="502920"/>
          </a:xfrm>
          <a:prstGeom prst="roundRect">
            <a:avLst>
              <a:gd name="adj" fmla="val 2181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77240" y="5852160"/>
            <a:ext cx="106253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: Luna · Standard = vitesse. High conseillé si visible. Luna ne propose pas Ultra.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 · DÉMARRER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Première victoire : expliquer une vente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85800" y="2075688"/>
            <a:ext cx="5230368" cy="2148840"/>
          </a:xfrm>
          <a:prstGeom prst="roundRect">
            <a:avLst>
              <a:gd name="adj" fmla="val 5106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3317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Quantité × prix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914400" y="292608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× 4 500 = 9 000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914400" y="367588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millimes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281928" y="2075688"/>
            <a:ext cx="5230368" cy="2148840"/>
          </a:xfrm>
          <a:prstGeom prst="roundRect">
            <a:avLst>
              <a:gd name="adj" fmla="val 5106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10528" y="23317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Affichage en TND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510528" y="292608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9 000 ÷ 1 000 = 9,000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6510528" y="367588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TND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777240" y="452628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carnets à 4,500 TND → 9,000 TND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777240" y="512064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Prédire avant de lancer : que donneraient 3 carnets au même prix ?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multiplication et l’unité précèdent le code. 1 TND = 1 000 millimes.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 · DÉMARRER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vous · prédire, exécuter, comparer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13232" y="2039112"/>
            <a:ext cx="1060704" cy="1060704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2039112"/>
            <a:ext cx="1060704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VOUS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075688" y="2057400"/>
            <a:ext cx="90708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Montrer une preuve, puis préparer la reprise.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749808" y="3383280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3383280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417320" y="3364992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Repérer la vente, prédire son montant, lancer le calcul fourni.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49808" y="4096512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" y="4096512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417320" y="4078224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Noter le résultat observé et l’option modèle/effort visible.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749808" y="4809744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9808" y="4809744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417320" y="4791456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Écrire dans SUIVI.md : fait, preuve, problème, prochaine action.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Quota atteint : continuer le calcul et les contrôles locaux ; noter « agent indisponible ».</a:t>
            </a:r>
            <a:endParaRPr lang="en-US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 · DÉMARRER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ce stade, je sais…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95528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5528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95528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 me repère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795528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 montre mes fichiers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 mon terminal.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4349496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50664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50664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550664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 dirige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4550664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 limite une demande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 les fichiers modifiables.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8104632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305800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05800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305800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 vérifie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8305800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J’explique 9,000 TND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sans relire Codex.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Sortie S1 : règles locales, prompt amélioré, calcul vérifié et reprise courte.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715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3383280"/>
            <a:ext cx="5303520" cy="530352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pic>
        <p:nvPicPr>
          <p:cNvPr id="3" name="Image 0" descr="Logo fourni : Leaders Universit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29216" y="548640"/>
            <a:ext cx="1783080" cy="17830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85800" y="621792"/>
            <a:ext cx="8430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110" kern="0" dirty="0">
                <a:solidFill>
                  <a:srgbClr val="FF9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· S2 · FIABILISER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685800" y="1517904"/>
            <a:ext cx="8595360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 · Je rends les ventes fiables</a:t>
            </a:r>
            <a:endParaRPr lang="en-US" sz="4300" dirty="0"/>
          </a:p>
        </p:txBody>
      </p:sp>
      <p:sp>
        <p:nvSpPr>
          <p:cNvPr id="6" name="Text 3"/>
          <p:cNvSpPr/>
          <p:nvPr/>
        </p:nvSpPr>
        <p:spPr>
          <a:xfrm>
            <a:off x="713232" y="3794760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Victoire : expliquer les écarts, lire CSV et SQL, dessiner l’étoile.</a:t>
            </a:r>
            <a:endParaRPr lang="en-US" sz="2500" dirty="0"/>
          </a:p>
        </p:txBody>
      </p:sp>
      <p:sp>
        <p:nvSpPr>
          <p:cNvPr id="7" name="Text 4"/>
          <p:cNvSpPr/>
          <p:nvPr/>
        </p:nvSpPr>
        <p:spPr>
          <a:xfrm>
            <a:off x="713232" y="5111496"/>
            <a:ext cx="22860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9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h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3154680" y="5230368"/>
            <a:ext cx="7223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petite victoire · des preuves visibles</a:t>
            </a:r>
            <a:endParaRPr lang="en-US" sz="2300" dirty="0"/>
          </a:p>
        </p:txBody>
      </p:sp>
      <p:sp>
        <p:nvSpPr>
          <p:cNvPr id="9" name="Text 6"/>
          <p:cNvSpPr/>
          <p:nvPr/>
        </p:nvSpPr>
        <p:spPr>
          <a:xfrm>
            <a:off x="731520" y="62453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 · FIABILISER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Votre séance 2 · 180 minutes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04088" y="2011680"/>
            <a:ext cx="438912" cy="438912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04088" y="20116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371600" y="2002536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0–40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3246120" y="1938528"/>
            <a:ext cx="8183880" cy="585216"/>
          </a:xfrm>
          <a:prstGeom prst="roundRect">
            <a:avLst>
              <a:gd name="adj" fmla="val 18750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56432" y="2020824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Prédire le sort des lignes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9235440" y="2020824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T / 25 P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704088" y="2697480"/>
            <a:ext cx="438912" cy="438912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4088" y="26974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371600" y="2688336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40–85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3246120" y="2624328"/>
            <a:ext cx="8183880" cy="585216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56432" y="2706624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Petit nettoyage Python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9235440" y="2706624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T / 30 P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704088" y="3383280"/>
            <a:ext cx="438912" cy="438912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4088" y="33832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371600" y="3374136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85–95</a:t>
            </a:r>
            <a:endParaRPr lang="en-US" sz="2100" dirty="0"/>
          </a:p>
        </p:txBody>
      </p:sp>
      <p:sp>
        <p:nvSpPr>
          <p:cNvPr id="23" name="Shape 21"/>
          <p:cNvSpPr/>
          <p:nvPr/>
        </p:nvSpPr>
        <p:spPr>
          <a:xfrm>
            <a:off x="3246120" y="3310128"/>
            <a:ext cx="8183880" cy="585216"/>
          </a:xfrm>
          <a:prstGeom prst="roundRect">
            <a:avLst>
              <a:gd name="adj" fmla="val 18750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56432" y="3392424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9235440" y="3392424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704088" y="4069080"/>
            <a:ext cx="438912" cy="438912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04088" y="40690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371600" y="4059936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95–140</a:t>
            </a:r>
            <a:endParaRPr lang="en-US" sz="2100" dirty="0"/>
          </a:p>
        </p:txBody>
      </p:sp>
      <p:sp>
        <p:nvSpPr>
          <p:cNvPr id="29" name="Shape 27"/>
          <p:cNvSpPr/>
          <p:nvPr/>
        </p:nvSpPr>
        <p:spPr>
          <a:xfrm>
            <a:off x="3246120" y="3995928"/>
            <a:ext cx="8183880" cy="585216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56432" y="4078224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CSV, vraie extraction SQL</a:t>
            </a:r>
            <a:endParaRPr lang="en-US" sz="2100" dirty="0"/>
          </a:p>
        </p:txBody>
      </p:sp>
      <p:sp>
        <p:nvSpPr>
          <p:cNvPr id="31" name="Text 29"/>
          <p:cNvSpPr/>
          <p:nvPr/>
        </p:nvSpPr>
        <p:spPr>
          <a:xfrm>
            <a:off x="9235440" y="4078224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T / 30 P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704088" y="4754880"/>
            <a:ext cx="438912" cy="438912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04088" y="47548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1371600" y="4745736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140–180</a:t>
            </a:r>
            <a:endParaRPr lang="en-US" sz="2100" dirty="0"/>
          </a:p>
        </p:txBody>
      </p:sp>
      <p:sp>
        <p:nvSpPr>
          <p:cNvPr id="35" name="Shape 33"/>
          <p:cNvSpPr/>
          <p:nvPr/>
        </p:nvSpPr>
        <p:spPr>
          <a:xfrm>
            <a:off x="3246120" y="4681728"/>
            <a:ext cx="8183880" cy="585216"/>
          </a:xfrm>
          <a:prstGeom prst="roundRect">
            <a:avLst>
              <a:gd name="adj" fmla="val 18750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456432" y="4764024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Fait, dimensions et clés</a:t>
            </a:r>
            <a:endParaRPr lang="en-US" sz="2100" dirty="0"/>
          </a:p>
        </p:txBody>
      </p:sp>
      <p:sp>
        <p:nvSpPr>
          <p:cNvPr id="37" name="Text 35"/>
          <p:cNvSpPr/>
          <p:nvPr/>
        </p:nvSpPr>
        <p:spPr>
          <a:xfrm>
            <a:off x="9235440" y="4764024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T / 25 P</a:t>
            </a:r>
            <a:endParaRPr lang="en-US" sz="2000" dirty="0"/>
          </a:p>
        </p:txBody>
      </p:sp>
      <p:sp>
        <p:nvSpPr>
          <p:cNvPr id="38" name="Shape 36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code est amorcé. Vous adaptez une petite partie et expliquez ses effets.</a:t>
            </a:r>
            <a:endParaRPr lang="en-US" sz="1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 · FIABILISER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ligne raconte une vente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7240" y="2057400"/>
            <a:ext cx="10607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LIGNE = UNE VENTE ÉLÉMENTAIRE</a:t>
            </a:r>
            <a:endParaRPr lang="en-US" sz="2500" dirty="0"/>
          </a:p>
        </p:txBody>
      </p:sp>
      <p:sp>
        <p:nvSpPr>
          <p:cNvPr id="9" name="Shape 7"/>
          <p:cNvSpPr/>
          <p:nvPr/>
        </p:nvSpPr>
        <p:spPr>
          <a:xfrm>
            <a:off x="594360" y="2816352"/>
            <a:ext cx="2542032" cy="1755648"/>
          </a:xfrm>
          <a:prstGeom prst="roundRect">
            <a:avLst>
              <a:gd name="adj" fmla="val 6250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3063240"/>
            <a:ext cx="2176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QUOI ?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777240" y="3703320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P01 · Carnet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3410712" y="2816352"/>
            <a:ext cx="2542032" cy="1755648"/>
          </a:xfrm>
          <a:prstGeom prst="roundRect">
            <a:avLst>
              <a:gd name="adj" fmla="val 6250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93592" y="3063240"/>
            <a:ext cx="2176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OÙ ?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3593592" y="3703320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NBE · Nabeul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6227064" y="2816352"/>
            <a:ext cx="2542032" cy="1755648"/>
          </a:xfrm>
          <a:prstGeom prst="roundRect">
            <a:avLst>
              <a:gd name="adj" fmla="val 6250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9944" y="3063240"/>
            <a:ext cx="2176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 ?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6409944" y="3703320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05/01/2026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9043416" y="2816352"/>
            <a:ext cx="2542032" cy="1755648"/>
          </a:xfrm>
          <a:prstGeom prst="roundRect">
            <a:avLst>
              <a:gd name="adj" fmla="val 6250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226296" y="3063240"/>
            <a:ext cx="2176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COMBIEN ?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9226296" y="3703320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unités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777240" y="4901184"/>
            <a:ext cx="484632" cy="484632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" y="4901184"/>
            <a:ext cx="484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517904" y="4910328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S001 : stable même quand le fichier est rejoué.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sale_id identifie une vente élémentaire. Ce n’est ni le nombre de clients ni un ticket complet.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haque ligne brute a une destination explicabl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5945" y="320040"/>
            <a:ext cx="11377061" cy="540410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94360" y="91440"/>
            <a:ext cx="10698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 · FIABILISER</a:t>
            </a:r>
            <a:endParaRPr lang="en-US" sz="1000" dirty="0"/>
          </a:p>
        </p:txBody>
      </p:sp>
      <p:sp>
        <p:nvSpPr>
          <p:cNvPr id="4" name="Shape 1"/>
          <p:cNvSpPr/>
          <p:nvPr/>
        </p:nvSpPr>
        <p:spPr>
          <a:xfrm>
            <a:off x="594360" y="5824728"/>
            <a:ext cx="10991088" cy="502920"/>
          </a:xfrm>
          <a:prstGeom prst="roundRect">
            <a:avLst>
              <a:gd name="adj" fmla="val 2181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77240" y="5852160"/>
            <a:ext cx="106253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lignes = 12 ventes acceptées + 1 doublon identique + 3 rejets.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 · FIABILISER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Décider avant de coder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2011680"/>
            <a:ext cx="3175203" cy="667512"/>
          </a:xfrm>
          <a:prstGeom prst="rect">
            <a:avLst/>
          </a:prstGeom>
          <a:solidFill>
            <a:srgbClr val="2B3180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2376" y="2057400"/>
            <a:ext cx="2919171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Exemple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3769563" y="2011680"/>
            <a:ext cx="3663696" cy="667512"/>
          </a:xfrm>
          <a:prstGeom prst="rect">
            <a:avLst/>
          </a:prstGeom>
          <a:solidFill>
            <a:srgbClr val="2B3180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97579" y="2057400"/>
            <a:ext cx="340766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7433259" y="2011680"/>
            <a:ext cx="4152189" cy="667512"/>
          </a:xfrm>
          <a:prstGeom prst="rect">
            <a:avLst/>
          </a:prstGeom>
          <a:solidFill>
            <a:srgbClr val="2B3180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561275" y="2057400"/>
            <a:ext cx="3896157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Pourquoi ?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94360" y="2679192"/>
            <a:ext cx="3175203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2376" y="2724912"/>
            <a:ext cx="2919171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 nbe "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769563" y="2679192"/>
            <a:ext cx="3663696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97579" y="2724912"/>
            <a:ext cx="340766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Retirer espaces → NBE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7433259" y="2679192"/>
            <a:ext cx="4152189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61275" y="2724912"/>
            <a:ext cx="3896157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Même code, écriture différente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594360" y="3346704"/>
            <a:ext cx="3175203" cy="667512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22376" y="3392424"/>
            <a:ext cx="2919171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sale_id déjà vu, identique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3769563" y="3346704"/>
            <a:ext cx="3663696" cy="667512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897579" y="3392424"/>
            <a:ext cx="340766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Compter un doublon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7433259" y="3346704"/>
            <a:ext cx="4152189" cy="667512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561275" y="3392424"/>
            <a:ext cx="3896157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 pas compter deux fois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594360" y="4014216"/>
            <a:ext cx="3175203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22376" y="4059936"/>
            <a:ext cx="2919171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quantity = 0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3769563" y="4014216"/>
            <a:ext cx="3663696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897579" y="4059936"/>
            <a:ext cx="340766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Rejeter et expliquer</a:t>
            </a:r>
            <a:endParaRPr lang="en-US" sz="2000" dirty="0"/>
          </a:p>
        </p:txBody>
      </p:sp>
      <p:sp>
        <p:nvSpPr>
          <p:cNvPr id="30" name="Shape 28"/>
          <p:cNvSpPr/>
          <p:nvPr/>
        </p:nvSpPr>
        <p:spPr>
          <a:xfrm>
            <a:off x="7433259" y="4014216"/>
            <a:ext cx="4152189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561275" y="4059936"/>
            <a:ext cx="3896157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Règle : quantité positive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594360" y="4681728"/>
            <a:ext cx="3175203" cy="667512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22376" y="4727448"/>
            <a:ext cx="2919171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 impossible</a:t>
            </a:r>
            <a:endParaRPr lang="en-US" sz="2000" dirty="0"/>
          </a:p>
        </p:txBody>
      </p:sp>
      <p:sp>
        <p:nvSpPr>
          <p:cNvPr id="34" name="Shape 32"/>
          <p:cNvSpPr/>
          <p:nvPr/>
        </p:nvSpPr>
        <p:spPr>
          <a:xfrm>
            <a:off x="3769563" y="4681728"/>
            <a:ext cx="3663696" cy="667512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897579" y="4727448"/>
            <a:ext cx="340766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Rejeter et expliquer</a:t>
            </a:r>
            <a:endParaRPr lang="en-US" sz="2000" dirty="0"/>
          </a:p>
        </p:txBody>
      </p:sp>
      <p:sp>
        <p:nvSpPr>
          <p:cNvPr id="36" name="Shape 34"/>
          <p:cNvSpPr/>
          <p:nvPr/>
        </p:nvSpPr>
        <p:spPr>
          <a:xfrm>
            <a:off x="7433259" y="4681728"/>
            <a:ext cx="4152189" cy="667512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561275" y="4727448"/>
            <a:ext cx="3896157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Impossible de dater la vente</a:t>
            </a:r>
            <a:endParaRPr lang="en-US" sz="2000" dirty="0"/>
          </a:p>
        </p:txBody>
      </p:sp>
      <p:sp>
        <p:nvSpPr>
          <p:cNvPr id="38" name="Shape 36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Même sale_id, contenu différent : conflit à signaler. Ne jamais choisir une version au hasard.</a:t>
            </a:r>
            <a:endParaRPr lang="en-US" sz="1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 · FIABILISER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: une transformation minuscule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1993392"/>
            <a:ext cx="7452360" cy="3456432"/>
          </a:xfrm>
          <a:prstGeom prst="roundRect">
            <a:avLst>
              <a:gd name="adj" fmla="val 3175"/>
            </a:avLst>
          </a:prstGeom>
          <a:solidFill>
            <a:srgbClr val="07152F"/>
          </a:solidFill>
          <a:ln w="8890">
            <a:solidFill>
              <a:srgbClr val="07152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0392" y="2240280"/>
            <a:ext cx="6940296" cy="290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normaliser_code(texte):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espaces autour, puis majuscules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texte.strip().upper()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" nbe " devient "NBE"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302752" y="2121408"/>
            <a:ext cx="429768" cy="42976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02752" y="2121408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851392" y="2075688"/>
            <a:ext cx="27249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Lire le nom et l’entrée de la fonction.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8302752" y="3163824"/>
            <a:ext cx="429768" cy="42976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02752" y="3163824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851392" y="3118104"/>
            <a:ext cx="27249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Prédire le résultat de " tun ".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8302752" y="4206240"/>
            <a:ext cx="429768" cy="42976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02752" y="4206240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851392" y="4160520"/>
            <a:ext cx="27249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Modifier seulement l’amorce demandée.</a:t>
            </a:r>
            <a:endParaRPr lang="en-US" sz="1900" dirty="0"/>
          </a:p>
        </p:txBody>
      </p:sp>
      <p:sp>
        <p:nvSpPr>
          <p:cNvPr id="19" name="Shape 17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fonction reçoit une entrée et renvoie un résultat. Elle ne corrige pas toute la donnée à elle seule.</a:t>
            </a:r>
            <a:endParaRPr lang="en-US" sz="1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ire exactement le texte, puis stocker une quantité entièr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492433"/>
            <a:ext cx="11731752" cy="505931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94360" y="91440"/>
            <a:ext cx="10698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 · FIABILISER</a:t>
            </a:r>
            <a:endParaRPr lang="en-US" sz="1000" dirty="0"/>
          </a:p>
        </p:txBody>
      </p:sp>
      <p:sp>
        <p:nvSpPr>
          <p:cNvPr id="4" name="Shape 1"/>
          <p:cNvSpPr/>
          <p:nvPr/>
        </p:nvSpPr>
        <p:spPr>
          <a:xfrm>
            <a:off x="594360" y="5824728"/>
            <a:ext cx="10991088" cy="502920"/>
          </a:xfrm>
          <a:prstGeom prst="roundRect">
            <a:avLst>
              <a:gd name="adj" fmla="val 2181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77240" y="5852160"/>
            <a:ext cx="106253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4,500 TND = 4 500 millimes. Aucun arrondi silencieux pour masquer une mauvaise valeur.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 · FIABILISER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vous · 30 min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13232" y="2039112"/>
            <a:ext cx="1060704" cy="1060704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2039112"/>
            <a:ext cx="1060704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VOUS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075688" y="2057400"/>
            <a:ext cx="90708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Adapter le nettoyage, puis justifier chaque écart.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749808" y="3383280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3383280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417320" y="3364992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Demander à Codex un changement limité à la fonction indiquée.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49808" y="4096512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" y="4096512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417320" y="4078224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Exécuter le contrôle du jalon et lire le premier écart.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749808" y="4809744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9808" y="4809744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417320" y="4791456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Retrouver une ligne rejetée et expliquer sa raison.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Preuve attendue : 12 ventes, 32 unités, 99 000 millimes = 99,000 TND.</a:t>
            </a:r>
            <a:endParaRPr lang="en-US" sz="18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3F5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1188720"/>
            <a:ext cx="2011680" cy="201168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1188720"/>
            <a:ext cx="2011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914400" y="335584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MINUTES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291840" y="150876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 · 10 minutes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3291840" y="2743200"/>
            <a:ext cx="7543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Conservez le contrôle exécuté et sa sortie.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Reprenez aux deux types de sources.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777240" y="62179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 · FIABILISER · prochaine étape sauvegardée</a:t>
            </a:r>
            <a:endParaRPr lang="en-US" sz="1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 · FIABILISER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CSV et SQL : deux façons de lire une source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2075688"/>
            <a:ext cx="5138928" cy="3264408"/>
          </a:xfrm>
          <a:prstGeom prst="roundRect">
            <a:avLst>
              <a:gd name="adj" fmla="val 3361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37376" y="2075688"/>
            <a:ext cx="5138928" cy="3264408"/>
          </a:xfrm>
          <a:prstGeom prst="roundRect">
            <a:avLst>
              <a:gd name="adj" fmla="val 3361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32104" y="2295144"/>
            <a:ext cx="4654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FICHIER CSV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32104" y="2907792"/>
            <a:ext cx="4654296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texte avec en-têtes</a:t>
            </a:r>
            <a:endParaRPr lang="en-US" sz="2600" dirty="0"/>
          </a:p>
          <a:p>
            <a:pPr indent="0" marL="0">
              <a:buNone/>
            </a:pPr>
            <a:r>
              <a:rPr lang="en-US" sz="26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 lignes séparées.</a:t>
            </a:r>
            <a:endParaRPr lang="en-US" sz="2600" dirty="0"/>
          </a:p>
          <a:p>
            <a:pPr indent="0" marL="0">
              <a:buNone/>
            </a:pPr>
            <a:endParaRPr lang="en-US" sz="2600" dirty="0"/>
          </a:p>
          <a:p>
            <a:pPr indent="0" marL="0">
              <a:buNone/>
            </a:pPr>
            <a:r>
              <a:rPr lang="en-US" sz="26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data/ventes_initiales.csv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6675120" y="2295144"/>
            <a:ext cx="4654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SQLITE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675120" y="2907792"/>
            <a:ext cx="4654296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 tables interrogées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avec une requête SQL.</a:t>
            </a:r>
            <a:endParaRPr lang="en-US" sz="2600" dirty="0"/>
          </a:p>
          <a:p>
            <a:pPr indent="0" marL="0">
              <a:buNone/>
            </a:pP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source_operationnelle.sqlite</a:t>
            </a:r>
            <a:endParaRPr lang="en-US" sz="2600" dirty="0"/>
          </a:p>
        </p:txBody>
      </p:sp>
      <p:sp>
        <p:nvSpPr>
          <p:cNvPr id="14" name="Shape 12"/>
          <p:cNvSpPr/>
          <p:nvPr/>
        </p:nvSpPr>
        <p:spPr>
          <a:xfrm>
            <a:off x="5833872" y="3703320"/>
            <a:ext cx="493776" cy="0"/>
          </a:xfrm>
          <a:prstGeom prst="line">
            <a:avLst/>
          </a:prstGeom>
          <a:noFill/>
          <a:ln w="38100">
            <a:solidFill>
              <a:srgbClr val="FF9A3C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base source est distincte de l’entrepôt outputs/atlas.sqlite. Une extraction SQL lit réellement la source.</a:t>
            </a:r>
            <a:endParaRPr lang="en-US" sz="1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 · FIABILISER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Lire un lot avec SELECT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1993392"/>
            <a:ext cx="7452360" cy="3456432"/>
          </a:xfrm>
          <a:prstGeom prst="roundRect">
            <a:avLst>
              <a:gd name="adj" fmla="val 3175"/>
            </a:avLst>
          </a:prstGeom>
          <a:solidFill>
            <a:srgbClr val="07152F"/>
          </a:solidFill>
          <a:ln w="8890">
            <a:solidFill>
              <a:srgbClr val="07152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0392" y="2240280"/>
            <a:ext cx="6940296" cy="290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sale_id, date, shop_id,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product_id, quantity, unit_price_tnd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source_sales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batch_id = ?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 sale_id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302752" y="2121408"/>
            <a:ext cx="429768" cy="42976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02752" y="2121408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851392" y="2075688"/>
            <a:ext cx="27249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 : choisir les colonnes.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8302752" y="3163824"/>
            <a:ext cx="429768" cy="42976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02752" y="3163824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851392" y="3118104"/>
            <a:ext cx="27249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: choisir la table source.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8302752" y="4206240"/>
            <a:ext cx="429768" cy="42976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02752" y="4206240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851392" y="4160520"/>
            <a:ext cx="27249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 : paramètre fourni = 2026-01-08.</a:t>
            </a:r>
            <a:endParaRPr lang="en-US" sz="1900" dirty="0"/>
          </a:p>
        </p:txBody>
      </p:sp>
      <p:sp>
        <p:nvSpPr>
          <p:cNvPr id="19" name="Shape 17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Conserver la requête et son résultat : 3 lignes de ventes + 1 événement de changement de zone.</a:t>
            </a:r>
            <a:endParaRPr lang="en-US" sz="1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e fait porte les quantités ; les dimensions décrivent produit, boutique et dat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27523" y="320040"/>
            <a:ext cx="8733905" cy="540410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94360" y="91440"/>
            <a:ext cx="10698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 · FIABILISER</a:t>
            </a:r>
            <a:endParaRPr lang="en-US" sz="1000" dirty="0"/>
          </a:p>
        </p:txBody>
      </p:sp>
      <p:sp>
        <p:nvSpPr>
          <p:cNvPr id="4" name="Shape 1"/>
          <p:cNvSpPr/>
          <p:nvPr/>
        </p:nvSpPr>
        <p:spPr>
          <a:xfrm>
            <a:off x="594360" y="5824728"/>
            <a:ext cx="10991088" cy="502920"/>
          </a:xfrm>
          <a:prstGeom prst="roundRect">
            <a:avLst>
              <a:gd name="adj" fmla="val 2181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77240" y="5852160"/>
            <a:ext cx="106253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ligne fact_sales = une vente. Les clés relient les tables sans recopier toutes les descriptions.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</a:t>
            </a:r>
            <a:endParaRPr lang="en-US" sz="1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 · FIABILISER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Deux identifiants, deux rôles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2011680"/>
            <a:ext cx="3434715" cy="667512"/>
          </a:xfrm>
          <a:prstGeom prst="rect">
            <a:avLst/>
          </a:prstGeom>
          <a:solidFill>
            <a:srgbClr val="2B3180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2376" y="2057400"/>
            <a:ext cx="3178683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Catalogue métier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4029075" y="2011680"/>
            <a:ext cx="3434715" cy="667512"/>
          </a:xfrm>
          <a:prstGeom prst="rect">
            <a:avLst/>
          </a:prstGeom>
          <a:solidFill>
            <a:srgbClr val="2B3180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57091" y="2057400"/>
            <a:ext cx="3178683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Dimension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7463790" y="2011680"/>
            <a:ext cx="4121658" cy="667512"/>
          </a:xfrm>
          <a:prstGeom prst="rect">
            <a:avLst/>
          </a:prstGeom>
          <a:solidFill>
            <a:srgbClr val="2B3180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591806" y="2057400"/>
            <a:ext cx="386562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Fait de vente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94360" y="2679192"/>
            <a:ext cx="3434715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2376" y="2724912"/>
            <a:ext cx="3178683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P01 = Carnet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4029075" y="2679192"/>
            <a:ext cx="3434715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57091" y="2724912"/>
            <a:ext cx="3178683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product_key = 1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7463790" y="2679192"/>
            <a:ext cx="4121658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91806" y="2724912"/>
            <a:ext cx="386562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S001 → product_key 1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594360" y="3346704"/>
            <a:ext cx="3434715" cy="667512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22376" y="3392424"/>
            <a:ext cx="3178683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P02 = Stylo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4029075" y="3346704"/>
            <a:ext cx="3434715" cy="667512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157091" y="3392424"/>
            <a:ext cx="3178683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product_key = 2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7463790" y="3346704"/>
            <a:ext cx="4121658" cy="667512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591806" y="3392424"/>
            <a:ext cx="386562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S002 → product_key 2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594360" y="4014216"/>
            <a:ext cx="3434715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22376" y="4059936"/>
            <a:ext cx="3178683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du produit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4029075" y="4014216"/>
            <a:ext cx="3434715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157091" y="4059936"/>
            <a:ext cx="3178683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Clé locale de liaison</a:t>
            </a:r>
            <a:endParaRPr lang="en-US" sz="2000" dirty="0"/>
          </a:p>
        </p:txBody>
      </p:sp>
      <p:sp>
        <p:nvSpPr>
          <p:cNvPr id="30" name="Shape 28"/>
          <p:cNvSpPr/>
          <p:nvPr/>
        </p:nvSpPr>
        <p:spPr>
          <a:xfrm>
            <a:off x="7463790" y="4014216"/>
            <a:ext cx="4121658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591806" y="4059936"/>
            <a:ext cx="386562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Référence la dimension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product_id est le code métier. product_key est la clé de liaison de l’entrepôt.</a:t>
            </a:r>
            <a:endParaRPr lang="en-US" sz="18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 · FIABILISER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vous · lire et ranger les cartes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13232" y="2039112"/>
            <a:ext cx="1060704" cy="1060704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2039112"/>
            <a:ext cx="1060704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VOUS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075688" y="2057400"/>
            <a:ext cx="90708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Prouver l’extraction, puis expliquer l’étoile.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749808" y="3383280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3383280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417320" y="3364992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Exécuter la requête fournie avec le bon paramètre de lot.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49808" y="4096512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" y="4096512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417320" y="4078224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Montrer S013, S014 et S012 dans le résultat SQL.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749808" y="4809744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9808" y="4809744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417320" y="4791456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Classer quantité, nom produit, zone et date autour de la vente.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SQL réellement lue ; les données originales restent intactes.</a:t>
            </a:r>
            <a:endParaRPr lang="en-US" sz="18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 · FIABILISER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ce stade, je sais…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95528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5528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95528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 décide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795528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 justifie nettoyage,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doublon et rejet.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4349496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50664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50664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550664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 lis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4550664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 montre une ligne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obtenue par SELECT.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8104632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305800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05800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305800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 relie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8305800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 distingue vente,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dimension et clé.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Sortie S2 : ventes propres, preuve SQL, étoile expliquée. Si un total diffère, revenir à la ligne source.</a:t>
            </a:r>
            <a:endParaRPr lang="en-US" sz="18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0715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3383280"/>
            <a:ext cx="5303520" cy="530352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pic>
        <p:nvPicPr>
          <p:cNvPr id="3" name="Image 0" descr="Logo fourni : Leaders Universit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29216" y="548640"/>
            <a:ext cx="1783080" cy="17830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85800" y="621792"/>
            <a:ext cx="8430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110" kern="0" dirty="0">
                <a:solidFill>
                  <a:srgbClr val="FF9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· S3 · CHARGER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685800" y="1517904"/>
            <a:ext cx="8595360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 · Je charge demain</a:t>
            </a:r>
            <a:endParaRPr lang="en-US" sz="4300" dirty="0"/>
          </a:p>
          <a:p>
            <a:pPr indent="0" marL="0">
              <a:buNone/>
            </a:pPr>
            <a:r>
              <a:rPr lang="en-US" sz="4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sans abîmer hier</a:t>
            </a:r>
            <a:endParaRPr lang="en-US" sz="4300" dirty="0"/>
          </a:p>
        </p:txBody>
      </p:sp>
      <p:sp>
        <p:nvSpPr>
          <p:cNvPr id="6" name="Text 3"/>
          <p:cNvSpPr/>
          <p:nvPr/>
        </p:nvSpPr>
        <p:spPr>
          <a:xfrm>
            <a:off x="713232" y="3794760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Victoire : ajouter un lot, le rejouer et conserver la zone historique.</a:t>
            </a:r>
            <a:endParaRPr lang="en-US" sz="2500" dirty="0"/>
          </a:p>
        </p:txBody>
      </p:sp>
      <p:sp>
        <p:nvSpPr>
          <p:cNvPr id="7" name="Text 4"/>
          <p:cNvSpPr/>
          <p:nvPr/>
        </p:nvSpPr>
        <p:spPr>
          <a:xfrm>
            <a:off x="713232" y="5111496"/>
            <a:ext cx="22860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9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h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3154680" y="5230368"/>
            <a:ext cx="7223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petite victoire · des preuves visibles</a:t>
            </a:r>
            <a:endParaRPr lang="en-US" sz="2300" dirty="0"/>
          </a:p>
        </p:txBody>
      </p:sp>
      <p:sp>
        <p:nvSpPr>
          <p:cNvPr id="9" name="Text 6"/>
          <p:cNvSpPr/>
          <p:nvPr/>
        </p:nvSpPr>
        <p:spPr>
          <a:xfrm>
            <a:off x="731520" y="62453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5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 · CHARGER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Votre séance 3 · 180 minutes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04088" y="2011680"/>
            <a:ext cx="438912" cy="438912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04088" y="20116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371600" y="2002536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0–40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3246120" y="1938528"/>
            <a:ext cx="8183880" cy="585216"/>
          </a:xfrm>
          <a:prstGeom prst="roundRect">
            <a:avLst>
              <a:gd name="adj" fmla="val 18750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56432" y="2020824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Charger les dimensions puis les faits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9235440" y="2020824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T / 25 P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704088" y="2697480"/>
            <a:ext cx="438912" cy="438912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4088" y="26974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371600" y="2688336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40–80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3246120" y="2624328"/>
            <a:ext cx="8183880" cy="585216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56432" y="2706624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Ajouter et rejouer le lot SQL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9235440" y="2706624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T / 25 P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704088" y="3383280"/>
            <a:ext cx="438912" cy="438912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4088" y="33832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371600" y="3374136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80–90</a:t>
            </a:r>
            <a:endParaRPr lang="en-US" sz="2100" dirty="0"/>
          </a:p>
        </p:txBody>
      </p:sp>
      <p:sp>
        <p:nvSpPr>
          <p:cNvPr id="23" name="Shape 21"/>
          <p:cNvSpPr/>
          <p:nvPr/>
        </p:nvSpPr>
        <p:spPr>
          <a:xfrm>
            <a:off x="3246120" y="3310128"/>
            <a:ext cx="8183880" cy="585216"/>
          </a:xfrm>
          <a:prstGeom prst="roundRect">
            <a:avLst>
              <a:gd name="adj" fmla="val 18750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56432" y="3392424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9235440" y="3392424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704088" y="4069080"/>
            <a:ext cx="438912" cy="438912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04088" y="40690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371600" y="4059936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90–145</a:t>
            </a:r>
            <a:endParaRPr lang="en-US" sz="2100" dirty="0"/>
          </a:p>
        </p:txBody>
      </p:sp>
      <p:sp>
        <p:nvSpPr>
          <p:cNvPr id="29" name="Shape 27"/>
          <p:cNvSpPr/>
          <p:nvPr/>
        </p:nvSpPr>
        <p:spPr>
          <a:xfrm>
            <a:off x="3246120" y="3995928"/>
            <a:ext cx="8183880" cy="585216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56432" y="4078224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Deux versions pour une boutique</a:t>
            </a:r>
            <a:endParaRPr lang="en-US" sz="2100" dirty="0"/>
          </a:p>
        </p:txBody>
      </p:sp>
      <p:sp>
        <p:nvSpPr>
          <p:cNvPr id="31" name="Text 29"/>
          <p:cNvSpPr/>
          <p:nvPr/>
        </p:nvSpPr>
        <p:spPr>
          <a:xfrm>
            <a:off x="9235440" y="4078224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T / 35 P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704088" y="4754880"/>
            <a:ext cx="438912" cy="438912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04088" y="47548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1371600" y="4745736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145–180</a:t>
            </a:r>
            <a:endParaRPr lang="en-US" sz="2100" dirty="0"/>
          </a:p>
        </p:txBody>
      </p:sp>
      <p:sp>
        <p:nvSpPr>
          <p:cNvPr id="35" name="Shape 33"/>
          <p:cNvSpPr/>
          <p:nvPr/>
        </p:nvSpPr>
        <p:spPr>
          <a:xfrm>
            <a:off x="3246120" y="4681728"/>
            <a:ext cx="8183880" cy="585216"/>
          </a:xfrm>
          <a:prstGeom prst="roundRect">
            <a:avLst>
              <a:gd name="adj" fmla="val 18750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456432" y="4764024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Clés, contrôles et revue</a:t>
            </a:r>
            <a:endParaRPr lang="en-US" sz="2100" dirty="0"/>
          </a:p>
        </p:txBody>
      </p:sp>
      <p:sp>
        <p:nvSpPr>
          <p:cNvPr id="37" name="Text 35"/>
          <p:cNvSpPr/>
          <p:nvPr/>
        </p:nvSpPr>
        <p:spPr>
          <a:xfrm>
            <a:off x="9235440" y="4764024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T / 25 P</a:t>
            </a:r>
            <a:endParaRPr lang="en-US" sz="2000" dirty="0"/>
          </a:p>
        </p:txBody>
      </p:sp>
      <p:sp>
        <p:nvSpPr>
          <p:cNvPr id="38" name="Shape 36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transaction et l’historisation générale sont fournies ; vous adaptez et vérifiez une petite partie.</a:t>
            </a:r>
            <a:endParaRPr lang="en-US" sz="18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 · CHARGER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Pourquoi charger les descriptions d’abord ?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95528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5528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95528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Dimensions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795528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Créer les cartes Produit,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Boutique et Date.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4349496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50664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50664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550664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Faits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4550664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vente référence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clés de ces cartes.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8104632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305800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05800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305800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Contrôle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8305800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clé étrangère refuse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carte absente.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Dans SQLite, le chargement active les clés étrangères avant la transaction.</a:t>
            </a:r>
            <a:endParaRPr lang="en-US" sz="18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 · CHARGER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Premier chargement : observer le résultat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1993392"/>
            <a:ext cx="10991088" cy="2560320"/>
          </a:xfrm>
          <a:prstGeom prst="roundRect">
            <a:avLst>
              <a:gd name="adj" fmla="val 4286"/>
            </a:avLst>
          </a:prstGeom>
          <a:solidFill>
            <a:srgbClr val="07152F"/>
          </a:solidFill>
          <a:ln w="8890">
            <a:solidFill>
              <a:srgbClr val="07152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0392" y="2221992"/>
            <a:ext cx="10469880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Depuis la racine du cours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atelier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executer.py initial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verifier.py 04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94360" y="4791456"/>
            <a:ext cx="384048" cy="38404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47914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106424" y="4736592"/>
            <a:ext cx="2880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Dimensions avant faits.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361688" y="4791456"/>
            <a:ext cx="384048" cy="38404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61688" y="47914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873752" y="4736592"/>
            <a:ext cx="2880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faits · 32 unités.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8129016" y="4791456"/>
            <a:ext cx="384048" cy="38404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129016" y="47914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641080" y="4736592"/>
            <a:ext cx="2880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99 000 millimes.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Ces commandes sont lancées dans le terminal Ubuntu/WSL. Lire toute erreur avant de continuer.</a:t>
            </a:r>
            <a:endParaRPr lang="en-US" sz="18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e même lot peut revenir : sale_id aide à reconnaître les ventes connue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5945" y="320040"/>
            <a:ext cx="11377061" cy="540410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94360" y="91440"/>
            <a:ext cx="10698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 · CHARGER</a:t>
            </a:r>
            <a:endParaRPr lang="en-US" sz="1000" dirty="0"/>
          </a:p>
        </p:txBody>
      </p:sp>
      <p:sp>
        <p:nvSpPr>
          <p:cNvPr id="4" name="Shape 1"/>
          <p:cNvSpPr/>
          <p:nvPr/>
        </p:nvSpPr>
        <p:spPr>
          <a:xfrm>
            <a:off x="594360" y="5824728"/>
            <a:ext cx="10991088" cy="502920"/>
          </a:xfrm>
          <a:prstGeom prst="roundRect">
            <a:avLst>
              <a:gd name="adj" fmla="val 2181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77240" y="5852160"/>
            <a:ext cx="106253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S013 + S014 nouvelles ; S012 identique déjà connue. Le rejeu ne change plus les chiffres.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12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 · CHARGER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Trois lignes reçues, deux ventes ajoutées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2011680"/>
            <a:ext cx="2442464" cy="667512"/>
          </a:xfrm>
          <a:prstGeom prst="rect">
            <a:avLst/>
          </a:prstGeom>
          <a:solidFill>
            <a:srgbClr val="2B3180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2376" y="2057400"/>
            <a:ext cx="218643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Vente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3036824" y="2011680"/>
            <a:ext cx="5495544" cy="667512"/>
          </a:xfrm>
          <a:prstGeom prst="rect">
            <a:avLst/>
          </a:prstGeom>
          <a:solidFill>
            <a:srgbClr val="2B3180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64840" y="2057400"/>
            <a:ext cx="523951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Contenu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8532368" y="2011680"/>
            <a:ext cx="3053080" cy="667512"/>
          </a:xfrm>
          <a:prstGeom prst="rect">
            <a:avLst/>
          </a:prstGeom>
          <a:solidFill>
            <a:srgbClr val="2B3180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60384" y="2057400"/>
            <a:ext cx="279704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Effet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94360" y="2679192"/>
            <a:ext cx="2442464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2376" y="2724912"/>
            <a:ext cx="218643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S013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036824" y="2679192"/>
            <a:ext cx="5495544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164840" y="2724912"/>
            <a:ext cx="523951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carnet · 4.500 TND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8532368" y="2679192"/>
            <a:ext cx="3053080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60384" y="2724912"/>
            <a:ext cx="279704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 fait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594360" y="3346704"/>
            <a:ext cx="2442464" cy="667512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22376" y="3392424"/>
            <a:ext cx="218643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S014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3036824" y="3346704"/>
            <a:ext cx="5495544" cy="667512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164840" y="3392424"/>
            <a:ext cx="523951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classeurs · 12.000 TND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8532368" y="3346704"/>
            <a:ext cx="3053080" cy="667512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660384" y="3392424"/>
            <a:ext cx="279704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 fait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594360" y="4014216"/>
            <a:ext cx="2442464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22376" y="4059936"/>
            <a:ext cx="218643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S012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3036824" y="4014216"/>
            <a:ext cx="5495544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164840" y="4059936"/>
            <a:ext cx="523951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Déjà présente, identique</a:t>
            </a:r>
            <a:endParaRPr lang="en-US" sz="2000" dirty="0"/>
          </a:p>
        </p:txBody>
      </p:sp>
      <p:sp>
        <p:nvSpPr>
          <p:cNvPr id="30" name="Shape 28"/>
          <p:cNvSpPr/>
          <p:nvPr/>
        </p:nvSpPr>
        <p:spPr>
          <a:xfrm>
            <a:off x="8532368" y="4014216"/>
            <a:ext cx="3053080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660384" y="4059936"/>
            <a:ext cx="279704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fait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prix de S014 est 6,000 TND par classeur : 2 × 6,000 = 12,000 TND.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777240" y="48006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faits nouveaux · +3 unités · +16.500 TND</a:t>
            </a:r>
            <a:endParaRPr lang="en-US" sz="2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 · CHARGER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preuve du rejeu : le résultat reste stable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2057400"/>
            <a:ext cx="3456432" cy="3246120"/>
          </a:xfrm>
          <a:prstGeom prst="roundRect">
            <a:avLst>
              <a:gd name="adj" fmla="val 3380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13816" y="2313432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ajout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13816" y="31546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faits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813816" y="4261104"/>
            <a:ext cx="3017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99.000 TND</a:t>
            </a:r>
            <a:endParaRPr lang="en-US" sz="2500" dirty="0"/>
          </a:p>
        </p:txBody>
      </p:sp>
      <p:sp>
        <p:nvSpPr>
          <p:cNvPr id="12" name="Shape 10"/>
          <p:cNvSpPr/>
          <p:nvPr/>
        </p:nvSpPr>
        <p:spPr>
          <a:xfrm>
            <a:off x="4361688" y="2057400"/>
            <a:ext cx="3456432" cy="3246120"/>
          </a:xfrm>
          <a:prstGeom prst="roundRect">
            <a:avLst>
              <a:gd name="adj" fmla="val 3380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81144" y="2313432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Premier passage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581144" y="31546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faits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4581144" y="4261104"/>
            <a:ext cx="3017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115.500 TND</a:t>
            </a:r>
            <a:endParaRPr lang="en-US" sz="2500" dirty="0"/>
          </a:p>
        </p:txBody>
      </p:sp>
      <p:sp>
        <p:nvSpPr>
          <p:cNvPr id="16" name="Shape 14"/>
          <p:cNvSpPr/>
          <p:nvPr/>
        </p:nvSpPr>
        <p:spPr>
          <a:xfrm>
            <a:off x="8129016" y="2057400"/>
            <a:ext cx="3456432" cy="3246120"/>
          </a:xfrm>
          <a:prstGeom prst="roundRect">
            <a:avLst>
              <a:gd name="adj" fmla="val 3380"/>
            </a:avLst>
          </a:prstGeom>
          <a:solidFill>
            <a:srgbClr val="2B3180"/>
          </a:solidFill>
          <a:ln w="8890">
            <a:solidFill>
              <a:srgbClr val="2B318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48472" y="2313432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Deuxième passage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348472" y="31546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faits</a:t>
            </a:r>
            <a:endParaRPr lang="en-US" sz="3800" dirty="0"/>
          </a:p>
        </p:txBody>
      </p:sp>
      <p:sp>
        <p:nvSpPr>
          <p:cNvPr id="19" name="Text 17"/>
          <p:cNvSpPr/>
          <p:nvPr/>
        </p:nvSpPr>
        <p:spPr>
          <a:xfrm>
            <a:off x="8348472" y="4261104"/>
            <a:ext cx="3017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115.500 TND</a:t>
            </a:r>
            <a:endParaRPr lang="en-US" sz="2500" dirty="0"/>
          </a:p>
        </p:txBody>
      </p:sp>
      <p:sp>
        <p:nvSpPr>
          <p:cNvPr id="20" name="Shape 18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+ 2 = 14 ventes · 32 + 3 = 35 unités · 99,000 + 16,500 = 115,500 TND.</a:t>
            </a:r>
            <a:endParaRPr lang="en-US" sz="18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 · CHARGER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vous · 25 min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13232" y="2039112"/>
            <a:ext cx="1060704" cy="1060704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2039112"/>
            <a:ext cx="1060704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VOUS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075688" y="2057400"/>
            <a:ext cx="90708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Exécuter le lot du 8 janvier, puis le rejouer.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749808" y="3383280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3383280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417320" y="3364992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Lancer python3 executer.py increment.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49808" y="4096512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" y="4096512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417320" y="4078224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Contrôler les chiffres puis relancer exactement le même lot.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749808" y="4809744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9808" y="4809744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417320" y="4791456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Comparer faits, unités, montant et clés avant/après le rejeu.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Preuve : même résultat final à deux passages. Une erreur de contrôle n’autorise pas à changer l’attendu.</a:t>
            </a:r>
            <a:endParaRPr lang="en-US" sz="18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3F5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1188720"/>
            <a:ext cx="2011680" cy="201168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1188720"/>
            <a:ext cx="2011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914400" y="335584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MINUTES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291840" y="150876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 · 10 minutes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3291840" y="2743200"/>
            <a:ext cx="7543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Notez les chiffres du rejeu.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Reprenez à la boutique Nabeul.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777240" y="62179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 · CHARGER · prochaine étape sauvegardée</a:t>
            </a:r>
            <a:endParaRPr lang="en-US" sz="16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ême boutique NBE ; une ancienne version et une nouvelle versio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8260" y="320040"/>
            <a:ext cx="10172431" cy="540410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94360" y="91440"/>
            <a:ext cx="10698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 · CHARGER</a:t>
            </a:r>
            <a:endParaRPr lang="en-US" sz="1000" dirty="0"/>
          </a:p>
        </p:txBody>
      </p:sp>
      <p:sp>
        <p:nvSpPr>
          <p:cNvPr id="4" name="Shape 1"/>
          <p:cNvSpPr/>
          <p:nvPr/>
        </p:nvSpPr>
        <p:spPr>
          <a:xfrm>
            <a:off x="594360" y="5824728"/>
            <a:ext cx="10991088" cy="502920"/>
          </a:xfrm>
          <a:prstGeom prst="roundRect">
            <a:avLst>
              <a:gd name="adj" fmla="val 2181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77240" y="5852160"/>
            <a:ext cx="106253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le 8 : Cap Bon. Dès le 8 : Grand Tunis. La fin de validité est exclue.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</a:t>
            </a:r>
            <a:endParaRPr lang="en-US" sz="12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 · CHARGER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quelle carte rattacher la vente ?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2011680"/>
            <a:ext cx="3297326" cy="667512"/>
          </a:xfrm>
          <a:prstGeom prst="rect">
            <a:avLst/>
          </a:prstGeom>
          <a:solidFill>
            <a:srgbClr val="2B3180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2376" y="2057400"/>
            <a:ext cx="304129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Version boutique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3891686" y="2011680"/>
            <a:ext cx="3572104" cy="667512"/>
          </a:xfrm>
          <a:prstGeom prst="rect">
            <a:avLst/>
          </a:prstGeom>
          <a:solidFill>
            <a:srgbClr val="2B3180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019702" y="2057400"/>
            <a:ext cx="331607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Période de validité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7463790" y="2011680"/>
            <a:ext cx="4121658" cy="667512"/>
          </a:xfrm>
          <a:prstGeom prst="rect">
            <a:avLst/>
          </a:prstGeom>
          <a:solidFill>
            <a:srgbClr val="2B3180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591806" y="2057400"/>
            <a:ext cx="386562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Vente concernée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94360" y="2679192"/>
            <a:ext cx="3297326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2376" y="2724912"/>
            <a:ext cx="304129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NBE · Cap Bon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891686" y="2679192"/>
            <a:ext cx="3572104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019702" y="2724912"/>
            <a:ext cx="331607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[05/01, 08/01[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7463790" y="2679192"/>
            <a:ext cx="4121658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91806" y="2724912"/>
            <a:ext cx="386562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07/01 → ancienne clé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594360" y="3346704"/>
            <a:ext cx="3297326" cy="667512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22376" y="3392424"/>
            <a:ext cx="304129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NBE · Grand Tunis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3891686" y="3346704"/>
            <a:ext cx="3572104" cy="667512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019702" y="3392424"/>
            <a:ext cx="331607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[08/01, sans fin[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7463790" y="3346704"/>
            <a:ext cx="4121658" cy="667512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591806" y="3392424"/>
            <a:ext cx="386562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08/01 → nouvelle clé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594360" y="4014216"/>
            <a:ext cx="3297326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22376" y="4059936"/>
            <a:ext cx="304129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TUN · Grand Tunis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3891686" y="4014216"/>
            <a:ext cx="3572104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019702" y="4059936"/>
            <a:ext cx="331607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[05/01, sans fin[</a:t>
            </a:r>
            <a:endParaRPr lang="en-US" sz="2000" dirty="0"/>
          </a:p>
        </p:txBody>
      </p:sp>
      <p:sp>
        <p:nvSpPr>
          <p:cNvPr id="30" name="Shape 28"/>
          <p:cNvSpPr/>
          <p:nvPr/>
        </p:nvSpPr>
        <p:spPr>
          <a:xfrm>
            <a:off x="7463790" y="4014216"/>
            <a:ext cx="4121658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591806" y="4059936"/>
            <a:ext cx="386562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Toutes les dates de ce lot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Notation SQL : [valid_from, valid_to). NULL signifie « pas de fin connue ». Deux boutiques, trois versions.</a:t>
            </a:r>
            <a:endParaRPr lang="en-US" sz="18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 · CHARGER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date choisit la version de boutique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1993392"/>
            <a:ext cx="7452360" cy="3456432"/>
          </a:xfrm>
          <a:prstGeom prst="roundRect">
            <a:avLst>
              <a:gd name="adj" fmla="val 3175"/>
            </a:avLst>
          </a:prstGeom>
          <a:solidFill>
            <a:srgbClr val="07152F"/>
          </a:solidFill>
          <a:ln w="8890">
            <a:solidFill>
              <a:srgbClr val="07152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0392" y="2240280"/>
            <a:ext cx="6940296" cy="290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shop_id = ?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valid_from &lt;= ?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(valid_to IS NULL OR ? &lt; valid_to)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302752" y="2121408"/>
            <a:ext cx="429768" cy="42976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02752" y="2121408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851392" y="2075688"/>
            <a:ext cx="27249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premier ? reçoit le code boutique.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8302752" y="3163824"/>
            <a:ext cx="429768" cy="42976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02752" y="3163824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851392" y="3118104"/>
            <a:ext cx="27249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deux autres reçoivent la date de vente.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8302752" y="4206240"/>
            <a:ext cx="429768" cy="42976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02752" y="4206240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851392" y="4160520"/>
            <a:ext cx="27249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seule version doit correspondre.</a:t>
            </a:r>
            <a:endParaRPr lang="en-US" sz="1900" dirty="0"/>
          </a:p>
        </p:txBody>
      </p:sp>
      <p:sp>
        <p:nvSpPr>
          <p:cNvPr id="19" name="Shape 17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Nom technique : SCD2. Les anciennes ventes conservent leur shop_key ; on ne réécrit pas leur histoire.</a:t>
            </a:r>
            <a:endParaRPr lang="en-US" sz="18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 · CHARGER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un conflit apparaît, garder un état cohérent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2139696"/>
            <a:ext cx="3456432" cy="2377440"/>
          </a:xfrm>
          <a:prstGeom prst="roundRect">
            <a:avLst>
              <a:gd name="adj" fmla="val 4615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423160"/>
            <a:ext cx="2999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DÉBUT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22960" y="320040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Ouvrir une transaction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4114800" y="3429000"/>
            <a:ext cx="173736" cy="0"/>
          </a:xfrm>
          <a:prstGeom prst="line">
            <a:avLst/>
          </a:prstGeom>
          <a:noFill/>
          <a:ln w="25400">
            <a:solidFill>
              <a:srgbClr val="FF9A3C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361688" y="2139696"/>
            <a:ext cx="3456432" cy="2377440"/>
          </a:xfrm>
          <a:prstGeom prst="roundRect">
            <a:avLst>
              <a:gd name="adj" fmla="val 4615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90288" y="2423160"/>
            <a:ext cx="2999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LOT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590288" y="320040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Vérifier puis insérer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7882128" y="3429000"/>
            <a:ext cx="173736" cy="0"/>
          </a:xfrm>
          <a:prstGeom prst="line">
            <a:avLst/>
          </a:prstGeom>
          <a:noFill/>
          <a:ln w="25400">
            <a:solidFill>
              <a:srgbClr val="FF9A3C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8129016" y="2139696"/>
            <a:ext cx="3456432" cy="2377440"/>
          </a:xfrm>
          <a:prstGeom prst="roundRect">
            <a:avLst>
              <a:gd name="adj" fmla="val 4615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57616" y="2423160"/>
            <a:ext cx="2999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357616" y="320040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Tout valider ensemble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777240" y="4800600"/>
            <a:ext cx="10607040" cy="548640"/>
          </a:xfrm>
          <a:prstGeom prst="roundRect">
            <a:avLst>
              <a:gd name="adj" fmla="val 20000"/>
            </a:avLst>
          </a:prstGeom>
          <a:solidFill>
            <a:srgbClr val="07152F"/>
          </a:solidFill>
          <a:ln w="8890">
            <a:solidFill>
              <a:srgbClr val="07152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0120" y="4864608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Conflit détecté → rollback : aucune insertion de ce lot.</a:t>
            </a:r>
            <a:endParaRPr lang="en-US" sz="2300" dirty="0"/>
          </a:p>
        </p:txBody>
      </p:sp>
      <p:sp>
        <p:nvSpPr>
          <p:cNvPr id="21" name="Shape 19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mécanisme est fourni. Vous expliquez ce qu’il protège et vous contrôlez le résultat.</a:t>
            </a:r>
            <a:endParaRPr lang="en-US" sz="18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 · CHARGER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vous · frontière et revue ciblée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13232" y="2039112"/>
            <a:ext cx="1060704" cy="1060704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2039112"/>
            <a:ext cx="1060704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VOUS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075688" y="2057400"/>
            <a:ext cx="90708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Prédire la carte du 7 janvier, puis celle du 8.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749808" y="3383280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3383280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417320" y="3364992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Compléter la recherche temporelle ou son contrôle ciblé.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49808" y="4096512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" y="4096512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417320" y="4078224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Vérifier qu’une ancienne vente garde sa clé après le changement.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749808" y="4809744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9808" y="4809744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417320" y="4791456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 une copie, tester une clé absente ; lire le refus et faire relire.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Corriger le point établi, relancer le contrôle, puis demander une deuxième revue de ce point.</a:t>
            </a:r>
            <a:endParaRPr lang="en-US" sz="18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 · CHARGER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ce stade, je sais…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95528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5528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95528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 charge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795528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dimensions existent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leurs ventes.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4349496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50664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50664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550664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 rejoue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4550664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lot identique garde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faits et 35 unités.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8104632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305800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05800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305800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 garde l’histoire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8305800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date choisit la version ;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l’ancienne clé reste stable.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Sortie S3 : entrepôt final contrôlé, rejeu stable, frontière du 8 janvier expliquée.</a:t>
            </a:r>
            <a:endParaRPr lang="en-US" sz="18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0715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3383280"/>
            <a:ext cx="5303520" cy="530352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pic>
        <p:nvPicPr>
          <p:cNvPr id="3" name="Image 0" descr="Logo fourni : Leaders Universit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29216" y="548640"/>
            <a:ext cx="1783080" cy="17830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85800" y="621792"/>
            <a:ext cx="8430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110" kern="0" dirty="0">
                <a:solidFill>
                  <a:srgbClr val="FF9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· S4 · MONTRER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685800" y="1517904"/>
            <a:ext cx="8595360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 · Je montre</a:t>
            </a:r>
            <a:endParaRPr lang="en-US" sz="4300" dirty="0"/>
          </a:p>
          <a:p>
            <a:pPr indent="0" marL="0">
              <a:buNone/>
            </a:pPr>
            <a:r>
              <a:rPr lang="en-US" sz="4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 je révise le rapport</a:t>
            </a:r>
            <a:endParaRPr lang="en-US" sz="4300" dirty="0"/>
          </a:p>
        </p:txBody>
      </p:sp>
      <p:sp>
        <p:nvSpPr>
          <p:cNvPr id="6" name="Text 3"/>
          <p:cNvSpPr/>
          <p:nvPr/>
        </p:nvSpPr>
        <p:spPr>
          <a:xfrm>
            <a:off x="713232" y="3794760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Victoire : un vrai rapport Power BI et des chiffres reliés aux preuves.</a:t>
            </a:r>
            <a:endParaRPr lang="en-US" sz="2500" dirty="0"/>
          </a:p>
        </p:txBody>
      </p:sp>
      <p:sp>
        <p:nvSpPr>
          <p:cNvPr id="7" name="Text 4"/>
          <p:cNvSpPr/>
          <p:nvPr/>
        </p:nvSpPr>
        <p:spPr>
          <a:xfrm>
            <a:off x="713232" y="5111496"/>
            <a:ext cx="22860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9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h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3154680" y="5230368"/>
            <a:ext cx="7223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petite victoire · des preuves visibles</a:t>
            </a:r>
            <a:endParaRPr lang="en-US" sz="2300" dirty="0"/>
          </a:p>
        </p:txBody>
      </p:sp>
      <p:sp>
        <p:nvSpPr>
          <p:cNvPr id="9" name="Text 6"/>
          <p:cNvSpPr/>
          <p:nvPr/>
        </p:nvSpPr>
        <p:spPr>
          <a:xfrm>
            <a:off x="731520" y="62453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5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 · MONTRER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Votre séance 4 · 180 minutes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04088" y="2011680"/>
            <a:ext cx="438912" cy="438912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04088" y="20116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371600" y="2002536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0–35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3246120" y="1938528"/>
            <a:ext cx="8183880" cy="585216"/>
          </a:xfrm>
          <a:prstGeom prst="roundRect">
            <a:avLst>
              <a:gd name="adj" fmla="val 18750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56432" y="2020824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Exporter et transférer le paquet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9235440" y="2020824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T / 20 P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704088" y="2697480"/>
            <a:ext cx="438912" cy="438912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4088" y="26974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371600" y="2688336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35–85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3246120" y="2624328"/>
            <a:ext cx="8183880" cy="585216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56432" y="2706624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Importer, typer, relier dans Power BI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9235440" y="2706624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T / 35 P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704088" y="3383280"/>
            <a:ext cx="438912" cy="438912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4088" y="33832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371600" y="3374136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85–95</a:t>
            </a:r>
            <a:endParaRPr lang="en-US" sz="2100" dirty="0"/>
          </a:p>
        </p:txBody>
      </p:sp>
      <p:sp>
        <p:nvSpPr>
          <p:cNvPr id="23" name="Shape 21"/>
          <p:cNvSpPr/>
          <p:nvPr/>
        </p:nvSpPr>
        <p:spPr>
          <a:xfrm>
            <a:off x="3246120" y="3310128"/>
            <a:ext cx="8183880" cy="585216"/>
          </a:xfrm>
          <a:prstGeom prst="roundRect">
            <a:avLst>
              <a:gd name="adj" fmla="val 18750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56432" y="3392424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9235440" y="3392424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704088" y="4069080"/>
            <a:ext cx="438912" cy="438912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04088" y="40690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371600" y="4059936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95–140</a:t>
            </a:r>
            <a:endParaRPr lang="en-US" sz="2100" dirty="0"/>
          </a:p>
        </p:txBody>
      </p:sp>
      <p:sp>
        <p:nvSpPr>
          <p:cNvPr id="29" name="Shape 27"/>
          <p:cNvSpPr/>
          <p:nvPr/>
        </p:nvSpPr>
        <p:spPr>
          <a:xfrm>
            <a:off x="3246120" y="3995928"/>
            <a:ext cx="8183880" cy="585216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56432" y="4078224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Mesure, graphique et filtre</a:t>
            </a:r>
            <a:endParaRPr lang="en-US" sz="2100" dirty="0"/>
          </a:p>
        </p:txBody>
      </p:sp>
      <p:sp>
        <p:nvSpPr>
          <p:cNvPr id="31" name="Text 29"/>
          <p:cNvSpPr/>
          <p:nvPr/>
        </p:nvSpPr>
        <p:spPr>
          <a:xfrm>
            <a:off x="9235440" y="4078224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T / 30 P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704088" y="4754880"/>
            <a:ext cx="438912" cy="438912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04088" y="47548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1371600" y="4745736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140–180</a:t>
            </a:r>
            <a:endParaRPr lang="en-US" sz="2100" dirty="0"/>
          </a:p>
        </p:txBody>
      </p:sp>
      <p:sp>
        <p:nvSpPr>
          <p:cNvPr id="35" name="Shape 33"/>
          <p:cNvSpPr/>
          <p:nvPr/>
        </p:nvSpPr>
        <p:spPr>
          <a:xfrm>
            <a:off x="3246120" y="4681728"/>
            <a:ext cx="8183880" cy="585216"/>
          </a:xfrm>
          <a:prstGeom prst="roundRect">
            <a:avLst>
              <a:gd name="adj" fmla="val 18750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456432" y="4764024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 local et revue</a:t>
            </a:r>
            <a:endParaRPr lang="en-US" sz="2100" dirty="0"/>
          </a:p>
        </p:txBody>
      </p:sp>
      <p:sp>
        <p:nvSpPr>
          <p:cNvPr id="37" name="Text 35"/>
          <p:cNvSpPr/>
          <p:nvPr/>
        </p:nvSpPr>
        <p:spPr>
          <a:xfrm>
            <a:off x="9235440" y="4764024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T / 25 P</a:t>
            </a:r>
            <a:endParaRPr lang="en-US" sz="2000" dirty="0"/>
          </a:p>
        </p:txBody>
      </p:sp>
      <p:sp>
        <p:nvSpPr>
          <p:cNvPr id="38" name="Shape 36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premier rapport Power BI est construit aujourd’hui, avant le défi de S5.</a:t>
            </a:r>
            <a:endParaRPr lang="en-US" sz="18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 · MONTRER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Exporter quatre tables complètes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2011680"/>
            <a:ext cx="3484979" cy="667512"/>
          </a:xfrm>
          <a:prstGeom prst="rect">
            <a:avLst/>
          </a:prstGeom>
          <a:solidFill>
            <a:srgbClr val="2B3180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2376" y="2057400"/>
            <a:ext cx="3228947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Fichier CSV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4079339" y="2011680"/>
            <a:ext cx="3484979" cy="667512"/>
          </a:xfrm>
          <a:prstGeom prst="rect">
            <a:avLst/>
          </a:prstGeom>
          <a:solidFill>
            <a:srgbClr val="2B3180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7355" y="2057400"/>
            <a:ext cx="3228947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ligne représente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7564318" y="2011680"/>
            <a:ext cx="4021130" cy="667512"/>
          </a:xfrm>
          <a:prstGeom prst="rect">
            <a:avLst/>
          </a:prstGeom>
          <a:solidFill>
            <a:srgbClr val="2B3180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92334" y="2057400"/>
            <a:ext cx="376509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 à garder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94360" y="2679192"/>
            <a:ext cx="3484979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2376" y="2724912"/>
            <a:ext cx="3228947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dim_product.csv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4079339" y="2679192"/>
            <a:ext cx="3484979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07355" y="2724912"/>
            <a:ext cx="3228947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produit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7564318" y="2679192"/>
            <a:ext cx="4021130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692334" y="2724912"/>
            <a:ext cx="376509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product_key unique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594360" y="3346704"/>
            <a:ext cx="3484979" cy="667512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22376" y="3392424"/>
            <a:ext cx="3228947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dim_shop.csv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4079339" y="3346704"/>
            <a:ext cx="3484979" cy="667512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207355" y="3392424"/>
            <a:ext cx="3228947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version de boutique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7564318" y="3346704"/>
            <a:ext cx="4021130" cy="667512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692334" y="3392424"/>
            <a:ext cx="376509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Anciennes versions incluses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594360" y="4014216"/>
            <a:ext cx="3484979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22376" y="4059936"/>
            <a:ext cx="3228947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dim_date.csv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4079339" y="4014216"/>
            <a:ext cx="3484979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207355" y="4059936"/>
            <a:ext cx="3228947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jour</a:t>
            </a:r>
            <a:endParaRPr lang="en-US" sz="2000" dirty="0"/>
          </a:p>
        </p:txBody>
      </p:sp>
      <p:sp>
        <p:nvSpPr>
          <p:cNvPr id="30" name="Shape 28"/>
          <p:cNvSpPr/>
          <p:nvPr/>
        </p:nvSpPr>
        <p:spPr>
          <a:xfrm>
            <a:off x="7564318" y="4014216"/>
            <a:ext cx="4021130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92334" y="4059936"/>
            <a:ext cx="376509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date_key unique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594360" y="4681728"/>
            <a:ext cx="3484979" cy="667512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22376" y="4727448"/>
            <a:ext cx="3228947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fact_sales.csv</a:t>
            </a:r>
            <a:endParaRPr lang="en-US" sz="2000" dirty="0"/>
          </a:p>
        </p:txBody>
      </p:sp>
      <p:sp>
        <p:nvSpPr>
          <p:cNvPr id="34" name="Shape 32"/>
          <p:cNvSpPr/>
          <p:nvPr/>
        </p:nvSpPr>
        <p:spPr>
          <a:xfrm>
            <a:off x="4079339" y="4681728"/>
            <a:ext cx="3484979" cy="667512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207355" y="4727448"/>
            <a:ext cx="3228947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vente</a:t>
            </a:r>
            <a:endParaRPr lang="en-US" sz="2000" dirty="0"/>
          </a:p>
        </p:txBody>
      </p:sp>
      <p:sp>
        <p:nvSpPr>
          <p:cNvPr id="36" name="Shape 34"/>
          <p:cNvSpPr/>
          <p:nvPr/>
        </p:nvSpPr>
        <p:spPr>
          <a:xfrm>
            <a:off x="7564318" y="4681728"/>
            <a:ext cx="4021130" cy="667512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692334" y="4727448"/>
            <a:ext cx="376509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Clés + mesures</a:t>
            </a:r>
            <a:endParaRPr lang="en-US" sz="2000" dirty="0"/>
          </a:p>
        </p:txBody>
      </p:sp>
      <p:sp>
        <p:nvSpPr>
          <p:cNvPr id="38" name="Shape 36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python3 executer.py export → outputs/powerbi/&lt;delivery_id&gt;/ · 4 CSV + manifest.json, même livraison.</a:t>
            </a:r>
            <a:endParaRPr lang="en-US" sz="18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 · MONTRER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Passer du monde Python au poste Power BI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95528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5528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95528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 + WSL2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795528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Depuis le dossier export complet 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explorer.exe 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Copier le paquet vers Windows.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4349496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50664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50664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550664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Ubuntu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4550664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Transférer le même paquet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 vrai poste Windows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 groupe ou de la salle.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8104632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305800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05800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305800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Dossier stable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8305800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Garder les quatre CSV ensemble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 contrôler manifest.json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l’import.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 BI Desktop ouvre les fichiers Windows. Le dossier source de l’ETL n’est pas le rapport.</a:t>
            </a:r>
            <a:endParaRPr lang="en-US" sz="18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 · MONTRER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Dans Power BI : importer puis vérifier les types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2011680"/>
            <a:ext cx="4254615" cy="667512"/>
          </a:xfrm>
          <a:prstGeom prst="rect">
            <a:avLst/>
          </a:prstGeom>
          <a:solidFill>
            <a:srgbClr val="2B3180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2376" y="2057400"/>
            <a:ext cx="3998583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Colonnes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4848975" y="2011680"/>
            <a:ext cx="2718226" cy="667512"/>
          </a:xfrm>
          <a:prstGeom prst="rect">
            <a:avLst/>
          </a:prstGeom>
          <a:solidFill>
            <a:srgbClr val="2B3180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76991" y="2057400"/>
            <a:ext cx="246219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 à choisir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7567201" y="2011680"/>
            <a:ext cx="4018247" cy="667512"/>
          </a:xfrm>
          <a:prstGeom prst="rect">
            <a:avLst/>
          </a:prstGeom>
          <a:solidFill>
            <a:srgbClr val="2B3180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95217" y="2057400"/>
            <a:ext cx="37622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Pourquoi ?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94360" y="2679192"/>
            <a:ext cx="4254615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2376" y="2724912"/>
            <a:ext cx="3998583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Clés, quantité, millimes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4848975" y="2679192"/>
            <a:ext cx="2718226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76991" y="2724912"/>
            <a:ext cx="246219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Nombre entier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7567201" y="2679192"/>
            <a:ext cx="4018247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695217" y="2724912"/>
            <a:ext cx="37622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Garder valeurs exactes et liens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594360" y="3346704"/>
            <a:ext cx="4254615" cy="667512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22376" y="3392424"/>
            <a:ext cx="3998583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full_date, valid_from, valid_to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4848975" y="3346704"/>
            <a:ext cx="2718226" cy="667512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76991" y="3392424"/>
            <a:ext cx="246219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7567201" y="3346704"/>
            <a:ext cx="4018247" cy="667512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695217" y="3392424"/>
            <a:ext cx="37622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Lire les jours et les bornes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594360" y="4014216"/>
            <a:ext cx="4254615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22376" y="4059936"/>
            <a:ext cx="3998583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Codes, noms, zone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4848975" y="4014216"/>
            <a:ext cx="2718226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976991" y="4059936"/>
            <a:ext cx="246219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Texte</a:t>
            </a:r>
            <a:endParaRPr lang="en-US" sz="2000" dirty="0"/>
          </a:p>
        </p:txBody>
      </p:sp>
      <p:sp>
        <p:nvSpPr>
          <p:cNvPr id="30" name="Shape 28"/>
          <p:cNvSpPr/>
          <p:nvPr/>
        </p:nvSpPr>
        <p:spPr>
          <a:xfrm>
            <a:off x="7567201" y="4014216"/>
            <a:ext cx="4018247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95217" y="4059936"/>
            <a:ext cx="37622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 pas calculer avec un code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Obtenir les données → Texte/CSV · séparateur virgule · UTF-8. valid_to vide = valeur null.</a:t>
            </a:r>
            <a:endParaRPr lang="en-US" sz="18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 · MONTRER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Créer trois relations actives 1 → plusieurs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74720" y="3401568"/>
            <a:ext cx="740664" cy="0"/>
          </a:xfrm>
          <a:prstGeom prst="line">
            <a:avLst/>
          </a:prstGeom>
          <a:noFill/>
          <a:ln w="25400">
            <a:solidFill>
              <a:srgbClr val="FF9A3C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8686800" y="3401568"/>
            <a:ext cx="-704088" cy="0"/>
          </a:xfrm>
          <a:prstGeom prst="line">
            <a:avLst/>
          </a:prstGeom>
          <a:noFill/>
          <a:ln w="25400">
            <a:solidFill>
              <a:srgbClr val="FF9A3C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099048" y="4590288"/>
            <a:ext cx="0" cy="-155448"/>
          </a:xfrm>
          <a:prstGeom prst="line">
            <a:avLst/>
          </a:prstGeom>
          <a:noFill/>
          <a:ln w="25400">
            <a:solidFill>
              <a:srgbClr val="FF9A3C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215384" y="2011680"/>
            <a:ext cx="3776472" cy="2423160"/>
          </a:xfrm>
          <a:prstGeom prst="roundRect">
            <a:avLst>
              <a:gd name="adj" fmla="val 4528"/>
            </a:avLst>
          </a:prstGeom>
          <a:solidFill>
            <a:srgbClr val="2B3180"/>
          </a:solidFill>
          <a:ln w="8890">
            <a:solidFill>
              <a:srgbClr val="2B31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53128" y="2240280"/>
            <a:ext cx="3300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fact_sales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4453128" y="2788920"/>
            <a:ext cx="33009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sale_id · date_key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product_key · shop_key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quantity · unit_price_millimes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amount_millimes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94360" y="2084832"/>
            <a:ext cx="2880360" cy="2651760"/>
          </a:xfrm>
          <a:prstGeom prst="roundRect">
            <a:avLst>
              <a:gd name="adj" fmla="val 413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2231136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dim_product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777240" y="2843784"/>
            <a:ext cx="2514600" cy="1801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product_key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product_id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product_name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686800" y="2084832"/>
            <a:ext cx="2880360" cy="2651760"/>
          </a:xfrm>
          <a:prstGeom prst="roundRect">
            <a:avLst>
              <a:gd name="adj" fmla="val 413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869680" y="2231136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dim_shop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8869680" y="2843784"/>
            <a:ext cx="2514600" cy="1801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shop_key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shop_id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shop_name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4160520" y="4590288"/>
            <a:ext cx="3886200" cy="987552"/>
          </a:xfrm>
          <a:prstGeom prst="roundRect">
            <a:avLst>
              <a:gd name="adj" fmla="val 11111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43400" y="4736592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dim_date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4343400" y="5138928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date_key · full_date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3538728" y="29535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3904488" y="29535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8055864" y="29535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8348472" y="29535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dim_shop.shop_key → fact_sales.shop_key. Filtrage simple de la dimension vers le fait ; jamais shop_id.</a:t>
            </a:r>
            <a:endParaRPr lang="en-US" sz="18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 · MONTRER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vous · 35 min sur Windows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13232" y="2039112"/>
            <a:ext cx="1060704" cy="1060704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2039112"/>
            <a:ext cx="1060704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VOUS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075688" y="2057400"/>
            <a:ext cx="90708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Construire le modèle depuis les quatre fichiers.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749808" y="3383280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3383280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417320" y="3364992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Ouvrir Power BI Desktop ; importer les quatre CSV de la même livraison.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49808" y="4096512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" y="4096512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417320" y="4078224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Vérifier les types et créer les trois relations 1:* simples.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749808" y="4809744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9808" y="4809744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417320" y="4791456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Montrer la vue Modèle et expliquer le côté 1 et le côté plusieurs.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Guide pas à pas : powerbi/README.md. Le modèle de secours se trouve dans le même dossier.</a:t>
            </a:r>
            <a:endParaRPr lang="en-US" sz="18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3F5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1188720"/>
            <a:ext cx="2011680" cy="201168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1188720"/>
            <a:ext cx="2011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914400" y="335584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MINUTES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291840" y="150876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 · 10 minutes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3291840" y="2743200"/>
            <a:ext cx="7543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Enregistrez le rapport Power BI.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Reprenez à la mesure du montant vendu.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777240" y="62179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 · MONTRER · prochaine étape sauvegardée</a:t>
            </a:r>
            <a:endParaRPr lang="en-US" sz="16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 · MONTRER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mesure pour afficher le montant en TND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1993392"/>
            <a:ext cx="7452360" cy="3456432"/>
          </a:xfrm>
          <a:prstGeom prst="roundRect">
            <a:avLst>
              <a:gd name="adj" fmla="val 3175"/>
            </a:avLst>
          </a:prstGeom>
          <a:solidFill>
            <a:srgbClr val="07152F"/>
          </a:solidFill>
          <a:ln w="8890">
            <a:solidFill>
              <a:srgbClr val="07152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0392" y="2240280"/>
            <a:ext cx="6940296" cy="290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 TND =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DIVIDE(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SUM(fact_sales[amount_millimes]),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1000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302752" y="2121408"/>
            <a:ext cx="429768" cy="42976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02752" y="2121408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851392" y="2075688"/>
            <a:ext cx="27249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 additionne les montants entiers.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8302752" y="3163824"/>
            <a:ext cx="429768" cy="42976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02752" y="3163824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851392" y="3118104"/>
            <a:ext cx="27249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DIVIDE convertit les millimes en TND.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8302752" y="4206240"/>
            <a:ext cx="429768" cy="42976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02752" y="4206240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851392" y="4160520"/>
            <a:ext cx="27249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Afficher sans unité abrégée, avec 3 décimales.</a:t>
            </a:r>
            <a:endParaRPr lang="en-US" sz="1900" dirty="0"/>
          </a:p>
        </p:txBody>
      </p:sp>
      <p:sp>
        <p:nvSpPr>
          <p:cNvPr id="19" name="Shape 17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mesure utilise amount_millimes ; additionner les prix unitaires ne donne pas les ventes.</a:t>
            </a:r>
            <a:endParaRPr lang="en-US" sz="18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 · MONTRER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Retrouver les mêmes chiffres dans le rapport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2103120"/>
            <a:ext cx="3456432" cy="3154680"/>
          </a:xfrm>
          <a:prstGeom prst="roundRect">
            <a:avLst>
              <a:gd name="adj" fmla="val 3478"/>
            </a:avLst>
          </a:prstGeom>
          <a:solidFill>
            <a:srgbClr val="2B3180"/>
          </a:solidFill>
          <a:ln w="8890">
            <a:solidFill>
              <a:srgbClr val="2B31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13816" y="2487168"/>
            <a:ext cx="30175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813816" y="3758184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Ventes élémentaires</a:t>
            </a:r>
            <a:endParaRPr lang="en-US" sz="2300" dirty="0"/>
          </a:p>
          <a:p>
            <a:pPr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Nombre de lignes de vente</a:t>
            </a:r>
            <a:endParaRPr lang="en-US" sz="2300" dirty="0"/>
          </a:p>
        </p:txBody>
      </p:sp>
      <p:sp>
        <p:nvSpPr>
          <p:cNvPr id="11" name="Shape 9"/>
          <p:cNvSpPr/>
          <p:nvPr/>
        </p:nvSpPr>
        <p:spPr>
          <a:xfrm>
            <a:off x="4361688" y="2103120"/>
            <a:ext cx="3456432" cy="3154680"/>
          </a:xfrm>
          <a:prstGeom prst="roundRect">
            <a:avLst>
              <a:gd name="adj" fmla="val 347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81144" y="2487168"/>
            <a:ext cx="30175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4800" dirty="0"/>
          </a:p>
        </p:txBody>
      </p:sp>
      <p:sp>
        <p:nvSpPr>
          <p:cNvPr id="13" name="Text 11"/>
          <p:cNvSpPr/>
          <p:nvPr/>
        </p:nvSpPr>
        <p:spPr>
          <a:xfrm>
            <a:off x="4581144" y="3758184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Unités vendues</a:t>
            </a:r>
            <a:endParaRPr lang="en-US" sz="2300" dirty="0"/>
          </a:p>
          <a:p>
            <a:pPr indent="0" marL="0">
              <a:buNone/>
            </a:pPr>
            <a:r>
              <a:rPr lang="en-US" sz="23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SUM(quantity)</a:t>
            </a:r>
            <a:endParaRPr lang="en-US" sz="2300" dirty="0"/>
          </a:p>
        </p:txBody>
      </p:sp>
      <p:sp>
        <p:nvSpPr>
          <p:cNvPr id="14" name="Shape 12"/>
          <p:cNvSpPr/>
          <p:nvPr/>
        </p:nvSpPr>
        <p:spPr>
          <a:xfrm>
            <a:off x="8129016" y="2103120"/>
            <a:ext cx="3456432" cy="3154680"/>
          </a:xfrm>
          <a:prstGeom prst="roundRect">
            <a:avLst>
              <a:gd name="adj" fmla="val 347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48472" y="2487168"/>
            <a:ext cx="30175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115,500</a:t>
            </a:r>
            <a:endParaRPr lang="en-US" sz="4800" dirty="0"/>
          </a:p>
        </p:txBody>
      </p:sp>
      <p:sp>
        <p:nvSpPr>
          <p:cNvPr id="16" name="Text 14"/>
          <p:cNvSpPr/>
          <p:nvPr/>
        </p:nvSpPr>
        <p:spPr>
          <a:xfrm>
            <a:off x="8348472" y="3758184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Montant en TND</a:t>
            </a:r>
            <a:endParaRPr lang="en-US" sz="2300" dirty="0"/>
          </a:p>
          <a:p>
            <a:pPr indent="0" marL="0">
              <a:buNone/>
            </a:pPr>
            <a:r>
              <a:rPr lang="en-US" sz="23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 TND</a:t>
            </a:r>
            <a:endParaRPr lang="en-US" sz="2300" dirty="0"/>
          </a:p>
        </p:txBody>
      </p:sp>
      <p:sp>
        <p:nvSpPr>
          <p:cNvPr id="17" name="Shape 15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Selon la langue du poste, 115.500 et 115,500 représentent ici le même montant : 115 TND et 500 millimes.</a:t>
            </a:r>
            <a:endParaRPr lang="en-US" sz="18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 · MONTRER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graphique doit garder la zone historique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7240" y="176479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Ventes du 5 au 8 janvier 2026 · zone valable à la date de vente</a:t>
            </a:r>
            <a:endParaRPr lang="en-US" sz="20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731520" y="2240280"/>
          <a:ext cx="745236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595360" y="2423160"/>
            <a:ext cx="2926080" cy="2697480"/>
          </a:xfrm>
          <a:prstGeom prst="roundRect">
            <a:avLst>
              <a:gd name="adj" fmla="val 406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814816" y="2679192"/>
            <a:ext cx="248716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72,000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TND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8814816" y="3831336"/>
            <a:ext cx="248716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Grand Tunis : Tunis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Nabeul dès le 8.</a:t>
            </a:r>
            <a:endParaRPr lang="en-US" sz="2100" dirty="0"/>
          </a:p>
        </p:txBody>
      </p:sp>
      <p:sp>
        <p:nvSpPr>
          <p:cNvPr id="13" name="Shape 10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 Bon : 43,500 TND. Grand Tunis : 67,500 + 4,500 = 72,000 TND. Total : 115,500 TND.</a:t>
            </a:r>
            <a:endParaRPr lang="en-US" sz="18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 · MONTRER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vous · 30 min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13232" y="2039112"/>
            <a:ext cx="1060704" cy="1060704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2039112"/>
            <a:ext cx="1060704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VOUS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075688" y="2057400"/>
            <a:ext cx="90708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Créer le graphique, filtrer, puis actualiser.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749808" y="3383280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3383280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417320" y="3364992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Carte CA TND + barres par dim_shop[commercial_zone].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49808" y="4096512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" y="4096512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417320" y="4078224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Filtrer une zone, expliquer le montant, puis retirer le filtre.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749808" y="4809744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9808" y="4809744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417320" y="4791456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Copier un export complet dans le dossier Windows, puis Actualiser.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modification SQLite ne met pas les CSV à jour : refaire l’export avant l’actualisation.</a:t>
            </a:r>
            <a:endParaRPr lang="en-US" sz="18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 · MONTRER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Skill : une recette de revue réutilisable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1993392"/>
            <a:ext cx="7452360" cy="3456432"/>
          </a:xfrm>
          <a:prstGeom prst="roundRect">
            <a:avLst>
              <a:gd name="adj" fmla="val 3175"/>
            </a:avLst>
          </a:prstGeom>
          <a:solidFill>
            <a:srgbClr val="07152F"/>
          </a:solidFill>
          <a:ln w="8890">
            <a:solidFill>
              <a:srgbClr val="07152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0392" y="2240280"/>
            <a:ext cx="6940296" cy="290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revoir-bi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description: Vérifier le rapport Atlas.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Comparer les totaux SQL et Power BI.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Vérifier les relations avec shop_key.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Citer un écart avec sa preuve.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302752" y="2121408"/>
            <a:ext cx="429768" cy="42976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02752" y="2121408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851392" y="2075688"/>
            <a:ext cx="27249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Créer le dossier du Skill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puis son fichier SKILL.md.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8302752" y="3163824"/>
            <a:ext cx="429768" cy="42976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02752" y="3163824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851392" y="3118104"/>
            <a:ext cx="27249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Changer une règle utile de l’amorce.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8302752" y="4206240"/>
            <a:ext cx="429768" cy="42976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02752" y="4206240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851392" y="4160520"/>
            <a:ext cx="27249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Utiliser le Skill puis observer son effet.</a:t>
            </a:r>
            <a:endParaRPr lang="en-US" sz="1900" dirty="0"/>
          </a:p>
        </p:txBody>
      </p:sp>
      <p:sp>
        <p:nvSpPr>
          <p:cNvPr id="19" name="Shape 17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Chemin : .agents/skills/revoir-bi/SKILL.md. Si non découvert, demander la lecture du fichier et le noter.</a:t>
            </a:r>
            <a:endParaRPr lang="en-US" sz="18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éparer les questions aide à trouver des erreurs différente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7089" y="320040"/>
            <a:ext cx="10674773" cy="540410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94360" y="91440"/>
            <a:ext cx="10698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 · MONTRER</a:t>
            </a:r>
            <a:endParaRPr lang="en-US" sz="1000" dirty="0"/>
          </a:p>
        </p:txBody>
      </p:sp>
      <p:sp>
        <p:nvSpPr>
          <p:cNvPr id="4" name="Shape 1"/>
          <p:cNvSpPr/>
          <p:nvPr/>
        </p:nvSpPr>
        <p:spPr>
          <a:xfrm>
            <a:off x="594360" y="5824728"/>
            <a:ext cx="10991088" cy="502920"/>
          </a:xfrm>
          <a:prstGeom prst="roundRect">
            <a:avLst>
              <a:gd name="adj" fmla="val 2181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77240" y="5852160"/>
            <a:ext cx="106253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disponibles et quota suffisant : au plus 2 sous-agents en lecture seule. Sinon, 2 passes successives.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</a:t>
            </a:r>
            <a:endParaRPr lang="en-US" sz="12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 · MONTRER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vous · revue → correction → deuxième revue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13232" y="2039112"/>
            <a:ext cx="1060704" cy="1060704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2039112"/>
            <a:ext cx="1060704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VOUS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075688" y="2057400"/>
            <a:ext cx="90708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Utiliser votre Skill sur deux questions précises.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749808" y="3383280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3383280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417320" y="3364992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Données : rejets, doublons, unités et totaux ; histoire : dates et relations.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49808" y="4096512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" y="4096512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417320" y="4078224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Rassembler les constats ; un seul auteur corrige le défaut établi.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749808" y="4809744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9808" y="4809744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417320" y="4791456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Relancer le contrôle et refaire la revue du résultat corrigé.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conversation qui joue deux rôles n’est pas deux sous-agents. Chaque agent utilise du quota.</a:t>
            </a:r>
            <a:endParaRPr lang="en-US" sz="18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 · MONTRER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ce stade, je sais…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95528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5528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95528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 montre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795528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Trois relations actives,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carte et un graphique.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4349496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50664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50664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550664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 compare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4550664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et Power BI donnent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mêmes chiffres.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8104632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305800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05800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305800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 révise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8305800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Skill guide la revue ;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correction est recontrôlée.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Sortie S4 : rapport Power BI enregistré, preuve de filtre/actualisation et revue traçable.</a:t>
            </a:r>
            <a:endParaRPr lang="en-US" sz="18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0715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3383280"/>
            <a:ext cx="5303520" cy="530352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pic>
        <p:nvPicPr>
          <p:cNvPr id="3" name="Image 0" descr="Logo fourni : Leaders Universit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29216" y="548640"/>
            <a:ext cx="1783080" cy="17830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85800" y="621792"/>
            <a:ext cx="8430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110" kern="0" dirty="0">
                <a:solidFill>
                  <a:srgbClr val="FF9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· S5 · LIVRER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685800" y="1517904"/>
            <a:ext cx="8595360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S5 · Je livre</a:t>
            </a:r>
            <a:endParaRPr lang="en-US" sz="4300" dirty="0"/>
          </a:p>
          <a:p>
            <a:pPr indent="0" marL="0">
              <a:buNone/>
            </a:pPr>
            <a:r>
              <a:rPr lang="en-US" sz="4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 je défends les chiffres</a:t>
            </a:r>
            <a:endParaRPr lang="en-US" sz="4300" dirty="0"/>
          </a:p>
        </p:txBody>
      </p:sp>
      <p:sp>
        <p:nvSpPr>
          <p:cNvPr id="6" name="Text 3"/>
          <p:cNvSpPr/>
          <p:nvPr/>
        </p:nvSpPr>
        <p:spPr>
          <a:xfrm>
            <a:off x="713232" y="3794760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Atlas vous confie un défaut connu à réparer · groupe de 3 au maximum.</a:t>
            </a:r>
            <a:endParaRPr lang="en-US" sz="2500" dirty="0"/>
          </a:p>
        </p:txBody>
      </p:sp>
      <p:sp>
        <p:nvSpPr>
          <p:cNvPr id="7" name="Text 4"/>
          <p:cNvSpPr/>
          <p:nvPr/>
        </p:nvSpPr>
        <p:spPr>
          <a:xfrm>
            <a:off x="713232" y="5111496"/>
            <a:ext cx="22860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9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h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3154680" y="5230368"/>
            <a:ext cx="7223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petite victoire · des preuves visibles</a:t>
            </a:r>
            <a:endParaRPr lang="en-US" sz="2300" dirty="0"/>
          </a:p>
        </p:txBody>
      </p:sp>
      <p:sp>
        <p:nvSpPr>
          <p:cNvPr id="9" name="Text 6"/>
          <p:cNvSpPr/>
          <p:nvPr/>
        </p:nvSpPr>
        <p:spPr>
          <a:xfrm>
            <a:off x="731520" y="62453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5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S5 · LIVRER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Votre séance 5 · 180 minutes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04088" y="2011680"/>
            <a:ext cx="438912" cy="438912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04088" y="20116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371600" y="2002536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0–30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3246120" y="1938528"/>
            <a:ext cx="8183880" cy="585216"/>
          </a:xfrm>
          <a:prstGeom prst="roundRect">
            <a:avLst>
              <a:gd name="adj" fmla="val 18750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56432" y="2020824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Commande finale + plan et rôles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9235440" y="2020824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T / 15 P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704088" y="2697480"/>
            <a:ext cx="438912" cy="438912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4088" y="26974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371600" y="2688336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30–95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3246120" y="2624328"/>
            <a:ext cx="8183880" cy="585216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56432" y="2706624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Reproduire, réparer, revoir, recontrôler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9235440" y="2706624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 P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704088" y="3383280"/>
            <a:ext cx="438912" cy="438912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4088" y="33832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371600" y="3374136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95–105</a:t>
            </a:r>
            <a:endParaRPr lang="en-US" sz="2100" dirty="0"/>
          </a:p>
        </p:txBody>
      </p:sp>
      <p:sp>
        <p:nvSpPr>
          <p:cNvPr id="23" name="Shape 21"/>
          <p:cNvSpPr/>
          <p:nvPr/>
        </p:nvSpPr>
        <p:spPr>
          <a:xfrm>
            <a:off x="3246120" y="3310128"/>
            <a:ext cx="8183880" cy="585216"/>
          </a:xfrm>
          <a:prstGeom prst="roundRect">
            <a:avLst>
              <a:gd name="adj" fmla="val 18750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56432" y="3392424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9235440" y="3392424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704088" y="4069080"/>
            <a:ext cx="438912" cy="438912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04088" y="40690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371600" y="4059936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105–160</a:t>
            </a:r>
            <a:endParaRPr lang="en-US" sz="2100" dirty="0"/>
          </a:p>
        </p:txBody>
      </p:sp>
      <p:sp>
        <p:nvSpPr>
          <p:cNvPr id="29" name="Shape 27"/>
          <p:cNvSpPr/>
          <p:nvPr/>
        </p:nvSpPr>
        <p:spPr>
          <a:xfrm>
            <a:off x="3246120" y="3995928"/>
            <a:ext cx="8183880" cy="585216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56432" y="4078224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Actualiser et défendre le rapport</a:t>
            </a:r>
            <a:endParaRPr lang="en-US" sz="2100" dirty="0"/>
          </a:p>
        </p:txBody>
      </p:sp>
      <p:sp>
        <p:nvSpPr>
          <p:cNvPr id="31" name="Text 29"/>
          <p:cNvSpPr/>
          <p:nvPr/>
        </p:nvSpPr>
        <p:spPr>
          <a:xfrm>
            <a:off x="9235440" y="4078224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 P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704088" y="4754880"/>
            <a:ext cx="438912" cy="438912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04088" y="47548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1371600" y="4745736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160–180</a:t>
            </a:r>
            <a:endParaRPr lang="en-US" sz="2100" dirty="0"/>
          </a:p>
        </p:txBody>
      </p:sp>
      <p:sp>
        <p:nvSpPr>
          <p:cNvPr id="35" name="Shape 33"/>
          <p:cNvSpPr/>
          <p:nvPr/>
        </p:nvSpPr>
        <p:spPr>
          <a:xfrm>
            <a:off x="3246120" y="4681728"/>
            <a:ext cx="8183880" cy="585216"/>
          </a:xfrm>
          <a:prstGeom prst="roundRect">
            <a:avLst>
              <a:gd name="adj" fmla="val 18750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456432" y="4764024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Dernier passage et remise</a:t>
            </a:r>
            <a:endParaRPr lang="en-US" sz="2100" dirty="0"/>
          </a:p>
        </p:txBody>
      </p:sp>
      <p:sp>
        <p:nvSpPr>
          <p:cNvPr id="37" name="Text 35"/>
          <p:cNvSpPr/>
          <p:nvPr/>
        </p:nvSpPr>
        <p:spPr>
          <a:xfrm>
            <a:off x="9235440" y="4764024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P</a:t>
            </a:r>
            <a:endParaRPr lang="en-US" sz="2000" dirty="0"/>
          </a:p>
        </p:txBody>
      </p:sp>
      <p:sp>
        <p:nvSpPr>
          <p:cNvPr id="38" name="Shape 36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défi prolonge Atlas. Il réutilise un cas déjà rencontré et le rapport réalisé en S4.</a:t>
            </a:r>
            <a:endParaRPr lang="en-US" sz="18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S5 · LIVRER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défaut court, une réparation prouvée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95528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5528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95528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Données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795528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Retrouver la source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 expliquer l’écart.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4349496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50664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50664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550664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Modèle et histoire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4550664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Vérifier les clés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 la frontière du 8 janvier.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8104632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305800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05800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305800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Rapport et preuves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8305800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Actualiser Power BI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 comparer à SQL.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trois : un rôle chacun. À deux ou seul : regrouper les rôles ; chacun explique sa contribution.</a:t>
            </a:r>
            <a:endParaRPr lang="en-US" sz="18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S5 · LIVRER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vous · 65 min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13232" y="2039112"/>
            <a:ext cx="1060704" cy="1060704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2039112"/>
            <a:ext cx="1060704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VOUS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075688" y="2057400"/>
            <a:ext cx="90708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Rendre le défaut reproductible avant de le corriger.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749808" y="3383280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3383280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417320" y="3364992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Écrire le symptôme, le résultat attendu et un plan court.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49808" y="4096512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" y="4096512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417320" y="4078224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Réparer seulement le défaut fourni, puis lancer le contrôle utile.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749808" y="4809744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9808" y="4809744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417320" y="4791456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Faire une revue indépendante, corriger et refaire la revue.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Conserver : prompt, fichiers modifiés, commande réelle, résultat et limite éventuelle.</a:t>
            </a:r>
            <a:endParaRPr lang="en-US" sz="18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3F5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1188720"/>
            <a:ext cx="2011680" cy="201168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1188720"/>
            <a:ext cx="2011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914400" y="335584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MINUTES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291840" y="150876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 · 10 minutes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3291840" y="2743200"/>
            <a:ext cx="7543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Sauvez le dernier état fonctionnel.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Reprenez avec un export complet et le rapport Power BI.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777240" y="62179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S5 · LIVRER · prochaine étape sauvegardée</a:t>
            </a:r>
            <a:endParaRPr lang="en-US" sz="16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e rapport doit raconter la même histoire que les ventes et leurs clé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90828" y="320040"/>
            <a:ext cx="9607296" cy="540410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94360" y="91440"/>
            <a:ext cx="10698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S5 · LIVRER</a:t>
            </a:r>
            <a:endParaRPr lang="en-US" sz="1000" dirty="0"/>
          </a:p>
        </p:txBody>
      </p:sp>
      <p:sp>
        <p:nvSpPr>
          <p:cNvPr id="4" name="Shape 1"/>
          <p:cNvSpPr/>
          <p:nvPr/>
        </p:nvSpPr>
        <p:spPr>
          <a:xfrm>
            <a:off x="594360" y="5824728"/>
            <a:ext cx="10991088" cy="502920"/>
          </a:xfrm>
          <a:prstGeom prst="roundRect">
            <a:avLst>
              <a:gd name="adj" fmla="val 2181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77240" y="5852160"/>
            <a:ext cx="106253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ventes · 35 unités · 115,500 TND · Cap Bon 43,500 · Grand Tunis 72,000.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</a:t>
            </a:r>
            <a:endParaRPr lang="en-US" sz="12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S5 · LIVRER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direction demande : « pourquoi y croire ? »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95528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5528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95528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Montrer le chemin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795528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Ligne source → nettoyage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clé → SQL → Power BI.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4349496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50664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50664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550664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Montrer le changement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4550664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Vente NBE du 7 : Cap Bon.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Vente NBE du 8 : Grand Tunis.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8104632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305800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05800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305800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Montrer sa part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8305800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que j’ai changé,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que j’ai exécuté,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qui reste limité.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Utilisez les preuves de votre travail. L’explication peut aussi être écrite.</a:t>
            </a:r>
            <a:endParaRPr lang="en-US" sz="18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S5 · LIVRER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Dernier passage · 20 min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13232" y="2039112"/>
            <a:ext cx="1060704" cy="1060704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2039112"/>
            <a:ext cx="1060704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VOUS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075688" y="2057400"/>
            <a:ext cx="90708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Remettre un dossier que l’on peut reprendre.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749808" y="3383280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3383280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417320" y="3364992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Relancer depuis le jalon documenté et comparer aux valeurs finales.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49808" y="4096512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" y="4096512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417320" y="4078224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Garder code, entrepôt/reconstruction, 4 CSV, manifeste et fichier Power BI.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749808" y="4809744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9808" y="4809744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417320" y="4791456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Terminer SUIVI.md : contribution, preuve, limite et prochaine action.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Référence du défi : 04_defi_atlas.pdf. Aucun résultat annoncé sans contrôle réellement exécuté.</a:t>
            </a:r>
            <a:endParaRPr lang="en-US" sz="18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0715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 fourni : Leaders Universit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29216" y="548640"/>
            <a:ext cx="1783080" cy="17830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21792"/>
            <a:ext cx="8430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110" kern="0" dirty="0">
                <a:solidFill>
                  <a:srgbClr val="FF9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S5 · DU FICHIER À LA DÉCISION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685800" y="1444752"/>
            <a:ext cx="8503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savez maintenant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construire et expliquer une chaîne BI</a:t>
            </a:r>
            <a:endParaRPr lang="en-US" sz="4400" dirty="0"/>
          </a:p>
        </p:txBody>
      </p:sp>
      <p:sp>
        <p:nvSpPr>
          <p:cNvPr id="5" name="Shape 2"/>
          <p:cNvSpPr/>
          <p:nvPr/>
        </p:nvSpPr>
        <p:spPr>
          <a:xfrm>
            <a:off x="731520" y="3310128"/>
            <a:ext cx="393192" cy="393192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3310128"/>
            <a:ext cx="3931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371600" y="325526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Guider Codex avec une petite tâche et un contexte utile.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731520" y="3968496"/>
            <a:ext cx="393192" cy="393192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3968496"/>
            <a:ext cx="3931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371600" y="3913632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Lire CSV/SQL, nettoyer et préserver l’histoire des ventes.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731520" y="4626864"/>
            <a:ext cx="393192" cy="393192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31520" y="4626864"/>
            <a:ext cx="3931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371600" y="45720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Relier Power BI aux tables et défendre les chiffres.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731520" y="6126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Prochaine étape : réutiliser la démarche sur des données dont vous comprenez le sens.</a:t>
            </a:r>
            <a:endParaRPr lang="en-US" sz="20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S5 · LIVRER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Pour retrouver les repères officiels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2057400"/>
            <a:ext cx="3456432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95528" y="2286000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5528" y="22860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95528" y="3017520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CODEX</a:t>
            </a:r>
            <a:endParaRPr lang="en-US" sz="2100" dirty="0"/>
          </a:p>
        </p:txBody>
      </p:sp>
      <p:sp>
        <p:nvSpPr>
          <p:cNvPr id="12" name="Text 10">
            <a:hlinkClick r:id="rId1" tooltip=""/>
          </p:cNvPr>
          <p:cNvSpPr/>
          <p:nvPr/>
        </p:nvSpPr>
        <p:spPr>
          <a:xfrm>
            <a:off x="795528" y="3657600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u="sng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Application</a:t>
            </a:r>
            <a:endParaRPr lang="en-US" sz="1800" dirty="0"/>
          </a:p>
        </p:txBody>
      </p:sp>
      <p:sp>
        <p:nvSpPr>
          <p:cNvPr id="13" name="Text 11">
            <a:hlinkClick r:id="rId2" tooltip=""/>
          </p:cNvPr>
          <p:cNvSpPr/>
          <p:nvPr/>
        </p:nvSpPr>
        <p:spPr>
          <a:xfrm>
            <a:off x="795528" y="4169664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u="sng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Offre Free</a:t>
            </a:r>
            <a:endParaRPr lang="en-US" sz="1800" dirty="0"/>
          </a:p>
        </p:txBody>
      </p:sp>
      <p:sp>
        <p:nvSpPr>
          <p:cNvPr id="14" name="Text 12">
            <a:hlinkClick r:id="rId3" tooltip=""/>
          </p:cNvPr>
          <p:cNvSpPr/>
          <p:nvPr/>
        </p:nvSpPr>
        <p:spPr>
          <a:xfrm>
            <a:off x="795528" y="4681728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u="sng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Modèles et effort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4361688" y="2057400"/>
            <a:ext cx="3456432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62856" y="2286000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62856" y="22860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562856" y="3017520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POSTE ET PROJET</a:t>
            </a:r>
            <a:endParaRPr lang="en-US" sz="2100" dirty="0"/>
          </a:p>
        </p:txBody>
      </p:sp>
      <p:sp>
        <p:nvSpPr>
          <p:cNvPr id="19" name="Text 17">
            <a:hlinkClick r:id="rId4" tooltip=""/>
          </p:cNvPr>
          <p:cNvSpPr/>
          <p:nvPr/>
        </p:nvSpPr>
        <p:spPr>
          <a:xfrm>
            <a:off x="4562856" y="3657600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u="sng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Windows + WSL2</a:t>
            </a:r>
            <a:endParaRPr lang="en-US" sz="1800" dirty="0"/>
          </a:p>
        </p:txBody>
      </p:sp>
      <p:sp>
        <p:nvSpPr>
          <p:cNvPr id="20" name="Text 18">
            <a:hlinkClick r:id="rId5" tooltip=""/>
          </p:cNvPr>
          <p:cNvSpPr/>
          <p:nvPr/>
        </p:nvSpPr>
        <p:spPr>
          <a:xfrm>
            <a:off x="4562856" y="4169664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u="sng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Application Ubuntu</a:t>
            </a:r>
            <a:endParaRPr lang="en-US" sz="1800" dirty="0"/>
          </a:p>
        </p:txBody>
      </p:sp>
      <p:sp>
        <p:nvSpPr>
          <p:cNvPr id="21" name="Text 19">
            <a:hlinkClick r:id="rId6" tooltip=""/>
          </p:cNvPr>
          <p:cNvSpPr/>
          <p:nvPr/>
        </p:nvSpPr>
        <p:spPr>
          <a:xfrm>
            <a:off x="4562856" y="4681728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u="sng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AGENTS.md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8129016" y="2057400"/>
            <a:ext cx="3456432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330184" y="2286000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330184" y="22860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8330184" y="3017520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MÉTHODES</a:t>
            </a:r>
            <a:endParaRPr lang="en-US" sz="2100" dirty="0"/>
          </a:p>
        </p:txBody>
      </p:sp>
      <p:sp>
        <p:nvSpPr>
          <p:cNvPr id="26" name="Text 24">
            <a:hlinkClick r:id="rId7" tooltip=""/>
          </p:cNvPr>
          <p:cNvSpPr/>
          <p:nvPr/>
        </p:nvSpPr>
        <p:spPr>
          <a:xfrm>
            <a:off x="8330184" y="3657600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u="sng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Skills locaux</a:t>
            </a:r>
            <a:endParaRPr lang="en-US" sz="1800" dirty="0"/>
          </a:p>
        </p:txBody>
      </p:sp>
      <p:sp>
        <p:nvSpPr>
          <p:cNvPr id="27" name="Text 25">
            <a:hlinkClick r:id="rId8" tooltip=""/>
          </p:cNvPr>
          <p:cNvSpPr/>
          <p:nvPr/>
        </p:nvSpPr>
        <p:spPr>
          <a:xfrm>
            <a:off x="8330184" y="4169664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u="sng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Sous-agents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8330184" y="4681728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 BI : powerbi/README.md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État documentaire : 27/10/2026. Vérifier l’accès et les options du compte réel ; les liens sont cliquables.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82</Slides>
  <Notes>82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82</vt:i4>
      </vt:variant>
    </vt:vector>
  </HeadingPairs>
  <TitlesOfParts>
    <vt:vector size="8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</vt:vector>
  </TitlesOfParts>
  <Company>Leaders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Construire une solution BI avec Codex — 15 h</dc:title>
  <dc:subject>Licence BI • Codex, Python et ETL • 15 h</dc:subject>
  <dc:creator>Youssef Douma</dc:creator>
  <cp:lastModifiedBy>Youssef Douma</cp:lastModifiedBy>
  <cp:revision>1</cp:revision>
  <dcterms:created xsi:type="dcterms:W3CDTF">2026-10-27T14:19:11Z</dcterms:created>
  <dcterms:modified xsi:type="dcterms:W3CDTF">2026-10-27T14:19:11Z</dcterms:modified>
</cp:coreProperties>
</file>