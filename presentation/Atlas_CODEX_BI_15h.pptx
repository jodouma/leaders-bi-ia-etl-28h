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1.xml" ContentType="application/vnd.openxmlformats-officedocument.drawingml.chart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Montant vendu (TND)</c:v>
                </c:pt>
              </c:strCache>
            </c:strRef>
          </c:tx>
          <c:spPr>
            <a:solidFill>
              <a:srgbClr val="2B31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2B31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Cap Bon</c:v>
                  </c:pt>
                  <c:pt idx="1">
                    <c:v>Grand Tunis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800" u="none">
                  <a:solidFill>
                    <a:srgbClr val="2B31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A1F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12700" cap="flat">
              <a:solidFill>
                <a:srgbClr val="DCE2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700" b="0" i="0" u="none" strike="noStrike">
                    <a:solidFill>
                      <a:srgbClr val="000000"/>
                    </a:solidFill>
                    <a:latin typeface="Arial"/>
                  </a:rPr>
                  <a:t>Montant vendu (TND)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962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officielle consultée le 27 octobre 2026 : https://learn.chatgpt.com/docs/app. Origine : agent de programmation OpenAI. Pas de revendication d’adoption ni de productivité garantie.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État documentaire au 27/10/2026 : https://learn.chatgpt.com/docs/pricing et https://learn.chatgpt.com/docs/app. Accès Free Desktop sous déploiement ; aucun accès CLI Free universel démontré. Compte Free non testé par cette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OpenAI, 27/10/2026 : https://learn.chatgpt.com/docs/linux/linux-app. Preview Ubuntu 24.04/26.04 x64/ARM64. Aucun essai Windows/Ubuntu ou compte Free attesté par ces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https://learn.chatgpt.com/docs/agent-configuration/agents-md, consultée le 27/10/2026. Nouvelle session pour contrôler la lecture effective des règles.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consultées le 27/10/2026 : https://learn.chatgpt.com/docs/pricing et https://learn.chatgpt.com/docs/models. Free annonce Luna Standard sous déploiement ; High conseillé pour Luna si le choix est disponible. Luna ne supporte pas Ultra. Les options diffèrent selon les comptes.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Requête du contrat Atlas V6 : extraction distincte de source_shop_changes, paramètre de lot 2026-01-08. La requête source_sales ne renvoie que les ventes. Le comptage 3 ventes + 1 changement provient de deux SELECT réellement exécutés.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Dernier créneau pratique de S3 : 25 min. La recherche temporelle est achevée avant l’incrément ; les clés initiales peuvent maintenant être comparées avec les clés après lot et rejeu. Un seul auteur corrige ; test utile puis deuxième revue.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officielles au 27/10/2026 : https://learn.chatgpt.com/docs/build-skills. Disponibilité et découverte à vérifier sur le vrai compte Free. Un Skill ne crée ni outil ni garantie de justesse.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Parcours Licence BI 15 h : cinq séances de 180 min. Les montants sont en TND à l’affichage et millimes entiers au stockage. Un fait = une vente élémentaire. Les contrôles indiquent des attendus ; conserver les observations réellement exécutées.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 : https://learn.chatgpt.com/docs/app ; https://learn.chatgpt.com/docs/pricing ; https://learn.chatgpt.com/docs/models ; https://learn.chatgpt.com/docs/app/windows ; https://learn.chatgpt.com/docs/linux/linux-app ; https://learn.chatgpt.com/docs/build-skills ; https://learn.chatgpt.com/docs/agent-configuration/subagents. Microsoft : voir powerbi/README.md pour les références vérifiées par le kit. Les timings sont des estimations de conception sans mesure novice humaine. Les supports ne prouvent pas l’installation Windows/Ubuntu, l’accès Free, la découverte de Skills ou une manipulation Power BI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7.xml"/><Relationship Id="rId3" Type="http://schemas.openxmlformats.org/officeDocument/2006/relationships/slide" Target="slide43.xml"/><Relationship Id="rId4" Type="http://schemas.openxmlformats.org/officeDocument/2006/relationships/slide" Target="slide59.xml"/><Relationship Id="rId5" Type="http://schemas.openxmlformats.org/officeDocument/2006/relationships/slide" Target="slide7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chatgpt.com/docs/app" TargetMode="External"/><Relationship Id="rId2" Type="http://schemas.openxmlformats.org/officeDocument/2006/relationships/hyperlink" Target="https://learn.chatgpt.com/docs/pricing" TargetMode="External"/><Relationship Id="rId3" Type="http://schemas.openxmlformats.org/officeDocument/2006/relationships/hyperlink" Target="https://learn.chatgpt.com/docs/models" TargetMode="External"/><Relationship Id="rId4" Type="http://schemas.openxmlformats.org/officeDocument/2006/relationships/hyperlink" Target="https://learn.chatgpt.com/docs/app/windows" TargetMode="External"/><Relationship Id="rId5" Type="http://schemas.openxmlformats.org/officeDocument/2006/relationships/hyperlink" Target="https://learn.chatgpt.com/docs/linux/linux-app" TargetMode="External"/><Relationship Id="rId6" Type="http://schemas.openxmlformats.org/officeDocument/2006/relationships/hyperlink" Target="https://learn.chatgpt.com/docs/agent-configuration/agents-md" TargetMode="External"/><Relationship Id="rId7" Type="http://schemas.openxmlformats.org/officeDocument/2006/relationships/hyperlink" Target="https://learn.chatgpt.com/docs/build-skills" TargetMode="External"/><Relationship Id="rId8" Type="http://schemas.openxmlformats.org/officeDocument/2006/relationships/hyperlink" Target="https://learn.chatgpt.com/docs/agent-configuration/subagents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S1 · DÉMARRER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solution BI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Codex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Papeterie · de la première vente au rapport Power BI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séances de 3 h · 70 % pratique hors pauses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rejoignez Atlas Papeterie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poste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 équipe BI.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apprenez les outils en avançant.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demande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Combien avons-nous vendu,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et dans quelle zone ? »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difficulté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lignes fausses, des répétitions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une boutique qui change de zone.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fictif · 2 boutiques · ventes du 5 au 8 janvier 2026.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 : aider à décider avec des données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montant a été vendu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zone commerciale 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à partir de ventes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fiables et bien reliées.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zones, puis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poser une meilleure question.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usages : suivre un stock, comparer des achats ou mesurer un délai. Ici, nous étudions les ventes.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bonne question vient avant le graphique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 VAGUE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Fais un beau tableau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bord. »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VÉRIFIABLE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Montant vendu en TND,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5 au 8 janvier,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zone à la date de vente. »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précise la période, l’unité, le niveau de détail et le sens du regroupement.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que flèche transforme ou transporte des donné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20040"/>
            <a:ext cx="10808208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+ SQL → Python → étoile SQLite → 4 CSV → Power BI Desktop Windows.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séances, cinq petites victoires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>
            <a:hlinkClick r:id="rId1" tooltip="" action="ppaction://hlinksldjump"/>
          </p:cNvPr>
          <p:cNvSpPr/>
          <p:nvPr/>
        </p:nvSpPr>
        <p:spPr>
          <a:xfrm>
            <a:off x="1216152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Poste, Codex,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vente.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06040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43784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3465576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935224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SQL,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nettoyage, étoile.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55464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93208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>
            <a:hlinkClick r:id="rId3" tooltip="" action="ppaction://hlinksldjump"/>
          </p:cNvPr>
          <p:cNvSpPr/>
          <p:nvPr/>
        </p:nvSpPr>
        <p:spPr>
          <a:xfrm>
            <a:off x="57150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184648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66944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Ajout, rejeu,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histoire.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04888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42632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4424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8" name="Text 26">
            <a:hlinkClick r:id="rId4" tooltip="" action="ppaction://hlinksldjump"/>
          </p:cNvPr>
          <p:cNvSpPr/>
          <p:nvPr/>
        </p:nvSpPr>
        <p:spPr>
          <a:xfrm>
            <a:off x="7964424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434072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16368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Skill, revue.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54312" y="2359152"/>
            <a:ext cx="210312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92056" y="2944368"/>
            <a:ext cx="1984248" cy="2432304"/>
          </a:xfrm>
          <a:prstGeom prst="roundRect">
            <a:avLst>
              <a:gd name="adj" fmla="val 553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13848" y="1993392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4" name="Text 32">
            <a:hlinkClick r:id="rId5" tooltip="" action="ppaction://hlinksldjump"/>
          </p:cNvPr>
          <p:cNvSpPr/>
          <p:nvPr/>
        </p:nvSpPr>
        <p:spPr>
          <a:xfrm>
            <a:off x="10213848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83496" y="3191256"/>
            <a:ext cx="1801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65792" y="3858768"/>
            <a:ext cx="1636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Défaut, preuve,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explication.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séance dure 180 min, avec une pause réelle de 10 min.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 avec du temps pour essayer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2747772" cy="571500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42132" y="2011680"/>
            <a:ext cx="2747772" cy="571500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0148" y="2057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089904" y="2011680"/>
            <a:ext cx="2747772" cy="571500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57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837676" y="2011680"/>
            <a:ext cx="2747772" cy="571500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5692" y="2057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2583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628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42132" y="2583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0148" y="2628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89904" y="2583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628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min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37676" y="2583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5692" y="2628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4360" y="3154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3200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342132" y="3154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0148" y="3200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089904" y="3154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200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min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837676" y="3154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5692" y="3200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3726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771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342132" y="3726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0148" y="3771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089904" y="3726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771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min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837676" y="3726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5692" y="3771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94360" y="4297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4343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3342132" y="4297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0148" y="4343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089904" y="4297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343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min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8837676" y="4297680"/>
            <a:ext cx="2747772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5692" y="43434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594360" y="4869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" y="4914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3342132" y="4869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0148" y="4914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089904" y="4869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914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 min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8837676" y="4869180"/>
            <a:ext cx="2747772" cy="571500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5692" y="4914900"/>
            <a:ext cx="2491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: 255 min concepts + 595 min pratique + 50 min pause. Hors pauses : 30 % / 70 %.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S1 · DÉMARRER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Je peux commencer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: trouver les fichiers, guider Codex et expliquer une vente.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petite victoire · des preuves visibles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séance 1 · 180 minutes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+ prise en main du poste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 / 40 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60–105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+ petit plan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30 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105–115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115–155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+ première vente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155–180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+ préparer la reprise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 / 15 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concepts et démonstrations · P = vous manipulez, cherchez et expliquez.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: de la réponse à l’action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une réponse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partir d’un contexte.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 un modèle à des outils 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lire, modifier, exécuter.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rôle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la tâche, les limites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les preuves attendues.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est un agent de programmation d’OpenAI : nous l’utilisons pour adapter et vérifier de petits scripts.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conversation et un travail d’agent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Comment nettoyer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code boutique ? »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lisez une explication.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DANS LE DOSSIER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Lis ce fichier. Propose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petit changement.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 le contrôle. »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action dépend des outils et permissions disponibles. Lire le résultat reste votre travail.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e correction revient au contrôle, puis à la revu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82448"/>
            <a:ext cx="11731752" cy="52792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→ agir → tester → relire → corriger → relire à nouveau.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gratuit à vérifier sur votre poste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l’application de bureau,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Codex puis New chat.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Free annoncée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Luna · vitesse Standard.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selon déploiement.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 le modèle et les options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réellement visibles.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Codex n’apparaît pas, prévenir le professeur. Lire les données aide, mais ne valide pas la manipulation Codex.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dex est une fenêtre Windows ; son agent utilise Ubuntu dans WSL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239" y="320040"/>
            <a:ext cx="9198475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: agent WSL2 + Python dans Ubuntu ; Power BI Desktop sur l’hôte Windows.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Ubuntu : une route, puis un relais Windows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Linux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Linux en preview 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24.04 ou 26.04 LTS.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local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 Ubuntu lance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et SQLite.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Transférer le paquet complet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poste Windows du groupe.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poste Windows doit être disponible dès S4. La connexion et les installations se vérifient en salle.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 les trois endroits où travailler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2350008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3816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13816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atelier/data/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ventes_initiales.csv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trouve les entrées.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361688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24144" y="2350008"/>
            <a:ext cx="731520" cy="731520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144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81144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581144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atelier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81144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choisis le dossier.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129016" y="2103120"/>
            <a:ext cx="3456432" cy="3182112"/>
          </a:xfrm>
          <a:prstGeom prst="roundRect">
            <a:avLst>
              <a:gd name="adj" fmla="val 344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2350008"/>
            <a:ext cx="731520" cy="731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2350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48472" y="3346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348472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(racine du cours)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48472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J’écris et j’enregistre.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ouvre ~/cours-bi ; le terminal entre dans atelier/ avec cd atelier. Enregistrer avant d’exécuter.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s sources se lisent ; votre copie de travail se constru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260" y="320040"/>
            <a:ext cx="10172431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racine du cours dans Codex ; exécuter les étapes dans atelier/.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prompt : lire avant de modifier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 AGENTS.md à la racine du cours.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 atelier/data/ventes_initiales.csv.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Explique ce que décrit une ligne.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 un plan de trois étapes.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modifie aucun fichier.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 dossier et les chemins.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plan : est-il petit et clair 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Reformuler une étape avec vos mots.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reste ouvert sur ~/cours-bi. AGENTS.md est à la racine ; les données sont dans atelier/data/.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: garder les règles du projet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Explique en français simple.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Travaille une mission à la fois.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change pas les sources.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Garde les montants en millimes entiers.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Montre la commande et son résultat.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cache pas un écart.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racine 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AGENTS.md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Enregistrer : Ctrl+O (lettre O), puis Entrée.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Quitter : Ctrl+X. Garder les règles fournies.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~/cours-bi/AGENTS.md en gardant les règles fournies. Ne créez pas un second fichier dans atelier/.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30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une petite mission, puis améliorer le prompt.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racine du cours, lire AGENTS.md fourni et ajouter une règle.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le plan en trois étapes, sans modifier les ventes.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une phrase imprécise et la remplacer.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: règle ajoutée dans ~/cours-bi/AGENTS.md + prompt avant/après + plan retenu.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2011680" cy="201168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· 10 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91840" y="2743200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Enregistrez votre fichier et votre prochaine action.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à la première vente.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 · prochaine étape sauvegardée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contexte informe la réponse ; le quota autorise l’usage du comp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" y="320040"/>
            <a:ext cx="11528755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résumé peut alléger une reprise. Il ne remet pas le quota à zéro.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ndard désigne la vitesse ; l’effort désigne la réflex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822" y="320040"/>
            <a:ext cx="11229307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: Luna · Standard = vitesse. High conseillé si visible. Luna ne propose pas Ultra.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victoire : expliquer une vente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× prix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4 500 = 9 000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1928" y="2075688"/>
            <a:ext cx="5230368" cy="2148840"/>
          </a:xfrm>
          <a:prstGeom prst="roundRect">
            <a:avLst>
              <a:gd name="adj" fmla="val 5106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en TND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9 000 ÷ 1 000 = 9,000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10528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carnets à 4,500 TND → 9,000 TND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avant de lancer : que donneraient 3 carnets au même prix 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multiplication et l’unité précèdent le code. 1 TND = 1 000 millimes.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prédire, exécuter, comparer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une preuve, puis préparer la reprise.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la vente, prédire son montant, lancer le calcul fourni.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 le résultat observé et l’option modèle/effort visible.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SUIVI.md avec la méthode nano du guide : fait, preuve et prochaine action.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atteint : continuer le calcul et les contrôles locaux ; noter « agent indisponible ».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DÉMARRER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me repère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montre mes fichiers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mon terminal.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dirige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limite une demande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les fichiers modifiables.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vérifie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J’explique 9,000 TND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relire Codex.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S1 : règles locales, prompt amélioré, calcul vérifié et reprise courte.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S2 · FIABILISER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Je rends les ventes fiables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: expliquer les écarts, lire CSV et SQL, dessiner l’étoile.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petite victoire · des preuves visibles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séance 2 · 180 minutes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sort des lignes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40–85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 nettoyage Python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30 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95–140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vraie extraction SQL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30 P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140–180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Fait, dimensions et clés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est amorcé. Vous adaptez une petite partie et expliquez ses effets.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raconte une vente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= UNE VENTE ÉLÉMENTAIRE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 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· Carnet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0712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93592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· Nabeul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27064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9944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05/01/2026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43416" y="2816352"/>
            <a:ext cx="2542032" cy="1755648"/>
          </a:xfrm>
          <a:prstGeom prst="roundRect">
            <a:avLst>
              <a:gd name="adj" fmla="val 62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26296" y="37033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unités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901184"/>
            <a:ext cx="484632" cy="48463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0118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17904" y="49103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: stable même quand le fichier est rejoué.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identifie une vente élémentaire. Ce n’est ni le nombre de clients ni un ticket complet.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que ligne brute a une destination explicab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45" y="320040"/>
            <a:ext cx="11377061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lignes = 12 ventes acceptées + 1 doublon identique + 3 rejets.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avant de coder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175203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291917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69563" y="2011680"/>
            <a:ext cx="3663696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7579" y="2057400"/>
            <a:ext cx="340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3259" y="2011680"/>
            <a:ext cx="4152189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1275" y="2057400"/>
            <a:ext cx="389615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17520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291917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nbe "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69563" y="2679192"/>
            <a:ext cx="366369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7579" y="2724912"/>
            <a:ext cx="340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Retirer espaces → NBE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33259" y="2679192"/>
            <a:ext cx="415218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1275" y="2724912"/>
            <a:ext cx="389615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code, écriture différente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17520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291917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déjà vu, identique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769563" y="3346704"/>
            <a:ext cx="366369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7579" y="3392424"/>
            <a:ext cx="340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un doublon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33259" y="3346704"/>
            <a:ext cx="415218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1275" y="3392424"/>
            <a:ext cx="389615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compter deux fois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17520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291917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= 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769563" y="4014216"/>
            <a:ext cx="366369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97579" y="4059936"/>
            <a:ext cx="340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 et expliquer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33259" y="4014216"/>
            <a:ext cx="415218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1275" y="4059936"/>
            <a:ext cx="389615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: quantité positive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317520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4727448"/>
            <a:ext cx="291917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impossible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769563" y="4681728"/>
            <a:ext cx="366369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7579" y="4727448"/>
            <a:ext cx="340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 et expliquer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433259" y="4681728"/>
            <a:ext cx="415218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61275" y="4727448"/>
            <a:ext cx="389615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dater la vente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sale_id, contenu différent : conflit à signaler. Ne jamais choisir une version au hasard.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: une transformation minuscule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normaliser_code(texte):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isinstance(texte, str):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ValueError("code non texte")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texte.strip().upper()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 nbe " devient "NBE"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que l’entrée est du texte.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résultat de " tun ".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signifie une valeur absente : erreur.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 type avant de retirer les espaces. None doit être refusé ; il ne doit pas devenir le faux code "NONE".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re exactement le texte, puis stocker une quantité entiè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92433"/>
            <a:ext cx="11731752" cy="50593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 TND = 4 500 millimes. Aucun arrondi silencieux pour masquer une mauvaise valeur.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30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le nettoyage, puis justifier chaque écart.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à Codex un changement limité à la fonction indiquée.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le contrôle du jalon et lire le premier écart.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une ligne rejetée et expliquer sa raison.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attendue : 12 ventes, 32 unités, 99 000 millimes = 99,000 TND.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2011680" cy="201168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· 10 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91840" y="2743200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Conservez le contrôle exécuté et sa sortie.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aux deux types de sources.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 · prochaine étape sauvegardée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et SQL : deux façons de lire une source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CSV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texte avec en-têtes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lignes séparées.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data/ventes_initiales.csv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SQLITE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tables interrogées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une requête SQL.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source_operationnelle.sqlite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source est distincte de l’entrepôt outputs/atlas.sqlite. Une extraction SQL lit réellement la source.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un lot avec SELECT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sale_id, date, shop_id,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product_id, quantity, unit_price_tnd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source_sales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batch_id =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sale_id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: choisir les colonnes.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: choisir la table source.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: paramètre fourni = 2026-01-08.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requête lit 3 ventes : S012, S013 et S014. Conserver le SQL, le paramètre et le résultat.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aussi le changement de zone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shop_id, effective_date,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commercial_zone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source_shop_changes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batch_id =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effective_date, shop_id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paramètre 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2026-01-08.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: NBE change de zone.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aussi ce résultat SQL.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deuxième requête lit 1 événement : NBE → Grand Tunis, effectif le 8 janvier 2026.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fait porte les quantités ; les dimensions décrivent produit, boutique et d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523" y="320040"/>
            <a:ext cx="8733905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fact_sales = une vente. Les clés relient les tables sans recopier toutes les descriptions.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identifiants, deux rôles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métier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029075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7091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3790" y="2011680"/>
            <a:ext cx="412165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1806" y="2057400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 de vente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= Carnet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029075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7091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63790" y="2679192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1806" y="2724912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→ product_key 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= Stylo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029075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7091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63790" y="3346704"/>
            <a:ext cx="412165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806" y="3392424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S002 → product_key 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du produit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029075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57091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locale de liaison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63790" y="4014216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806" y="4059936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la dimension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est le code métier. product_key est la clé de liaison de l’entrepôt.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lire et ranger les cartes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Prouver l’extraction, puis expliquer l’étoile.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les deux requêtes avec le bon paramètre de lot.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les trois ventes et le changement de zone de NBE.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 quantité, nom produit, zone et date autour de la vente.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SQL réellement lue ; les données originales restent intactes.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FIABILISER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décide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justifie nettoyage,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 et rejet.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montre une ligne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obtenue par SELECT.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relie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distingue vente,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et clé.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S2 : ventes propres, preuve SQL, étoile expliquée. Si un total diffère, revenir à la ligne source.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S3 · CHARGER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Je charge demain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abîmer hier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: ajouter un lot, le rejouer et conserver la zone historique.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petite victoire · des preuves visibles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séance 3 · 180 minutes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les dimensions puis les faits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versions et recherche temporelle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 / 35 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95–105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105–145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et rejouer le lot SQL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145–180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Clés, contrôles et revue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 / 25 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Ordre des jalons : initial 04 → recherche temporelle 05 → incrément et rejeu 06.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charger les descriptions d’abord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Dimensions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les cartes Produit,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et Date.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Faits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vente référence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clés de ces cartes.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Contrôle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clé étrangère refuse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carte absente.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SQLite, le chargement active les clés étrangères avant la transaction.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chargement : observer le résultat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10991088" cy="2560320"/>
          </a:xfrm>
          <a:prstGeom prst="roundRect">
            <a:avLst>
              <a:gd name="adj" fmla="val 4286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21992"/>
            <a:ext cx="10469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Depuis la racine du cours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atelier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executer.py initial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verifier.py 04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6424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avant faits.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61688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faits · 32 unités.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9016" y="4791456"/>
            <a:ext cx="384048" cy="38404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47365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99 000 millimes.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commandes sont lancées dans le terminal Ubuntu/WSL. Lire toute erreur avant de continuer.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ême boutique NBE ; une ancienne version et une nouvelle vers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260" y="320040"/>
            <a:ext cx="10172431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le 8 : Cap Bon. Dès le 8 : Grand Tunis. La fin de validité est exclue.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quelle carte rattacher la vente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297326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0412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boutique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891686" y="2011680"/>
            <a:ext cx="3572104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9702" y="2057400"/>
            <a:ext cx="331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 de validité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3790" y="2011680"/>
            <a:ext cx="412165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1806" y="2057400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concernée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2973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0412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· Cap Bon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91686" y="2679192"/>
            <a:ext cx="357210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9702" y="2724912"/>
            <a:ext cx="331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[05/01, 08/01[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63790" y="2679192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1806" y="2724912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07/01 → ancienne clé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29732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0412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· Grand Tunis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891686" y="3346704"/>
            <a:ext cx="3572104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19702" y="3392424"/>
            <a:ext cx="331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[08/01, sans fin[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63790" y="3346704"/>
            <a:ext cx="412165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806" y="3392424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08/01 → nouvelle clé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2973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0412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 · Grand Tunis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891686" y="4014216"/>
            <a:ext cx="357210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9702" y="4059936"/>
            <a:ext cx="331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[05/01, sans fin[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63790" y="4014216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806" y="4059936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dates de ce lot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SQL : [valid_from, valid_to). NULL signifie « pas de fin connue ». Deux boutiques, trois versions.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date choisit la version de boutique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shop_id =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valid_from &lt;=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(valid_to IS NULL OR ? &lt; valid_to)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? reçoit le code boutique.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autres reçoivent la date de vente.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version doit correspondre.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technique : SCD2. Les anciennes ventes conservent leur shop_key ; on ne réécrit pas leur histoire.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recherche temporelle · 35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Compléter la recherche avant de lancer l’incrément.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incremental.py, compléter trouver_shop_key avec l’ossature fournie.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python3 verifier.py 05 sur le petit cas de deux versions fourni.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puis expliquer la clé du 7 janvier et celle du 8 janvier.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contrôle 05 utilise un cas isolé. Le lot réel sera appliqué seulement après ce contrôle réussi.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3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2011680" cy="201168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· 10 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91840" y="2743200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Conservez le contrôle 05 et votre explication de la frontière.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au lot du 8 janvier.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 · prochaine étape sauvegardée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même lot peut revenir : sale_id aide à reconnaître les ventes connu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45" y="320040"/>
            <a:ext cx="11377061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S013 + S014 nouvelles ; S012 identique déjà connue. Le rejeu ne change plus les chiffres.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lignes reçues, deux ventes ajoutées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2442464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036824" y="2011680"/>
            <a:ext cx="5495544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4840" y="2057400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532368" y="2011680"/>
            <a:ext cx="305308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0384" y="2057400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244246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036824" y="2679192"/>
            <a:ext cx="549554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4840" y="2724912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carnet · 4,500 TND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32368" y="2679192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0384" y="2724912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fait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2442464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036824" y="3346704"/>
            <a:ext cx="5495544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4840" y="3392424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classeurs · 12,000 TND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32368" y="3346704"/>
            <a:ext cx="30530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0384" y="3392424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fait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244246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2186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036824" y="4014216"/>
            <a:ext cx="5495544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4840" y="4059936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présente, identique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32368" y="4014216"/>
            <a:ext cx="30530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0384" y="4059936"/>
            <a:ext cx="2797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prix de S014 est 6,000 TND par classeur : 2 × 6,000 = 12,000 TND.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faits nouveaux · +3 unités · +16,500 TND</a:t>
            </a:r>
            <a:endParaRPr lang="en-US" sz="2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preuve du rejeu : le résultat reste stable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ajout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faits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13816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99,000 TND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4361688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passage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1144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81144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115,500 TND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8129016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passage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48472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348472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115,500 TND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+ 2 = 14 ventes · 32 + 3 = 35 unités · 99,000 + 16,500 = 115,500 TND.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25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le lot du 8 janvier, puis le rejouer.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python3 executer.py increment, puis python3 executer.py rapport.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le lot, relire le rapport et comparer les chiffres et les clés.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python3 verifier.py 06 ; distinguer ce contrôle isolé et vos sorties.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contrôle 06 vérifie un cas isolé ; gardez aussi les sorties de votre entrepôt dans atelier/outputs/.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conflit apparaît, garder un état cohérent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une transaction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173736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61688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puis insérer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82128" y="3429000"/>
            <a:ext cx="173736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29016" y="2139696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valider ensemble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10607040" cy="548640"/>
          </a:xfrm>
          <a:prstGeom prst="roundRect">
            <a:avLst>
              <a:gd name="adj" fmla="val 20000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46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 détecté → rollback : aucune insertion de ce lot.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mécanisme est fourni. Vous expliquez ce qu’il protège et vous contrôlez le résultat.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contrôler et revoir · 25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Prouver la stabilité des clés et faire relire.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que les anciennes ventes gardent leur shop_key après le changement.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une copie de test, essayer une clé absente et expliquer le refus.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revue ciblée, corriger, retester et refaire la revue.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supprimez pas un contrôle pour obtenir un succès. Gardez le dernier état fonctionnel.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CHARGER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charge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dimensions existent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leurs ventes.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rejoue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lot identique garde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 et 35 unités.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garde l’histoire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date choisit la version 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l’ancienne clé reste stable.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S3 : entrepôt final contrôlé, rejeu stable, frontière du 8 janvier expliquée.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S4 · MONTRER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Je montre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je révise le rapport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: un vrai rapport Power BI et des chiffres reliés aux preuves.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petite victoire · des preuves visibles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séance 4 · 180 minutes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et transférer le paquet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20 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35–85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Importer, typer, relier dans Power BI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35 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95–140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graphique et filtre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30 P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140–180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local et revue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25 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rapport Power BI est construit aujourd’hui, avant le défi de S5.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quatre tables complètes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4979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CSV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079339" y="2011680"/>
            <a:ext cx="3484979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7355" y="2057400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représente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564318" y="2011680"/>
            <a:ext cx="402113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2334" y="2057400"/>
            <a:ext cx="37650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à garder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348497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dim_product.csv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079339" y="2679192"/>
            <a:ext cx="348497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7355" y="2724912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64318" y="2679192"/>
            <a:ext cx="402113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2334" y="2724912"/>
            <a:ext cx="37650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unique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348497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dim_shop.csv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079339" y="3346704"/>
            <a:ext cx="348497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7355" y="3392424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version de boutique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564318" y="3346704"/>
            <a:ext cx="402113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2334" y="3392424"/>
            <a:ext cx="37650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Anciennes versions incluses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348497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dim_date.csv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079339" y="4014216"/>
            <a:ext cx="348497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7355" y="4059936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jour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564318" y="4014216"/>
            <a:ext cx="402113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2334" y="4059936"/>
            <a:ext cx="37650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date_key unique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348497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4727448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fact_sales.csv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079339" y="4681728"/>
            <a:ext cx="348497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7355" y="4727448"/>
            <a:ext cx="322894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vente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564318" y="4681728"/>
            <a:ext cx="402113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2334" y="4727448"/>
            <a:ext cx="37650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+ mesures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executer.py export → outputs/powerbi/&lt;delivery_id&gt;/ · 4 CSV + manifest.json, même livraison.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du monde Python au poste Power BI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+ WSL2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le dossier export complet 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explorer.exe 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le paquet vers Windows.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Transférer le même paquet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vrai poste Windows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groupe ou de la salle.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stable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les quatre CSV ensemble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contrôler manifest.json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l’import.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 ouvre les fichiers Windows. Le dossier source de l’ETL n’est pas le rapport.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Power BI : importer puis vérifier les types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42546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057400"/>
            <a:ext cx="39985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48975" y="2011680"/>
            <a:ext cx="2718226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6991" y="2057400"/>
            <a:ext cx="2462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à choisir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567201" y="2011680"/>
            <a:ext cx="4018247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5217" y="2057400"/>
            <a:ext cx="37622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2679192"/>
            <a:ext cx="42546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724912"/>
            <a:ext cx="39985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Clés, quantité, millimes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8975" y="2679192"/>
            <a:ext cx="27182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6991" y="2724912"/>
            <a:ext cx="2462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entier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67201" y="2679192"/>
            <a:ext cx="4018247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5217" y="2724912"/>
            <a:ext cx="37622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valeurs exactes et liens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42546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392424"/>
            <a:ext cx="39985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full_date, valid_from, valid_to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48975" y="3346704"/>
            <a:ext cx="271822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6991" y="3392424"/>
            <a:ext cx="2462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567201" y="3346704"/>
            <a:ext cx="4018247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5217" y="3392424"/>
            <a:ext cx="37622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jours et les bornes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42546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059936"/>
            <a:ext cx="39985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Codes, noms, zone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848975" y="4014216"/>
            <a:ext cx="27182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6991" y="4059936"/>
            <a:ext cx="2462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567201" y="4014216"/>
            <a:ext cx="4018247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5217" y="4059936"/>
            <a:ext cx="37622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calculer avec un code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les données → Texte/CSV · séparateur virgule · UTF-8. valid_to vide = valeur null.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trois relations actives 1 → plusieurs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401568"/>
            <a:ext cx="740664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0" y="3401568"/>
            <a:ext cx="-704088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9048" y="4590288"/>
            <a:ext cx="0" cy="-155448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15384" y="2011680"/>
            <a:ext cx="3776472" cy="2423160"/>
          </a:xfrm>
          <a:prstGeom prst="roundRect">
            <a:avLst>
              <a:gd name="adj" fmla="val 452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24028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fact_sales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53128" y="2788920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· date_key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· shop_key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· unit_price_millimes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amount_millimes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dim_product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product_name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dim_shop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shop_name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160520" y="4590288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4736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43400" y="5138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date_key · full_date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87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0448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55864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4847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dim_shop.shop_key → fact_sales.shop_key. Filtrage simple de la dimension vers le fait ; jamais shop_id.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35 min sur Windows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le modèle depuis les quatre fichiers.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Power BI Desktop ; importer les quatre CSV de la même livraison.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types et créer les trois relations 1:* simples.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la vue Modèle et expliquer le côté 1 et le côté plusieurs.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pas à pas : powerbi/README.md. Le modèle de secours se trouve dans le même dossier.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3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2011680" cy="201168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· 10 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91840" y="2743200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Enregistrez le rapport Power BI.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à la mesure du montant vendu.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 · prochaine étape sauvegardée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mesure pour afficher le montant en TND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TND =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SUM(fact_sales[amount_millimes]),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additionne les montants entiers.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convertit les millimes en TND.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sans unité abrégée, avec 3 décimales.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mesure utilise amount_millimes ; additionner les prix unitaires ne donne pas les ventes.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les mêmes chiffres dans le rapport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13816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 élémentaires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lignes de vente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361688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81144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Unités vendues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SUM(quantity)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8129016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115,500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48472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en TND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TND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Selon la langue du poste, 115.500 et 115,500 représentent ici le même montant : 115 TND et 500 millimes.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graphique doit garder la zone historique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 du 5 au 8 janvier 2026 · zone valable à la date de vente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240280"/>
          <a:ext cx="7452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595360" y="2423160"/>
            <a:ext cx="2926080" cy="2697480"/>
          </a:xfrm>
          <a:prstGeom prst="roundRect">
            <a:avLst>
              <a:gd name="adj" fmla="val 406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2679192"/>
            <a:ext cx="24871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72,000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TND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14816" y="3831336"/>
            <a:ext cx="2487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Tunis : Tunis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Nabeul dès le 8.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Bon : 43,500 TND. Grand Tunis : 67,500 + 4,500 = 72,000 TND. Total : 115,500 TND.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30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graphique, filtrer, puis actualiser.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CA TND + barres par dim_shop[commercial_zone].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une zone, expliquer le montant, puis retirer le filtre.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un export complet dans le dossier Windows, puis Actualiser.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modification SQLite ne met pas les CSV à jour : refaire l’export avant l’actualisation.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Skill : une recette de revue réutilisable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7452360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694029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revoir-bi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Vérifier le rapport Atlas.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Comparer les totaux SQL et Power BI.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Vérifier les relations avec shop_key.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Citer un écart avec sa preuve.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0275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1392" y="20756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racine du cours, créer le dossier du Skill.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0275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51392" y="3118104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Éditer SKILL.md avec la méthode nano du guide.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0275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1392" y="4160520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 une règle utile, puis essayer le Skill.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racine : .agents/skills/revoir-bi/SKILL.md. Si non découvert, demander sa lecture et le noter.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éparer les questions aide à trouver des erreurs différe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89" y="320040"/>
            <a:ext cx="10674773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disponibles et quota suffisant : au plus 2 sous-agents en lecture seule. Sinon, 2 passes successives.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revue → correction → deuxième revue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votre Skill sur deux questions précises.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: rejets, doublons, unités et totaux ; histoire : dates et relations.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Rassembler les constats ; un seul auteur corrige le défaut établi.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le contrôle et refaire la revue du résultat corrigé.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conversation qui joue deux rôles n’est pas deux sous-agents. Chaque agent utilise du quota.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MONTRER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montre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relations actives,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carte et un graphique.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compare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et Power BI donnent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mêmes chiffres.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révise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Skill guide la revue 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correction est recontrôlée.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S4 : rapport Power BI enregistré, preuve de filtre/actualisation et revue traçable.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S5 · LIVRER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Je livre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je défends les chiffres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vous confie un défaut connu à réparer · groupe de 3 au maximum.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petite victoire · des preuves visibles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séance 5 · 180 minutes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46120" y="19385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0208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 finale + plan et rôles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35440" y="20208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 / 15 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883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30–95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243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7066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Reproduire, réparer, revoir, recontrôler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35440" y="27066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" y="33832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3741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95–105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46120" y="33101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924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2354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4088" y="40690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599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105–160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46120" y="39959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0782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Actualiser et défendre le rapport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35440" y="40782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P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" y="4754880"/>
            <a:ext cx="438912" cy="438912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47457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160–180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3246120" y="4681728"/>
            <a:ext cx="8183880" cy="585216"/>
          </a:xfrm>
          <a:prstGeom prst="roundRect">
            <a:avLst>
              <a:gd name="adj" fmla="val 1875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476402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passage et remise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23544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 prolonge Atlas. Il réutilise un cas déjà rencontré et le rapport réalisé en S4.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défaut court, une réparation prouvée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la source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expliquer l’écart.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et histoire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clés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la frontière du 8 janvier.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et preuves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Actualiser Power BI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comparer à SQL.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trois : un rôle chacun. À deux ou seul : regrouper les rôles ; chacun explique sa contribution.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· 65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le défaut reproductible avant de le corriger.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le symptôme, le résultat attendu et un plan court.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seulement le défaut fourni, puis lancer le contrôle utile.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une revue indépendante, corriger et refaire la revue.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: prompt, fichiers modifiés, commande réelle, résultat et limite éventuelle.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3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2011680" cy="201168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· 10 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91840" y="2743200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Sauvez le dernier état fonctionnel.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avec un export complet et le rapport Power BI.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 · prochaine étape sauvegardée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rapport doit raconter la même histoire que les ventes et leurs clé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828" y="320040"/>
            <a:ext cx="9607296" cy="540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14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94360" y="5824728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852160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ventes · 35 unités · 115,500 TND · Cap Bon 43,500 · Grand Tunis 72,000.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direction demande : « pourquoi y croire ? 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chemin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source → nettoyage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clé → SQL → Power BI.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changement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50664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NBE du 7 : Cap Bon.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NBE du 8 : Grand Tunis.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sa part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05800" y="3602736"/>
            <a:ext cx="307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j’ai changé,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j’ai exécuté,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reste limité.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Utilisez les preuves de votre travail. L’explication peut aussi être écrite.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passage · 20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Remettre un dossier que l’on peut reprendre.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depuis le jalon documenté et comparer aux valeurs finales.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code, entrepôt/reconstruction, 4 CSV, manifeste et fichier Power BI.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Terminer SUIVI.md : contribution, preuve, limite et prochaine action.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du défi : 04_defi_atlas.pdf. Aucun résultat annoncé sans contrôle réellement exécuté.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fourni : Leaders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DU FICHIER À LA DÉCISION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444752"/>
            <a:ext cx="8503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savez maintenant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et expliquer une chaîne BI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31520" y="3310128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31012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2552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Guider Codex avec une petite tâche et un contexte utile.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3968496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6849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9136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CSV/SQL, nettoyer et préserver l’histoire des ventes.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31520" y="4626864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6268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Power BI aux tables et défendre les chiffres.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réutiliser la démarche sur des données dont vous comprenez le sens.</a:t>
            </a:r>
            <a:endParaRPr lang="en-US" sz="2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65176"/>
            <a:ext cx="384048" cy="38404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65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471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LIVRER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retrouver les repères officiels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3456432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286000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21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795528" y="36576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</a:t>
            </a:r>
            <a:endParaRPr lang="en-US" sz="18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795528" y="416966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Offre Free</a:t>
            </a:r>
            <a:endParaRPr lang="en-US" sz="18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795528" y="46817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Modèles et effort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61688" y="2057400"/>
            <a:ext cx="3456432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2286000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62856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 ET PROJET</a:t>
            </a:r>
            <a:endParaRPr lang="en-US" sz="210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4562856" y="36576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 + WSL2</a:t>
            </a:r>
            <a:endParaRPr lang="en-US" sz="18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4562856" y="416966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 Ubuntu</a:t>
            </a:r>
            <a:endParaRPr lang="en-US" sz="1800" dirty="0"/>
          </a:p>
        </p:txBody>
      </p:sp>
      <p:sp>
        <p:nvSpPr>
          <p:cNvPr id="21" name="Text 19">
            <a:hlinkClick r:id="rId6" tooltip=""/>
          </p:cNvPr>
          <p:cNvSpPr/>
          <p:nvPr/>
        </p:nvSpPr>
        <p:spPr>
          <a:xfrm>
            <a:off x="4562856" y="46817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AGENTS.md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29016" y="2057400"/>
            <a:ext cx="3456432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0184" y="2286000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30184" y="30175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</a:t>
            </a:r>
            <a:endParaRPr lang="en-US" sz="2100" dirty="0"/>
          </a:p>
        </p:txBody>
      </p:sp>
      <p:sp>
        <p:nvSpPr>
          <p:cNvPr id="26" name="Text 24">
            <a:hlinkClick r:id="rId7" tooltip=""/>
          </p:cNvPr>
          <p:cNvSpPr/>
          <p:nvPr/>
        </p:nvSpPr>
        <p:spPr>
          <a:xfrm>
            <a:off x="8330184" y="36576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Skills locaux</a:t>
            </a:r>
            <a:endParaRPr lang="en-US" sz="1800" dirty="0"/>
          </a:p>
        </p:txBody>
      </p:sp>
      <p:sp>
        <p:nvSpPr>
          <p:cNvPr id="27" name="Text 25">
            <a:hlinkClick r:id="rId8" tooltip=""/>
          </p:cNvPr>
          <p:cNvSpPr/>
          <p:nvPr/>
        </p:nvSpPr>
        <p:spPr>
          <a:xfrm>
            <a:off x="8330184" y="416966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Sous-agents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30184" y="46817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: powerbi/README.md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4360" y="5632704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68756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documentaire : 27/10/2026. Vérifier l’accès et les options du compte réel ; les liens sont cliquables.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Leaders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Construire une solution BI avec Codex — 15 h</dc:title>
  <dc:subject>Licence BI • Codex, Python et ETL • 15 h</dc:subject>
  <dc:creator>Youssef Douma</dc:creator>
  <cp:lastModifiedBy>Youssef Douma</cp:lastModifiedBy>
  <cp:revision>1</cp:revision>
  <dcterms:created xsi:type="dcterms:W3CDTF">2026-10-27T14:43:44Z</dcterms:created>
  <dcterms:modified xsi:type="dcterms:W3CDTF">2026-10-27T14:43:44Z</dcterms:modified>
</cp:coreProperties>
</file>