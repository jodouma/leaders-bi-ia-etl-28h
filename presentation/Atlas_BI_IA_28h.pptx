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2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Montant vendu (TND)</c:v>
                </c:pt>
              </c:strCache>
            </c:strRef>
          </c:tx>
          <c:spPr>
            <a:solidFill>
              <a:srgbClr val="2B318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2B31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Carnet</c:v>
                  </c:pt>
                  <c:pt idx="1">
                    <c:v>Stylo</c:v>
                  </c:pt>
                  <c:pt idx="2">
                    <c:v>Classeur</c:v>
                  </c:pt>
                  <c:pt idx="3">
                    <c:v>Surligneur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22.5</c:v>
                </c:pt>
                <c:pt idx="1">
                  <c:v>18</c:v>
                </c:pt>
                <c:pt idx="2">
                  <c:v>36</c:v>
                </c:pt>
                <c:pt idx="3">
                  <c:v>22.5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800" u="none">
                  <a:solidFill>
                    <a:srgbClr val="2B318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A1F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b"/>
        <c:majorGridlines>
          <c:spPr>
            <a:ln w="12700" cap="flat">
              <a:solidFill>
                <a:srgbClr val="DCE2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700" b="0" i="0" u="none" strike="noStrike">
                    <a:solidFill>
                      <a:srgbClr val="000000"/>
                    </a:solidFill>
                    <a:latin typeface="Arial"/>
                  </a:rPr>
                  <a:t>Montant vendu (TND)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962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Montant vendu (TND)</c:v>
                </c:pt>
              </c:strCache>
            </c:strRef>
          </c:tx>
          <c:spPr>
            <a:solidFill>
              <a:srgbClr val="2B318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2B31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Carnet</c:v>
                  </c:pt>
                  <c:pt idx="1">
                    <c:v>Stylo</c:v>
                  </c:pt>
                  <c:pt idx="2">
                    <c:v>Classeur</c:v>
                  </c:pt>
                  <c:pt idx="3">
                    <c:v>Surligneur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</c:v>
                </c:pt>
                <c:pt idx="1">
                  <c:v>18</c:v>
                </c:pt>
                <c:pt idx="2">
                  <c:v>48</c:v>
                </c:pt>
                <c:pt idx="3">
                  <c:v>22.5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800" u="none">
                  <a:solidFill>
                    <a:srgbClr val="2B318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A1F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b"/>
        <c:majorGridlines>
          <c:spPr>
            <a:ln w="12700" cap="flat">
              <a:solidFill>
                <a:srgbClr val="DCE2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700" b="0" i="0" u="none" strike="noStrike">
                    <a:solidFill>
                      <a:srgbClr val="000000"/>
                    </a:solidFill>
                    <a:latin typeface="Arial"/>
                  </a:rPr>
                  <a:t>Montant vendu (TND)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962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publiques : https://docs.docker.com/desktop/setup/install/windows-install/ ; https://docs.docker.com/subscription/desktop-license/ . Les prérequis exacts évoluent ; consulter le guide officiel. Aucune capture Windows reconstituée.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publiques : https://docs.docker.com/engine/install/ubuntu/ ; https://docs.docker.com/engine/security/ ; https://www.python.org/downloads/ . Repli : en local Windows remplacer python par py -3.13 ; Ubuntu par python3.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publique : https://docs.docker.com/get-started/docker-concepts/the-basics/ . Image python:3.13-slim pour l’environnement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https://docs.docker.com/engine/storage/bind-mounts/ ; https://docs.docker.com/engine/network/port-publishing/ . Le dépôt est monté dans /workspace et le service atelier travaille dans /workspace/projet.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publiques à consulter pour les conditions à jour : https://help.openai.com/en/articles/6950777-what-is-chatgpt-plus ; https://help.openai.com/en/articles/11369540-using-codex-with-your-chatgpt-plan ; https://support.claude.com/en/articles/11145838-using-claude-code-with-your-pro-or-max-plan . Aucun accès CLI gratuit n’est promis.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publiques : https://docs.python.org/3/library/decimal.html ; https://docs.python.org/3/library/csv.html . Une valeur à plus de trois décimales ne doit pas être arrondie silencieusement.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https://www.sqlite.org/foreignkeys.html ; https://www.sqlite.org/lang_createtable.html . Colonnes exactes dans le contrat du cours ; extrait SQL pédagogique.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https://docs.python.org/3/library/sqlite3.html . La gestion de transaction doit être explicite et testée. Ne pas ignorer un conflit de contenu avec INSERT OR IGNORE.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Les montants sont exprimés en TND. Les ventes ne mesurent ni les stocks ni la marge.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CampusBox. Seules les ventes SERVIE alimentent les indicateurs ; les autres statuts sont expliqués dans le journal. Montants en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/Users/youssefdouma/workspace/leaders/leaders-university/Langage_Avance_BI_ETL_28h/formateur/v4-build/slides/authoring/slides/assets/leaders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BUSINESS INTELLIGENCE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une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BI avec l’IA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Python, ETL et entrepôts de données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projet Atlas, du premier calcul au rapport.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70 % pratique · 30 % théorie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réponse plausible peut être fausse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 FAUTIF CONSTRUIT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carnets à 4.500 TND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stylos à 1.500 TND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4 500 + 1 500 = 6 000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AVONS VENDU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4 500 + 3 × 1 500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13 500 millimes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13.500 TND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 pédagogique construit. Ce n’est pas une réponse observée d’une offre gratuite.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preuve commence avant le code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Carnets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4 500 = 9 000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81928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Stylos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10528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1 500 = 4 500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10528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13 500 millimes = 13.500 TND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: 3 carnets et 3 stylos → 18 000 millimes.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le résultat, exécuter, expliquer l’écart. Le modèle propose ; vous vérifiez.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résultat après 28 heures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pipeline Python, un entrepôt SQLite et un rapport HTML.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montants, les lignes rejetées et un ajout rejoué sans doublon.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grain, les unités, les clés et les limites de la décision.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mémorisation de syntaxe demandée. Vous pouvez consulter les repères.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prépare ses achats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: Nabeul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 : Tunis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Carnet · P02 Stylo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P03 Classeur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P04 Surligneur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métier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Quelles ventes observées faut-il examiner avant les prochains achats ?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fictif. Les données ne décrivent ni stock, ni coût, ni marge, ni prévision.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seule chaîne, des preuves à chaque étape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Extraire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les fichiers CSV sans changer leur sens.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995928" y="3593592"/>
            <a:ext cx="35661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25696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26864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26864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626864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Normaliser, contrôler et calculer les montants.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827264" y="3593592"/>
            <a:ext cx="35661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257032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58200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58200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Charger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458200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Relier les tables et produire un rapport depuis SQLite.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= Extract, Transform, Load. Le rapport rend les résultats lisibles.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heures pour pratiquer et comprendre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 + calcul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S02–S03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+ qualité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S04–S05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+ chargement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S06–S07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Incrément + rapport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en autonomie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h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70 % pratique : 19 h 36 · 30 % théorie : 8 h 24. Installation incluse dans S01.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Commencer dans le bon dossier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Télécharger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Décompresser le cours dans un dossier personnel simple, puis ouvrir ce dossier.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01 : démarrage Windows / Ubuntu.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02 : cours Atlas guidé.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Produire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Modifier projet/ et conserver les preuves dans projet/outputs/.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Solutions et indices sont séparés. Avancez d’abord avec les fichiers de départ.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outils, trois fonctions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404872"/>
            <a:ext cx="2999232" cy="1207008"/>
          </a:xfrm>
          <a:prstGeom prst="rect">
            <a:avLst/>
          </a:prstGeom>
          <a:solidFill>
            <a:srgbClr val="FFFFFF"/>
          </a:solidFill>
          <a:ln w="1778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697480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calcul.py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13816" y="3886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ÉDITEUR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13816" y="4480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J’écris et j’enregistre.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361688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90288" y="2404872"/>
            <a:ext cx="2999232" cy="1207008"/>
          </a:xfrm>
          <a:prstGeom prst="rect">
            <a:avLst/>
          </a:prstGeom>
          <a:solidFill>
            <a:srgbClr val="07152F"/>
          </a:solidFill>
          <a:ln w="1778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2697480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calcul.py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81144" y="3886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81144" y="4480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lance une commande.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129016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57616" y="2404872"/>
            <a:ext cx="2999232" cy="1207008"/>
          </a:xfrm>
          <a:prstGeom prst="rect">
            <a:avLst/>
          </a:prstGeom>
          <a:solidFill>
            <a:srgbClr val="FFFFFF"/>
          </a:solidFill>
          <a:ln w="1778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4776" y="2697480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rapport_atlas.html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348472" y="3886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NAVIGATEUR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8348472" y="4480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lis les résultats.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l’éditeur : modifier et enregistrer. Dans le terminal : exécuter. Dans le navigateur : lire le rapport.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: préparer une fois, puis travailler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11 pris en charge et à jour, virtualisation active et WSL 2 opérationnel selon le guide officiel.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Installer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: choisir les conteneurs Linux. Ouvrir l’éditeur et le terminal du dossier décompressé.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démarré. Dans le terminal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--version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version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est propriétaire ; usage éducatif gratuit selon ses conditions. Voir le PDF 01.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ou installation Docker bloquée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Installer Docker Engine et le plugin Compose depuis le dépôt officiel. Vérifier les deux commandes de version.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 natif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Installer Python 3.13. Dans projet/ : python3 verifier.py 01. Sous Windows : py -3.13 verifier.py 01.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projet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bibliothèque standard suffit. Aucun serveur cloud ni clé API requis pour exécuter le projet.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: Docker Engine est open source. Les droits Docker donnent des capacités importantes sur la machine.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: une recette, une exécution, vos fichiers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84832"/>
            <a:ext cx="3456432" cy="3291840"/>
          </a:xfrm>
          <a:prstGeom prst="roundRect">
            <a:avLst>
              <a:gd name="adj" fmla="val 3333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566928" cy="56692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1272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22960" y="37673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Recette prête à utiliser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4617720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3.13 + environnement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361688" y="2084832"/>
            <a:ext cx="3456432" cy="3291840"/>
          </a:xfrm>
          <a:prstGeom prst="roundRect">
            <a:avLst>
              <a:gd name="adj" fmla="val 3333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90288" y="2331720"/>
            <a:ext cx="566928" cy="56692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0288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90288" y="31272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CONTENEUR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4590288" y="37673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Exécution de cette image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90288" y="4617720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programme qui tourne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8129016" y="2084832"/>
            <a:ext cx="3456432" cy="3291840"/>
          </a:xfrm>
          <a:prstGeom prst="roundRect">
            <a:avLst>
              <a:gd name="adj" fmla="val 3333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57616" y="2331720"/>
            <a:ext cx="566928" cy="56692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57616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57616" y="31272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FICHIERS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357616" y="376732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du cours sur l’hôte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357616" y="4617720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données et sorties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L’image contient Python. Le conteneur exécute une commande. Vos fichiers restent dans le dossier du cours.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dossier partagé et localhost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039112"/>
            <a:ext cx="4617720" cy="2423160"/>
          </a:xfrm>
          <a:prstGeom prst="roundRect">
            <a:avLst>
              <a:gd name="adj" fmla="val 452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2039112"/>
            <a:ext cx="4617720" cy="2423160"/>
          </a:xfrm>
          <a:prstGeom prst="roundRect">
            <a:avLst>
              <a:gd name="adj" fmla="val 452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2257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ORDINATEUR HÔTE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063240"/>
            <a:ext cx="4160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du cours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projet/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projet/outputs/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95160" y="232257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CONTENEUR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995160" y="3063240"/>
            <a:ext cx="4160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/workspace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/workspace/projet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serveur HTTP : 8000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394960" y="3154680"/>
            <a:ext cx="1234440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330952" y="26426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4892040"/>
            <a:ext cx="10287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Navigateur → localhost:8000 → port 8000 du conteneur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montage relie vos fichiers au conteneur. Le port publié sur 127.0.0.1 est accessible depuis votre ordinateur.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lancement : dans le dossier du cours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993392"/>
            <a:ext cx="10991088" cy="2560320"/>
          </a:xfrm>
          <a:prstGeom prst="roundRect">
            <a:avLst>
              <a:gd name="adj" fmla="val 4286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21992"/>
            <a:ext cx="1046988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run --rm atelier python calcul.py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4360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06424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construction télécharge Python une première fois.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61688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1688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73752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la seconde commande sur une ligne.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129016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29016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41080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Enregistrer calcul.py avant de relancer.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commande → un résultat local. --rm supprime le conteneur terminé, pas le dossier partagé.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L’IA web suffit pour suivre le cours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Socle gratuit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chat web accessible avec votre compte. Ses limites varient ; fractionner les demandes et reprendre plus tard.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 payantes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abonnement peut offrir plus de capacité. Aucune fonction payante n’est exigée par les missions.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facultative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assistant en terminal peut agir sur les fichiers. Son accès dépend de votre compte et de l’offre en vigueur.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jamais déduire « chat gratuit » ⇒ « CLI gratuite ». Vérifier l’éligibilité avant toute installation.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boucle courte économise votre attention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52728" y="2148840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2728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2057400" cy="1508760"/>
          </a:xfrm>
          <a:prstGeom prst="roundRect">
            <a:avLst>
              <a:gd name="adj" fmla="val 7273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4930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4069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+ contrat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2734056" y="3886200"/>
            <a:ext cx="182880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566160" y="2148840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2953512" y="3246120"/>
            <a:ext cx="2057400" cy="1508760"/>
          </a:xfrm>
          <a:prstGeom prst="roundRect">
            <a:avLst>
              <a:gd name="adj" fmla="val 7273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90672" y="34930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090672" y="4069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Petit contexte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047488" y="3886200"/>
            <a:ext cx="182880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879592" y="2148840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79592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266944" y="3246120"/>
            <a:ext cx="2057400" cy="1508760"/>
          </a:xfrm>
          <a:prstGeom prst="roundRect">
            <a:avLst>
              <a:gd name="adj" fmla="val 7273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4104" y="34930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404104" y="4069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fonction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7360920" y="3886200"/>
            <a:ext cx="182880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193024" y="2148840"/>
            <a:ext cx="731520" cy="73152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7580376" y="3246120"/>
            <a:ext cx="2057400" cy="1508760"/>
          </a:xfrm>
          <a:prstGeom prst="roundRect">
            <a:avLst>
              <a:gd name="adj" fmla="val 7273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17536" y="34930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717536" y="4069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 local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9674352" y="3886200"/>
            <a:ext cx="182880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506456" y="2148840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06456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9893808" y="3246120"/>
            <a:ext cx="2057400" cy="1508760"/>
          </a:xfrm>
          <a:prstGeom prst="roundRect">
            <a:avLst>
              <a:gd name="adj" fmla="val 7273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30968" y="34930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10030968" y="4069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et garder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777240" y="5074920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le test échoue : joindre l’erreur utile et reprendre au prompt.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Cible de travail : 2 à 4 demandes par mission, pas un quota garanti. Un échec local apporte le contexte suivant.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prompt utile tient dans un petit périmètre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993392"/>
            <a:ext cx="6876288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40280"/>
            <a:ext cx="636422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 : calculer un total en millimes.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Fichier : projet/calcul.py.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Entrée : quantité et prix entiers.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Sortie : un entier.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 seulement calculer_total.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Explique le test 13 500 puis 18 000.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79983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9983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94192" y="2075688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 le contrat avant le code.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9983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983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94192" y="3118104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Joindre seulement la fonction et l’erreur utile.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9983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983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4160520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localement et lire la modification.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 chat web : copier une petite fonction. Pour une CLI : limiter son périmètre au projet.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Gardez la main sur les changements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Sauvegarder un jalon. Préciser le fichier autorisé et le comportement attendu.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Pendant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les demandes de permission. Accepter seulement une action comprise et utile.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Inspecter le diff, lancer le vérificateur local et expliquer une ligne modifiée.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contourner les permissions, transmettre des secrets, ni modifier les contrôles pour les faire passer.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Jalon de départ : votre poste répond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Ouvrir, enregistrer, exécuter.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le dossier projet/ et distinguer calcul.py de outputs/.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le fichier de départ et lire le message affiché.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Conserver une trace de la commande, puis décrire son rôle.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Docker bloque : suivre le repli Python du PDF 01. L’objectif est un premier résultat local.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 · Un entier qui représente de l’argent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Carnets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4 500 = 9 000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81928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Stylos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10528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1 500 = 4 500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10528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13 500 millimes, stockés comme un entier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TND = 1 000 millimes. Affichage : 13.500 TND.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= nombre d’unités ; unit_price_millimes = prix d’une unité ; amount = quantité × prix.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fonction a une entrée et une sortie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993392"/>
            <a:ext cx="6876288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40280"/>
            <a:ext cx="636422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calculer_total(ventes):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 = 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vente in ventes: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total += (vente["quantity"]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* vente["unit_price_millimes"])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total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79983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9983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94192" y="2075688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 est une liste de lignes.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9983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983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94192" y="3118104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ligne porte deux valeurs entières.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9983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983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4160520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donne le résultat au programme appelant.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 : calculer_total(ventes) → int. Le code se lit avant de se modifier.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 · Corriger puis faire varier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Obtenir un résultat dont vous connaissez la valeur.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proposer la fonction ; lire chaque opération.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13 500, puis prévoir et tester 3 carnets : 18 000.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Restaurer le cas initial et exécuter verifier.py 01.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deux valeurs + une phrase expliquant pourquoi le prix seul ne suffit pas.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 · À ce stade, je sais…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quantité, un prix unitaire, un total et une unité.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Enregistrer un fichier puis lancer la bonne commande.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une variation et expliquer un résultat local.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explication + une exécution + une trace conservée.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S02 · Que représente une ligne 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= UNE VENTE ÉLÉMENTAIRE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94360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QUOI 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· Carnet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10712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93592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?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593592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Nabeul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27064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9944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09944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05/01/2026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043416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26296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?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26296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unités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7240" y="4901184"/>
            <a:ext cx="484632" cy="48463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90118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17904" y="491032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S001 : stable même quand le fichier est rejoué.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Grain Atlas : une vente élémentaire d’un produit, dans une boutique, à une date. sale_id identifie cette vente.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CSV devient une liste de dictionnaires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358388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2057400"/>
            <a:ext cx="31023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Colonne CSV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952748" y="2011680"/>
            <a:ext cx="305308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80764" y="2057400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Valeur lue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005828" y="2011680"/>
            <a:ext cx="457962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3844" y="2057400"/>
            <a:ext cx="43235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4360" y="2679192"/>
            <a:ext cx="335838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724912"/>
            <a:ext cx="31023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952748" y="2679192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0764" y="2724912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"S001"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005828" y="2679192"/>
            <a:ext cx="457962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3844" y="2724912"/>
            <a:ext cx="43235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stable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94360" y="3346704"/>
            <a:ext cx="335838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3392424"/>
            <a:ext cx="31023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952748" y="3346704"/>
            <a:ext cx="305308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80764" y="3392424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"P01"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005828" y="3346704"/>
            <a:ext cx="457962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3844" y="3392424"/>
            <a:ext cx="43235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vendu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94360" y="4014216"/>
            <a:ext cx="335838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059936"/>
            <a:ext cx="31023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952748" y="4014216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80764" y="4059936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"2"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005828" y="4014216"/>
            <a:ext cx="457962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3844" y="4059936"/>
            <a:ext cx="43235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Texte à convertir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94360" y="4681728"/>
            <a:ext cx="335838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4727448"/>
            <a:ext cx="31023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unit_price_tnd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952748" y="4681728"/>
            <a:ext cx="305308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80764" y="4727448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"4.500"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005828" y="4681728"/>
            <a:ext cx="457962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3844" y="4727448"/>
            <a:ext cx="43235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d’une unité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= texte tabulaire. DictReader associe le nom de colonne à sa valeur ; rien n’est encore validé.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depuis le dossier du fichier Python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993392"/>
            <a:ext cx="6876288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40280"/>
            <a:ext cx="636422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pathlib import Path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csv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= Path(__file__).resolve().parent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chemin.open(encoding="utf-8",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newline="") as fichier: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lignes = list(csv.DictReader(fichier))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9983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9983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94192" y="2075688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lire_csv(chemin) dans lecture.py.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9983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983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94192" y="3118104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chemin désigne un fichier ; ROOT désigne projet/.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9983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983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4160520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ne nettoie pas et ne calcule pas encore.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Extrait illustratif dans la fonction lire_csv. ROOT / "data" / "ventes_initiales.csv" construit le chemin.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S02 · À ce stade, je sais lire les données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entrer les 16 lignes, sans en perdre une.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et tester lire_csv(chemin), puis verifier.py 02.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Afficher le nombre de lignes et les clés de la première.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Expliquer le grain et pourquoi "2" est encore du texte.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16 lignes lues. Si fichier introuvable, inspecter le chemin et la décompression.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 · La qualité préserve le sens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nbe " devient "NBE". Même boutique, écriture cohérente.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995928" y="3593592"/>
            <a:ext cx="35661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25696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26864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26864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626864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&gt; 0, prix &gt; 0, date réelle et références connues.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827264" y="3593592"/>
            <a:ext cx="35661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257032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58200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58200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Tracer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458200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Conserver le motif du rejet et identifier les doublons.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jamais inventer une date ou un produit pour conserver une ligne incorrecte.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Rejet, doublon et conflit : trois décisions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4338587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2057400"/>
            <a:ext cx="408255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932947" y="2011680"/>
            <a:ext cx="3181631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60963" y="2057400"/>
            <a:ext cx="29255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114578" y="2011680"/>
            <a:ext cx="347087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2594" y="2057400"/>
            <a:ext cx="321483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4360" y="2679192"/>
            <a:ext cx="4338587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724912"/>
            <a:ext cx="408255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0 / P99 / 30 février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932947" y="2679192"/>
            <a:ext cx="3181631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60963" y="2724912"/>
            <a:ext cx="29255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Rejeter + motif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14578" y="2679192"/>
            <a:ext cx="347087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42594" y="2724912"/>
            <a:ext cx="321483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non exploitable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94360" y="3346704"/>
            <a:ext cx="4338587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3392424"/>
            <a:ext cx="408255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ID, même contenu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932947" y="3346704"/>
            <a:ext cx="3181631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0963" y="3392424"/>
            <a:ext cx="29255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un doublon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114578" y="3346704"/>
            <a:ext cx="347087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42594" y="3392424"/>
            <a:ext cx="321483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vente répétée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94360" y="4014216"/>
            <a:ext cx="4338587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059936"/>
            <a:ext cx="408255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ID, contenu différent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4932947" y="4014216"/>
            <a:ext cx="3181631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60963" y="4059936"/>
            <a:ext cx="29255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Arrêter : conflit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114578" y="4014216"/>
            <a:ext cx="347087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42594" y="4059936"/>
            <a:ext cx="321483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choisir en silence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nettoyage conserve les six champs source normalisés et ajoute les deux montants entiers.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un prix sans perdre les millimes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240280"/>
            <a:ext cx="3456432" cy="2880360"/>
          </a:xfrm>
          <a:prstGeom prst="roundRect">
            <a:avLst>
              <a:gd name="adj" fmla="val 381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2505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: texte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13816" y="3273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"4.500"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" y="43159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105656" y="3657600"/>
            <a:ext cx="192024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61688" y="2240280"/>
            <a:ext cx="3456432" cy="2880360"/>
          </a:xfrm>
          <a:prstGeom prst="roundRect">
            <a:avLst>
              <a:gd name="adj" fmla="val 381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505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exacte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81144" y="3273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Decimal("4.500")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81144" y="43159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1 000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72984" y="3657600"/>
            <a:ext cx="192024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29016" y="2240280"/>
            <a:ext cx="3456432" cy="2880360"/>
          </a:xfrm>
          <a:prstGeom prst="roundRect">
            <a:avLst>
              <a:gd name="adj" fmla="val 381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8472" y="2505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Stockage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48472" y="3273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4 500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8348472" y="43159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 · entier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Decimal lit le texte décimal. Vérifier la précision et la positivité, puis stocker un entier de millimes.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ligne ne disparaît sans explication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194560"/>
            <a:ext cx="2542032" cy="2578608"/>
          </a:xfrm>
          <a:prstGeom prst="roundRect">
            <a:avLst>
              <a:gd name="adj" fmla="val 4317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51460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95528" y="3712464"/>
            <a:ext cx="2139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brutes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10712" y="2194560"/>
            <a:ext cx="2542032" cy="2578608"/>
          </a:xfrm>
          <a:prstGeom prst="roundRect">
            <a:avLst>
              <a:gd name="adj" fmla="val 431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51460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3611880" y="3712464"/>
            <a:ext cx="2139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retenues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227064" y="2194560"/>
            <a:ext cx="2542032" cy="2578608"/>
          </a:xfrm>
          <a:prstGeom prst="roundRect">
            <a:avLst>
              <a:gd name="adj" fmla="val 431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251460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428232" y="3712464"/>
            <a:ext cx="2139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doublon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043416" y="2194560"/>
            <a:ext cx="2542032" cy="2578608"/>
          </a:xfrm>
          <a:prstGeom prst="roundRect">
            <a:avLst>
              <a:gd name="adj" fmla="val 431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44584" y="251460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244584" y="3712464"/>
            <a:ext cx="2139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77240" y="508406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= 12 + 1 + 3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Atlas : 32 unités vendues et 99 000 millimes retenus. Les comptes de qualité expliquent l’écart.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 · Transformer avec des traces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nettoyer(lignes, produits, boutiques).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une petite fonction à la fois : normaliser puis contrôler.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 les erreurs fournies et le doublon, puis verifier.py 03.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Présenter retenues, rejets et doublons avec un exemple.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12 / 3 / 1 et 99 000 millimes. Un conflit de contenu doit provoquer une erreur claire.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 · À ce stade, je sais…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Réparer l’écriture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normalisation conserve la signification.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Préserver les faits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rejet a un motif ; un doublon n’est pas une nouvelle vente.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Contrôler le calcul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millimes restent des entiers du calcul au stockage.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explication + une exécution + une trace conservée.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S04 · Organiser pour poser des questions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lignes de même nature et des colonnes nommées.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 primaire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valeur unique désigne une ligne. Exemple : sale_id.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 étrangère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valeur relie une vente à une ligne de dimension.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stocke l’entrepôt dans un fichier local. SQL permet de le créer et de l’interroger.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étoile autour des faits de vente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4720" y="3401568"/>
            <a:ext cx="740664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686800" y="3401568"/>
            <a:ext cx="-704088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099048" y="4590288"/>
            <a:ext cx="0" cy="-155448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15384" y="2011680"/>
            <a:ext cx="3776472" cy="2423160"/>
          </a:xfrm>
          <a:prstGeom prst="roundRect">
            <a:avLst>
              <a:gd name="adj" fmla="val 452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3128" y="2240280"/>
            <a:ext cx="3300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fact_sales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53128" y="2788920"/>
            <a:ext cx="3300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· date_key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· shop_key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· unit_price_millimes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amount_millimes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94360" y="2084832"/>
            <a:ext cx="2880360" cy="2651760"/>
          </a:xfrm>
          <a:prstGeom prst="roundRect">
            <a:avLst>
              <a:gd name="adj" fmla="val 413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2311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dim_product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77240" y="2843784"/>
            <a:ext cx="25146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product_name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686800" y="2084832"/>
            <a:ext cx="2880360" cy="2651760"/>
          </a:xfrm>
          <a:prstGeom prst="roundRect">
            <a:avLst>
              <a:gd name="adj" fmla="val 413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22311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869680" y="2843784"/>
            <a:ext cx="25146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shop_key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shop_id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shop_name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160520" y="4590288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3400" y="47365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343400" y="51389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date_key · full_date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538728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904488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55864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48472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fait répond « combien ? ». Les dimensions répondent « quoi, où, quand ? ». Chaque flèche se lit 1 vers N.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Identifiant métier et clé de l’entrepôt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347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2057400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métier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029075" y="2011680"/>
            <a:ext cx="34347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7091" y="2057400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463790" y="2011680"/>
            <a:ext cx="4121658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91806" y="2057400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de vente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4360" y="2679192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724912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= Carnet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029075" y="2679192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57091" y="2724912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= 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63790" y="2679192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91806" y="2724912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S001 → product_key 1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94360" y="3346704"/>
            <a:ext cx="34347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3392424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= Stylo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029075" y="3346704"/>
            <a:ext cx="34347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57091" y="3392424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= 2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63790" y="3346704"/>
            <a:ext cx="412165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91806" y="3392424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S002 → product_key 2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94360" y="4014216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059936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du produit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4029075" y="4014216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57091" y="4059936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 locale de liaison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463790" y="4014216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91806" y="4059936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la dimension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 est le code source. product_key est la clé locale. Une vente conserve les références vers les dimensions.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Décrire des règles dans le schéma SQL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993392"/>
            <a:ext cx="6876288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40280"/>
            <a:ext cx="636422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sale_id TEXT PRIMARY KEY,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product_key INTEGER NOT NULL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REFERENCES dim_product(product_key),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 INTEGER CHECK (quantity &gt; 0),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unit_price_millimes INTEGER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CHECK (unit_price_millimes &gt; 0),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amount_millimes INTEGER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CHECK (amount_millimes =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quantity * unit_price_millimes)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9983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9983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94192" y="2075688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Extrait de CREATE TABLE fact_sales.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9983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983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94192" y="3118104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Activer PRAGMA foreign_keys = ON.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9983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983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4160520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schéma complète les contrôles Python.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modele.py : creer_modele(chemin_base) crée les tables si absentes, sans effacer les données.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S04 · À ce stade, je sais relier les tables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trois dimensions et une table de faits.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dessiner puis expliquer l’étoile avant de proposer le SQL.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 fichier SQLite, puis exécuter verifier.py 04.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une clé primaire et une clé étrangère sur le dessin.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dim_product, dim_shop, dim_date et fact_sales. Une seconde création ne doit rien effacer.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S05 · Charger dans le bon ordre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Insérer les produits, boutiques et dates. Retrouver leurs clés.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995928" y="3593592"/>
            <a:ext cx="35661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25696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26864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26864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626864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Insérer chaque vente avec ses références et ses mesures.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827264" y="3593592"/>
            <a:ext cx="35661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257032" y="2148840"/>
            <a:ext cx="3328416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58200" y="235000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58200" y="29900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458200" y="3739896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les faits et additionner les montants depuis SQLite.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chargement.py : charger(ventes, produits, boutiques, chemin_base) → inserted / existing.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transaction protège tout le lot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DÉBUT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une transaction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114800" y="3429000"/>
            <a:ext cx="173736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61688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90288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puis insérer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882128" y="3429000"/>
            <a:ext cx="173736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29016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7616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valider ensemble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777240" y="4800600"/>
            <a:ext cx="10607040" cy="548640"/>
          </a:xfrm>
          <a:prstGeom prst="roundRect">
            <a:avLst>
              <a:gd name="adj" fmla="val 20000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86460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Conflit détecté → rollback : aucune insertion de ce lot.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ID + même contenu : existing. Même ID + autre contenu : erreur et annulation de tout le lot.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répond à la question métier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993392"/>
            <a:ext cx="6876288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40280"/>
            <a:ext cx="636422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p.product_name,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SUM(f.amount_millimes) AS total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fact_sales AS f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dim_product AS p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p.product_key = f.product_key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p.product_key, p.product_name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total DESC;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79983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9983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94192" y="2075688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retrouve le nom du produit.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9983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983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94192" y="3118104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BY rassemble les ventes du même produit.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9983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983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4160520"/>
            <a:ext cx="3054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additionne des montants, pas des prix.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jointure 1 vers N correcte ne multiplie pas une vente. Vérifier aussi COUNT(*) avant / après jointure.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Atlas : ventes par produit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7647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05 au 07 janvier 2026 · 12 faits · total 99.000 TND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224028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595360" y="2423160"/>
            <a:ext cx="2926080" cy="2697480"/>
          </a:xfrm>
          <a:prstGeom prst="roundRect">
            <a:avLst>
              <a:gd name="adj" fmla="val 406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2679192"/>
            <a:ext cx="24871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Classeur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36.000 TND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814816" y="3831336"/>
            <a:ext cx="248716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montant vendu sur la période.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barre représente un montant vendu en TND. Ces ventes ne donnent pas la marge.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S05 · Recharger la base sans doubler les ventes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Charger, contrôler, puis relancer le même lot.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 charger et lancer verifier.py 05.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passage : inserted = 12 ; existing = 0.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passage : inserted = 0 ; existing = 12.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le total reste 99 000 millimes et la base garde 12 faits. Lire aussi le test du conflit.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S05 · À ce stade, je sais…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dimensions décrivent ; les faits mesurent.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Interroger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Relier, regrouper et sommer avec SQL.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Protéger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lot est cohérent et un rejeu identique ne crée rien.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explication + une exécution + une trace conservée.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S06 · Un petit ajout, une mise à jour fiable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244246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2057400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036824" y="2011680"/>
            <a:ext cx="549554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64840" y="2057400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Contenu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532368" y="2011680"/>
            <a:ext cx="305308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60384" y="2057400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4360" y="2679192"/>
            <a:ext cx="244246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724912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S013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036824" y="2679192"/>
            <a:ext cx="549554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64840" y="2724912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carnet · 4.500 TND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532368" y="2679192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60384" y="2724912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fait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94360" y="3346704"/>
            <a:ext cx="244246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3392424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S014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036824" y="3346704"/>
            <a:ext cx="549554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64840" y="3392424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classeurs · 12.000 TND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532368" y="3346704"/>
            <a:ext cx="305308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60384" y="3392424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fait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94360" y="4014216"/>
            <a:ext cx="244246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059936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S012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036824" y="4014216"/>
            <a:ext cx="549554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64840" y="4059936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présente, identique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532368" y="4014216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60384" y="4059936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fait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ventes_ajout.csv : S013 et S014 sont nouvelles ; S012 existe déjà. Ajouter = nettoyer puis charger, sans vider la base.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4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faits nouveaux · +3 unités · +16.500 TND</a:t>
            </a:r>
            <a:endParaRPr lang="en-US" sz="2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second passage ne change plus rien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ajout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13816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faits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813816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99.000 TND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4361688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81144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passage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81144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581144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115.500 TND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8129016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passage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48472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348472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115.500 TND</a:t>
            </a:r>
            <a:endParaRPr lang="en-US" sz="25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ajout : 2 nouvelles + 1 existante. Rejeu du même fichier : 0 nouvelle + 3 existantes.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ajout : annoncer la nouvelle période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7647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05 au 08 janvier 2026 · 14 faits · total 115.500 TND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224028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595360" y="2423160"/>
            <a:ext cx="2926080" cy="2697480"/>
          </a:xfrm>
          <a:prstGeom prst="roundRect">
            <a:avLst>
              <a:gd name="adj" fmla="val 406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2679192"/>
            <a:ext cx="24871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+16.500 TND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814816" y="3831336"/>
            <a:ext cx="248716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ventes nouvelles ; un jour de plus.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99.000 sur 3 jours et 115.500 sur 4 jours : cette hausse ne prouve pas une amélioration de performance.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S06 · À ce stade, je sais mettre à jour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Réutiliser les fonctions déjà fiables.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ajouter(source, base, data) dans incremental.py.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Lancer verifier.py 06 et rejouer le même ajout.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Expliquer 12 → 14 → 14 faits et 32 → 35 unités.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115 500 millimes à chaque rejeu. Si le total augmente encore, inspecter sale_id.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S07 · Un rapport est une preuve lisible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nom du cas, les dates et le grain apparaissent dans le rapport.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et barres viennent de la base réelle, avec leurs unités.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Interprétation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observation, une action prudente et une limite explicite.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rapport.py : generer(chemin_base, chemin_html) → résumé + HTML autonome.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Distinguer observation et décision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LES DONNÉES DISENT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classeur représente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48.000 TND vendus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05 au 08 janvier.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 au total.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QU’IL RESTE À VÉRIFIER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les stocks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les coûts avant achat.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conclusion de marge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de prévision.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rapport utile aide à poser la prochaine question ; il ne fabrique pas la réponse manquante.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toute la chaîne et ouvrir le rapport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993392"/>
            <a:ext cx="10991088" cy="2560320"/>
          </a:xfrm>
          <a:prstGeom prst="roundRect">
            <a:avLst>
              <a:gd name="adj" fmla="val 4286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21992"/>
            <a:ext cx="1046988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run --rm atelier python executer.py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http://localhost:8000/rapport_atlas.html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down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4360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06424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la chaîne avec la première commande.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61688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1688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73752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l’adresse dans le navigateur de l’hôte.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129016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29016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41080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vérification, arrêter le serveur avec down.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Depuis le dossier du cours. Repli natif : voir le PDF 01 pour lancer le serveur de outputs/.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cela bloque : réduire le problème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Dernière ligne de l’erreur, fichier et numéro de ligne. Reproduire une seule commande.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Isoler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une hypothèse sur la petite fonction concernée. Joindre entrée, attendu et obtenu.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Réparer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Inspecter la différence, relancer le test concerné, puis le parcours complet.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réécrire tout le projet à chaque erreur. Les contrôles sont des repères à comprendre.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LICENCE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S07 · À ce stade, je sais livrer une chaîne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fonctionner le rapport depuis une base réelle.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 rapport.py, executer.py puis verifier.py 07 et tout.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le HTML et vérifier période, total et barres.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executer.py et démontrer un résultat stable.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14 faits, 35 unités, 115.500 TND + un rapport lisible et une limite métier.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/Users/youssefdouma/workspace/leaders/leaders-university/Langage_Avance_BI_ETL_28h/formateur/v4-build/slides/authoring/slides/assets/leaders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BUSINESS INTELLIGENCE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 CampusBox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transfert en 7 h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démarche, nouvelle activité :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fiabiliser des ventes de repas sur le campus.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 de 3 au maximum · preuves individuelles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· DÉFI EN AUTONOMIE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: choisir le périmètre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décrit une vente de portions. Garder l’identifiant de vente stable.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Seules les ventes SERVIE alimentent les indicateurs.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ANNULEE et EN_ATTENTE restent expliquées dans le journal hors périmètre.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traiter une commande en attente comme un repas vendu. Consulter defi/ et le PDF 04.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· DÉFI EN AUTONOMIE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et l’ajout doivent se réconcilier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84832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13816" y="305409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faits</a:t>
            </a:r>
            <a:endParaRPr lang="en-US" sz="3500" dirty="0"/>
          </a:p>
        </p:txBody>
      </p:sp>
      <p:sp>
        <p:nvSpPr>
          <p:cNvPr id="9" name="Text 7"/>
          <p:cNvSpPr/>
          <p:nvPr/>
        </p:nvSpPr>
        <p:spPr>
          <a:xfrm>
            <a:off x="813816" y="3840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portions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13816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120.500 TND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61688" y="2084832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AJOUT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581144" y="305409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faits</a:t>
            </a:r>
            <a:endParaRPr lang="en-US" sz="3500" dirty="0"/>
          </a:p>
        </p:txBody>
      </p:sp>
      <p:sp>
        <p:nvSpPr>
          <p:cNvPr id="14" name="Text 12"/>
          <p:cNvSpPr/>
          <p:nvPr/>
        </p:nvSpPr>
        <p:spPr>
          <a:xfrm>
            <a:off x="4581144" y="3840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portions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81144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140.000 TND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129016" y="2084832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8472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REJEU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48472" y="305409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faits</a:t>
            </a:r>
            <a:endParaRPr lang="en-US" sz="3500" dirty="0"/>
          </a:p>
        </p:txBody>
      </p:sp>
      <p:sp>
        <p:nvSpPr>
          <p:cNvPr id="19" name="Text 17"/>
          <p:cNvSpPr/>
          <p:nvPr/>
        </p:nvSpPr>
        <p:spPr>
          <a:xfrm>
            <a:off x="8348472" y="3840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portions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48472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140.000 TND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: 14 lignes = 9 retenues + 1 doublon + 4 non retenues. Ajout : 4 lignes = 3 valides + 1 rejet.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· DÉFI EN AUTONOMIE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plus trois personnes, une preuve par personne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Formuler le contrat, prévoir les valeurs et garder les jalons.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une petite modification et lire le diff avec le groupe.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Exécuter, inspecter les sorties et expliquer les limites.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tourner les rôles. Seul : les exercer successivement. Chacun montre une modification et une explication.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· DÉFI EN AUTONOMIE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 heures avec des jalons visibles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h–1 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Comprendre données et périmètre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 écrit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h–3 h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Lire, nettoyer, calculer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expliquée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h–5 h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Modéliser et charger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+ contrôles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h–6 h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et rejouer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Stabilité prouvée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h–7 h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et démonstration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Livraison expliquée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Cible de travail, à adapter au rythme réel. Garder un résultat utilisable à chaque jalon.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· DÉFI EN AUTONOMIE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· Tester une variation comprise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Prouver votre raisonnement, pas seulement une sortie.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personne prédit l’effet d’une petite variation.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Modifier sur une copie, exécuter et expliquer le résultat.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Restaurer la source et conserver commande, preuve et diff.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erreur expliquée et réparée apporte une preuve d’apprentissage. Les repères restent autorisés.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CAMPUSBOX · DÉFI EN AUTONOMIE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Livrer un projet que quelqu’un peut vérifier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exécutable, sources et rapport. README court : démarrer et reproduire.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Comptes qualité, total de base, ajout, rejeu stable et résultat SQL.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grain, les unités, une décision prudente, une limite et une contribution personnelle.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de déposer : refaire le démarrage depuis une copie propre et vérifier les fichiers réellement inclus.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3832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 construire une solution BI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fiables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et conserver le sens, contrôler les rejets et les montants.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Entrepôt utile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Relier les tables, interroger et recharger sans doublon.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maîtrisée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Définir un petit contrat, vérifier localement et expliquer le changement.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explication + une exécution + une trace conservée.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youssefdouma/workspace/leaders/leaders-university/Langage_Avance_BI_ETL_28h/formateur/v4-build/slides/authoring/slides/assets/leaders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FICHIER À LA DÉCISION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685800" y="1444752"/>
            <a:ext cx="8503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proposition devient utile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vous pouvez la vérifier.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31520" y="3310128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331012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3255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contrat court avant chaque demande.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3968496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6849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39136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test local avant chaque confiance.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31520" y="4626864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62686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71600" y="4572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explication claire avant chaque décision.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31520" y="6126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 étape : réutiliser la démarche sur des données dont vous comprenez le sens.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Leaders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Construire une solution BI avec l’IA — Python, ETL et entrepôts de données</dc:title>
  <dc:subject>Licence BI • Python et ETL • 28 h</dc:subject>
  <dc:creator>Youssef Douma</dc:creator>
  <cp:lastModifiedBy>Youssef Douma</cp:lastModifiedBy>
  <cp:revision>1</cp:revision>
  <dcterms:created xsi:type="dcterms:W3CDTF">2026-10-27T11:14:56Z</dcterms:created>
  <dcterms:modified xsi:type="dcterms:W3CDTF">2026-10-27T11:14:56Z</dcterms:modified>
</cp:coreProperties>
</file>